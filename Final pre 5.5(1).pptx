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5.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8.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9.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10.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11.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6.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7.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8.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9.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20.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21.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22.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23.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24.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25.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323" r:id="rId2"/>
    <p:sldId id="280" r:id="rId3"/>
    <p:sldId id="324" r:id="rId4"/>
    <p:sldId id="325" r:id="rId5"/>
    <p:sldId id="326" r:id="rId6"/>
    <p:sldId id="318" r:id="rId7"/>
    <p:sldId id="257" r:id="rId8"/>
    <p:sldId id="316" r:id="rId9"/>
    <p:sldId id="263" r:id="rId10"/>
    <p:sldId id="264" r:id="rId11"/>
    <p:sldId id="265" r:id="rId12"/>
    <p:sldId id="317" r:id="rId13"/>
    <p:sldId id="304" r:id="rId14"/>
    <p:sldId id="319" r:id="rId15"/>
    <p:sldId id="306" r:id="rId16"/>
    <p:sldId id="320" r:id="rId17"/>
    <p:sldId id="321" r:id="rId18"/>
    <p:sldId id="322" r:id="rId19"/>
    <p:sldId id="307" r:id="rId20"/>
    <p:sldId id="315" r:id="rId21"/>
    <p:sldId id="259" r:id="rId22"/>
    <p:sldId id="308" r:id="rId23"/>
    <p:sldId id="303" r:id="rId24"/>
    <p:sldId id="309" r:id="rId25"/>
    <p:sldId id="310" r:id="rId26"/>
    <p:sldId id="311" r:id="rId27"/>
    <p:sldId id="312" r:id="rId28"/>
    <p:sldId id="313" r:id="rId29"/>
    <p:sldId id="314" r:id="rId30"/>
    <p:sldId id="305" r:id="rId31"/>
    <p:sldId id="328" r:id="rId32"/>
    <p:sldId id="327" r:id="rId33"/>
    <p:sldId id="329" r:id="rId34"/>
    <p:sldId id="330" r:id="rId35"/>
    <p:sldId id="331" r:id="rId36"/>
    <p:sldId id="296" r:id="rId37"/>
    <p:sldId id="284"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77"/>
    <p:restoredTop sz="95244" autoAdjust="0"/>
  </p:normalViewPr>
  <p:slideViewPr>
    <p:cSldViewPr snapToGrid="0">
      <p:cViewPr varScale="1">
        <p:scale>
          <a:sx n="86" d="100"/>
          <a:sy n="86" d="100"/>
        </p:scale>
        <p:origin x="29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29A4B5-D2F5-4FA7-8A70-6861641D4420}" type="datetimeFigureOut">
              <a:rPr lang="zh-CN" altLang="en-US" smtClean="0"/>
              <a:t>2026/5/5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6C8412-B7E8-49BB-A67D-CECED1E7A617}" type="slidenum">
              <a:rPr lang="zh-CN" altLang="en-US" smtClean="0"/>
              <a:t>‹#›</a:t>
            </a:fld>
            <a:endParaRPr lang="zh-CN" altLang="en-US"/>
          </a:p>
        </p:txBody>
      </p:sp>
    </p:spTree>
    <p:extLst>
      <p:ext uri="{BB962C8B-B14F-4D97-AF65-F5344CB8AC3E}">
        <p14:creationId xmlns:p14="http://schemas.microsoft.com/office/powerpoint/2010/main" val="2839074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42B2A-97F4-3026-22DF-24F9DCBEC3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9B9D8B-EE95-4D93-9F43-53F0A6D15D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B51C4B-1566-2834-7F06-F12AFBF48181}"/>
              </a:ext>
            </a:extLst>
          </p:cNvPr>
          <p:cNvSpPr>
            <a:spLocks noGrp="1"/>
          </p:cNvSpPr>
          <p:nvPr>
            <p:ph type="body" idx="1"/>
          </p:nvPr>
        </p:nvSpPr>
        <p:spPr/>
        <p:txBody>
          <a:bodyPr/>
          <a:lstStyle/>
          <a:p>
            <a:r>
              <a:rPr lang="zh-CN" altLang="zh-CN" sz="1400" kern="1200" dirty="0">
                <a:solidFill>
                  <a:schemeClr val="tx1"/>
                </a:solidFill>
                <a:effectLst/>
                <a:latin typeface="+mn-lt"/>
                <a:ea typeface="+mn-ea"/>
                <a:cs typeface="+mn-cs"/>
              </a:rPr>
              <a:t>In this project, we directly</a:t>
            </a:r>
            <a:r>
              <a:rPr lang="en-US" altLang="zh-CN" sz="1400" kern="1200" dirty="0">
                <a:solidFill>
                  <a:schemeClr val="tx1"/>
                </a:solidFill>
                <a:effectLst/>
                <a:latin typeface="+mn-lt"/>
                <a:ea typeface="+mn-ea"/>
                <a:cs typeface="+mn-cs"/>
              </a:rPr>
              <a:t> use </a:t>
            </a:r>
            <a:r>
              <a:rPr lang="zh-CN" altLang="zh-CN" sz="1400" kern="1200" dirty="0">
                <a:solidFill>
                  <a:schemeClr val="tx1"/>
                </a:solidFill>
                <a:effectLst/>
                <a:latin typeface="+mn-lt"/>
                <a:ea typeface="+mn-ea"/>
                <a:cs typeface="+mn-cs"/>
              </a:rPr>
              <a:t>the S</a:t>
            </a:r>
            <a:r>
              <a:rPr lang="en-US" altLang="zh-CN" sz="1400" kern="1200" dirty="0">
                <a:solidFill>
                  <a:schemeClr val="tx1"/>
                </a:solidFill>
                <a:effectLst/>
                <a:latin typeface="+mn-lt"/>
                <a:ea typeface="+mn-ea"/>
                <a:cs typeface="+mn-cs"/>
              </a:rPr>
              <a:t>table</a:t>
            </a:r>
            <a:r>
              <a:rPr lang="zh-CN" altLang="zh-CN" sz="1400" kern="1200" dirty="0">
                <a:solidFill>
                  <a:schemeClr val="tx1"/>
                </a:solidFill>
                <a:effectLst/>
                <a:latin typeface="+mn-lt"/>
                <a:ea typeface="+mn-ea"/>
                <a:cs typeface="+mn-cs"/>
              </a:rPr>
              <a:t>D</a:t>
            </a:r>
            <a:r>
              <a:rPr lang="en-US" altLang="zh-CN" sz="1400" kern="1200" dirty="0" err="1">
                <a:solidFill>
                  <a:schemeClr val="tx1"/>
                </a:solidFill>
                <a:effectLst/>
                <a:latin typeface="+mn-lt"/>
                <a:ea typeface="+mn-ea"/>
                <a:cs typeface="+mn-cs"/>
              </a:rPr>
              <a:t>iffusion</a:t>
            </a:r>
            <a:r>
              <a:rPr lang="zh-CN" altLang="zh-CN" sz="1400" kern="1200" dirty="0">
                <a:solidFill>
                  <a:schemeClr val="tx1"/>
                </a:solidFill>
                <a:effectLst/>
                <a:latin typeface="+mn-lt"/>
                <a:ea typeface="+mn-ea"/>
                <a:cs typeface="+mn-cs"/>
              </a:rPr>
              <a:t> </a:t>
            </a:r>
            <a:r>
              <a:rPr lang="en-US" altLang="zh-CN" sz="1400" kern="1200" dirty="0">
                <a:solidFill>
                  <a:schemeClr val="tx1"/>
                </a:solidFill>
                <a:effectLst/>
                <a:latin typeface="+mn-lt"/>
                <a:ea typeface="+mn-ea"/>
                <a:cs typeface="+mn-cs"/>
              </a:rPr>
              <a:t>M</a:t>
            </a:r>
            <a:r>
              <a:rPr lang="zh-CN" altLang="zh-CN" sz="1400" kern="1200" dirty="0">
                <a:solidFill>
                  <a:schemeClr val="tx1"/>
                </a:solidFill>
                <a:effectLst/>
                <a:latin typeface="+mn-lt"/>
                <a:ea typeface="+mn-ea"/>
                <a:cs typeface="+mn-cs"/>
              </a:rPr>
              <a:t>odel without retraining or modifying the weights, achieving results </a:t>
            </a:r>
            <a:r>
              <a:rPr lang="en-US" altLang="zh-CN" sz="1400" kern="1200" dirty="0">
                <a:solidFill>
                  <a:schemeClr val="tx1"/>
                </a:solidFill>
                <a:effectLst/>
                <a:latin typeface="+mn-lt"/>
                <a:ea typeface="+mn-ea"/>
                <a:cs typeface="+mn-cs"/>
              </a:rPr>
              <a:t>only</a:t>
            </a:r>
            <a:r>
              <a:rPr lang="zh-CN" altLang="zh-CN" sz="1400" kern="1200" dirty="0">
                <a:solidFill>
                  <a:schemeClr val="tx1"/>
                </a:solidFill>
                <a:effectLst/>
                <a:latin typeface="+mn-lt"/>
                <a:ea typeface="+mn-ea"/>
                <a:cs typeface="+mn-cs"/>
              </a:rPr>
              <a:t> through interception and replacement. </a:t>
            </a:r>
          </a:p>
          <a:p>
            <a:r>
              <a:rPr lang="zh-CN" altLang="zh-CN" sz="1400" kern="1200" dirty="0">
                <a:solidFill>
                  <a:schemeClr val="tx1"/>
                </a:solidFill>
                <a:effectLst/>
                <a:latin typeface="+mn-lt"/>
                <a:ea typeface="+mn-ea"/>
                <a:cs typeface="+mn-cs"/>
              </a:rPr>
              <a:t>Previously, my two teammates have explained the N</a:t>
            </a:r>
            <a:r>
              <a:rPr lang="en-US" altLang="zh-CN" sz="1400" kern="1200" dirty="0" err="1">
                <a:solidFill>
                  <a:schemeClr val="tx1"/>
                </a:solidFill>
                <a:effectLst/>
                <a:latin typeface="+mn-lt"/>
                <a:ea typeface="+mn-ea"/>
                <a:cs typeface="+mn-cs"/>
              </a:rPr>
              <a:t>ull</a:t>
            </a:r>
            <a:r>
              <a:rPr lang="en-US" altLang="zh-CN" sz="1400" kern="1200" dirty="0">
                <a:solidFill>
                  <a:schemeClr val="tx1"/>
                </a:solidFill>
                <a:effectLst/>
                <a:latin typeface="+mn-lt"/>
                <a:ea typeface="+mn-ea"/>
                <a:cs typeface="+mn-cs"/>
              </a:rPr>
              <a:t>-</a:t>
            </a:r>
            <a:r>
              <a:rPr lang="zh-CN" altLang="zh-CN" sz="1400" kern="1200" dirty="0">
                <a:solidFill>
                  <a:schemeClr val="tx1"/>
                </a:solidFill>
                <a:effectLst/>
                <a:latin typeface="+mn-lt"/>
                <a:ea typeface="+mn-ea"/>
                <a:cs typeface="+mn-cs"/>
              </a:rPr>
              <a:t>T</a:t>
            </a:r>
            <a:r>
              <a:rPr lang="en-US" altLang="zh-CN" sz="1400" kern="1200" dirty="0" err="1">
                <a:solidFill>
                  <a:schemeClr val="tx1"/>
                </a:solidFill>
                <a:effectLst/>
                <a:latin typeface="+mn-lt"/>
                <a:ea typeface="+mn-ea"/>
                <a:cs typeface="+mn-cs"/>
              </a:rPr>
              <a:t>ext</a:t>
            </a:r>
            <a:r>
              <a:rPr lang="en-US" altLang="zh-CN" sz="1400" kern="1200" dirty="0">
                <a:solidFill>
                  <a:schemeClr val="tx1"/>
                </a:solidFill>
                <a:effectLst/>
                <a:latin typeface="+mn-lt"/>
                <a:ea typeface="+mn-ea"/>
                <a:cs typeface="+mn-cs"/>
              </a:rPr>
              <a:t> </a:t>
            </a:r>
            <a:r>
              <a:rPr lang="zh-CN" altLang="zh-CN" sz="1400" kern="1200" dirty="0">
                <a:solidFill>
                  <a:schemeClr val="tx1"/>
                </a:solidFill>
                <a:effectLst/>
                <a:latin typeface="+mn-lt"/>
                <a:ea typeface="+mn-ea"/>
                <a:cs typeface="+mn-cs"/>
              </a:rPr>
              <a:t>I</a:t>
            </a:r>
            <a:r>
              <a:rPr lang="en-US" altLang="zh-CN" sz="1400" kern="1200" dirty="0" err="1">
                <a:solidFill>
                  <a:schemeClr val="tx1"/>
                </a:solidFill>
                <a:effectLst/>
                <a:latin typeface="+mn-lt"/>
                <a:ea typeface="+mn-ea"/>
                <a:cs typeface="+mn-cs"/>
              </a:rPr>
              <a:t>nversion</a:t>
            </a:r>
            <a:r>
              <a:rPr lang="zh-CN" altLang="zh-CN" sz="1400" kern="1200" dirty="0">
                <a:solidFill>
                  <a:schemeClr val="tx1"/>
                </a:solidFill>
                <a:effectLst/>
                <a:latin typeface="+mn-lt"/>
                <a:ea typeface="+mn-ea"/>
                <a:cs typeface="+mn-cs"/>
              </a:rPr>
              <a:t> concept, which ensures the original image can be replicated during generation, as well as the P</a:t>
            </a:r>
            <a:r>
              <a:rPr lang="en-US" altLang="zh-CN" sz="1400" kern="1200" dirty="0" err="1">
                <a:solidFill>
                  <a:schemeClr val="tx1"/>
                </a:solidFill>
                <a:effectLst/>
                <a:latin typeface="+mn-lt"/>
                <a:ea typeface="+mn-ea"/>
                <a:cs typeface="+mn-cs"/>
              </a:rPr>
              <a:t>rompt</a:t>
            </a:r>
            <a:r>
              <a:rPr lang="en-US" altLang="zh-CN" sz="1400" kern="1200" dirty="0">
                <a:solidFill>
                  <a:schemeClr val="tx1"/>
                </a:solidFill>
                <a:effectLst/>
                <a:latin typeface="+mn-lt"/>
                <a:ea typeface="+mn-ea"/>
                <a:cs typeface="+mn-cs"/>
              </a:rPr>
              <a:t>-to-</a:t>
            </a:r>
            <a:r>
              <a:rPr lang="zh-CN" altLang="zh-CN" sz="1400" kern="1200" dirty="0">
                <a:solidFill>
                  <a:schemeClr val="tx1"/>
                </a:solidFill>
                <a:effectLst/>
                <a:latin typeface="+mn-lt"/>
                <a:ea typeface="+mn-ea"/>
                <a:cs typeface="+mn-cs"/>
              </a:rPr>
              <a:t>P</a:t>
            </a:r>
            <a:r>
              <a:rPr lang="en-US" altLang="zh-CN" sz="1400" kern="1200" dirty="0" err="1">
                <a:solidFill>
                  <a:schemeClr val="tx1"/>
                </a:solidFill>
                <a:effectLst/>
                <a:latin typeface="+mn-lt"/>
                <a:ea typeface="+mn-ea"/>
                <a:cs typeface="+mn-cs"/>
              </a:rPr>
              <a:t>rompt</a:t>
            </a:r>
            <a:r>
              <a:rPr lang="zh-CN" altLang="zh-CN" sz="1400" kern="1200" dirty="0">
                <a:solidFill>
                  <a:schemeClr val="tx1"/>
                </a:solidFill>
                <a:effectLst/>
                <a:latin typeface="+mn-lt"/>
                <a:ea typeface="+mn-ea"/>
                <a:cs typeface="+mn-cs"/>
              </a:rPr>
              <a:t> concept, which intercepts the original attention data of the model and replaces it with the desired attention data to achieve "</a:t>
            </a:r>
            <a:r>
              <a:rPr lang="en-US" altLang="zh-CN" sz="1400" kern="1200" dirty="0">
                <a:solidFill>
                  <a:schemeClr val="tx1"/>
                </a:solidFill>
                <a:effectLst/>
                <a:latin typeface="+mn-lt"/>
                <a:ea typeface="+mn-ea"/>
                <a:cs typeface="+mn-cs"/>
              </a:rPr>
              <a:t>M</a:t>
            </a:r>
            <a:r>
              <a:rPr lang="zh-CN" altLang="zh-CN" sz="1400" kern="1200" dirty="0">
                <a:solidFill>
                  <a:schemeClr val="tx1"/>
                </a:solidFill>
                <a:effectLst/>
                <a:latin typeface="+mn-lt"/>
                <a:ea typeface="+mn-ea"/>
                <a:cs typeface="+mn-cs"/>
              </a:rPr>
              <a:t>odifying only the style, not the structure.“</a:t>
            </a:r>
            <a:endParaRPr lang="en-US" altLang="zh-CN" sz="14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Next, I will describe how local editing and style intensity control are implemented throughout the entire process.</a:t>
            </a:r>
            <a:endParaRPr lang="zh-CN" altLang="zh-CN" sz="14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E40A7B7-2359-D55B-74AE-3A24A9FEE401}"/>
              </a:ext>
            </a:extLst>
          </p:cNvPr>
          <p:cNvSpPr>
            <a:spLocks noGrp="1"/>
          </p:cNvSpPr>
          <p:nvPr>
            <p:ph type="sldNum" sz="quarter" idx="5"/>
          </p:nvPr>
        </p:nvSpPr>
        <p:spPr/>
        <p:txBody>
          <a:bodyPr/>
          <a:lstStyle/>
          <a:p>
            <a:fld id="{116C8412-B7E8-49BB-A67D-CECED1E7A617}" type="slidenum">
              <a:rPr lang="zh-CN" altLang="en-US" smtClean="0"/>
              <a:t>6</a:t>
            </a:fld>
            <a:endParaRPr lang="zh-CN" altLang="en-US"/>
          </a:p>
        </p:txBody>
      </p:sp>
    </p:spTree>
    <p:extLst>
      <p:ext uri="{BB962C8B-B14F-4D97-AF65-F5344CB8AC3E}">
        <p14:creationId xmlns:p14="http://schemas.microsoft.com/office/powerpoint/2010/main" val="3304845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我们已经了解了</a:t>
            </a:r>
            <a:r>
              <a:rPr lang="en-US" altLang="zh-CN"/>
              <a:t>PtP</a:t>
            </a:r>
            <a:r>
              <a:rPr lang="zh-CN" altLang="en-US"/>
              <a:t>，但它只能在生成的图像上工作，那么，我们该如何将这项技术应用于真实照片呢？这时就需要运用“零文本反转”（</a:t>
            </a:r>
            <a:r>
              <a:rPr lang="en-US" altLang="zh-CN"/>
              <a:t>Null-text Inversion，</a:t>
            </a:r>
            <a:r>
              <a:rPr lang="zh-CN" altLang="en-US"/>
              <a:t>简称 </a:t>
            </a:r>
            <a:r>
              <a:rPr lang="en-US" altLang="zh-CN"/>
              <a:t>NTI）</a:t>
            </a:r>
            <a:r>
              <a:rPr lang="zh-CN" altLang="en-US"/>
              <a:t>技术了。我们首先来回忆一下什么是</a:t>
            </a:r>
            <a:r>
              <a:rPr lang="en-US" altLang="zh-CN"/>
              <a:t>NTI</a:t>
            </a:r>
            <a:r>
              <a:rPr lang="zh-CN" altLang="en-US"/>
              <a:t>，它是一种图像重建和文本驱动的编辑方法，它把真实图像嵌入扩散模型的潜空间中。主要靠两个核心步骤：</a:t>
            </a:r>
            <a:r>
              <a:rPr lang="en-US" altLang="zh-CN"/>
              <a:t>Pivotal Inversion（</a:t>
            </a:r>
            <a:r>
              <a:rPr lang="zh-CN" altLang="en-US"/>
              <a:t>关键点反演） 和 </a:t>
            </a:r>
            <a:r>
              <a:rPr lang="en-US" altLang="zh-CN"/>
              <a:t>Null-text Optimization（</a:t>
            </a:r>
            <a:r>
              <a:rPr lang="zh-CN" altLang="en-US"/>
              <a:t>空文本优化）。第一步，</a:t>
            </a:r>
            <a:r>
              <a:rPr lang="en-US" altLang="zh-CN"/>
              <a:t>Pivotal Inversion。</a:t>
            </a:r>
            <a:r>
              <a:rPr lang="zh-CN" altLang="en-US"/>
              <a:t>先用 </a:t>
            </a:r>
            <a:r>
              <a:rPr lang="en-US" altLang="zh-CN"/>
              <a:t>DDIM </a:t>
            </a:r>
            <a:r>
              <a:rPr lang="zh-CN" altLang="en-US"/>
              <a:t>反演得到一条初始轨迹，把它当作“枢纽”，围绕它进行优化。这样能避免随机噪声，同时提高效率。第二步，</a:t>
            </a:r>
            <a:r>
              <a:rPr lang="en-US" altLang="zh-CN"/>
              <a:t>Null-text Optimization。</a:t>
            </a:r>
            <a:r>
              <a:rPr lang="zh-CN" altLang="en-US"/>
              <a:t>只优化空文本嵌入，也就是无条件嵌入，不动模型权重和条件嵌入，从而保留模型的编辑能力。</a:t>
            </a:r>
          </a:p>
        </p:txBody>
      </p:sp>
    </p:spTree>
    <p:extLst>
      <p:ext uri="{BB962C8B-B14F-4D97-AF65-F5344CB8AC3E}">
        <p14:creationId xmlns:p14="http://schemas.microsoft.com/office/powerpoint/2010/main" val="1785495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NTI </a:t>
            </a:r>
            <a:r>
              <a:rPr lang="zh-CN" altLang="en-US">
                <a:sym typeface="+mn-ea"/>
              </a:rPr>
              <a:t>最大的贡献，是它第一次让 </a:t>
            </a:r>
            <a:r>
              <a:rPr lang="en-US" altLang="zh-CN">
                <a:sym typeface="+mn-ea"/>
              </a:rPr>
              <a:t>Prompt-to-Prompt </a:t>
            </a:r>
            <a:r>
              <a:rPr lang="zh-CN" altLang="en-US">
                <a:sym typeface="+mn-ea"/>
              </a:rPr>
              <a:t>这种编辑方法真正用在真实图片上。它有三个核心能力：</a:t>
            </a:r>
            <a:endParaRPr lang="en-US" altLang="zh-CN"/>
          </a:p>
          <a:p>
            <a:r>
              <a:rPr lang="zh-CN" altLang="en-US">
                <a:sym typeface="+mn-ea"/>
              </a:rPr>
              <a:t>高保真重建——几乎完美还原输入图像，避免传统 </a:t>
            </a:r>
            <a:r>
              <a:rPr lang="en-US" altLang="zh-CN">
                <a:sym typeface="+mn-ea"/>
              </a:rPr>
              <a:t>DDIM </a:t>
            </a:r>
            <a:r>
              <a:rPr lang="zh-CN" altLang="en-US">
                <a:sym typeface="+mn-ea"/>
              </a:rPr>
              <a:t>反演的失真。</a:t>
            </a:r>
            <a:endParaRPr lang="en-US" altLang="zh-CN"/>
          </a:p>
          <a:p>
            <a:r>
              <a:rPr lang="zh-CN" altLang="en-US">
                <a:sym typeface="+mn-ea"/>
              </a:rPr>
              <a:t>文本驱动的编辑——改一下 </a:t>
            </a:r>
            <a:r>
              <a:rPr lang="en-US" altLang="zh-CN">
                <a:sym typeface="+mn-ea"/>
              </a:rPr>
              <a:t>prompt </a:t>
            </a:r>
            <a:r>
              <a:rPr lang="zh-CN" altLang="en-US">
                <a:sym typeface="+mn-ea"/>
              </a:rPr>
              <a:t>就行，比如猫变老虎、照片变素描、花朵变纸杯蛋糕。</a:t>
            </a:r>
            <a:endParaRPr lang="en-US" altLang="zh-CN"/>
          </a:p>
          <a:p>
            <a:r>
              <a:rPr lang="zh-CN" altLang="en-US">
                <a:sym typeface="+mn-ea"/>
              </a:rPr>
              <a:t>多次编辑——一次反演的结果可以重复用，换不同的 </a:t>
            </a:r>
            <a:r>
              <a:rPr lang="en-US" altLang="zh-CN">
                <a:sym typeface="+mn-ea"/>
              </a:rPr>
              <a:t>prompt </a:t>
            </a:r>
            <a:r>
              <a:rPr lang="zh-CN" altLang="en-US">
                <a:sym typeface="+mn-ea"/>
              </a:rPr>
              <a:t>做多种编辑，不用重新训练模型。</a:t>
            </a:r>
            <a:endParaRPr lang="zh-CN" altLang="en-US"/>
          </a:p>
        </p:txBody>
      </p:sp>
    </p:spTree>
    <p:extLst>
      <p:ext uri="{BB962C8B-B14F-4D97-AF65-F5344CB8AC3E}">
        <p14:creationId xmlns:p14="http://schemas.microsoft.com/office/powerpoint/2010/main" val="242127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代码的整个流程可以分为两步：第一步是</a:t>
            </a:r>
            <a:r>
              <a:rPr lang="en-US" altLang="zh-CN"/>
              <a:t>DDIM Inversion——</a:t>
            </a:r>
            <a:r>
              <a:rPr lang="zh-CN" altLang="en-US"/>
              <a:t>也叫关键反演，将真实图像编码为潜变量，然后通过确定的</a:t>
            </a:r>
            <a:r>
              <a:rPr lang="en-US" altLang="zh-CN"/>
              <a:t>DDIM</a:t>
            </a:r>
            <a:r>
              <a:rPr lang="zh-CN" altLang="en-US"/>
              <a:t>正向加噪过程，逐步演化到纯噪声，同时保存每一步的潜变量，形成一条“可逆轨迹”。第二步是</a:t>
            </a:r>
            <a:r>
              <a:rPr lang="en-US" altLang="zh-CN"/>
              <a:t>Null-text Optimization——</a:t>
            </a:r>
            <a:r>
              <a:rPr lang="zh-CN" altLang="en-US"/>
              <a:t>空文本优化，这是</a:t>
            </a:r>
            <a:r>
              <a:rPr lang="en-US" altLang="zh-CN"/>
              <a:t>NTI</a:t>
            </a:r>
            <a:r>
              <a:rPr lang="zh-CN" altLang="en-US"/>
              <a:t>的核心，它沿着去噪方向，在每个时间步优化一个空文本嵌入，使得带</a:t>
            </a:r>
            <a:r>
              <a:rPr lang="en-US" altLang="zh-CN"/>
              <a:t>CFG</a:t>
            </a:r>
            <a:r>
              <a:rPr lang="zh-CN" altLang="en-US"/>
              <a:t>的去噪步骤能够重建</a:t>
            </a:r>
            <a:r>
              <a:rPr lang="en-US" altLang="zh-CN"/>
              <a:t>DDIM</a:t>
            </a:r>
            <a:r>
              <a:rPr lang="zh-CN" altLang="en-US"/>
              <a:t>反演中对应的潜变量，从而修正</a:t>
            </a:r>
            <a:r>
              <a:rPr lang="en-US" altLang="zh-CN"/>
              <a:t>CFG</a:t>
            </a:r>
            <a:r>
              <a:rPr lang="zh-CN" altLang="en-US"/>
              <a:t>带来的轨迹偏离。</a:t>
            </a:r>
          </a:p>
          <a:p>
            <a:r>
              <a:rPr lang="zh-CN" altLang="en-US"/>
              <a:t>我们先补充讲解一个重要的辅助函数——</a:t>
            </a:r>
            <a:r>
              <a:rPr lang="en-US" altLang="zh-CN"/>
              <a:t>get_noise_pred</a:t>
            </a:r>
            <a:r>
              <a:rPr lang="zh-CN" altLang="en-US"/>
              <a:t>。这个函数是</a:t>
            </a:r>
            <a:r>
              <a:rPr lang="en-US" altLang="zh-CN"/>
              <a:t>CFG</a:t>
            </a:r>
            <a:r>
              <a:rPr lang="zh-CN" altLang="en-US"/>
              <a:t>噪声预测的核心实现，在</a:t>
            </a:r>
            <a:r>
              <a:rPr lang="en-US" altLang="zh-CN"/>
              <a:t>DDIM</a:t>
            </a:r>
            <a:r>
              <a:rPr lang="zh-CN" altLang="en-US"/>
              <a:t>反演和编辑生成两个阶段都会被调用。</a:t>
            </a:r>
            <a:endParaRPr lang="en-US" altLang="zh-CN"/>
          </a:p>
          <a:p>
            <a:r>
              <a:rPr lang="zh-CN" altLang="en-US"/>
              <a:t>函数的巧妙之处在于：把输入潜变量复制一份，和上下文（条件嵌入+无条件嵌入）一起送入</a:t>
            </a:r>
            <a:r>
              <a:rPr lang="en-US" altLang="zh-CN"/>
              <a:t>UNet，</a:t>
            </a:r>
            <a:r>
              <a:rPr lang="zh-CN" altLang="en-US"/>
              <a:t>一次前向传播就同时得到了条件噪声预测和无条件噪声预测，效率很高。</a:t>
            </a:r>
            <a:endParaRPr lang="en-US" altLang="zh-CN"/>
          </a:p>
          <a:p>
            <a:r>
              <a:rPr lang="zh-CN" altLang="en-US"/>
              <a:t>然后根据 </a:t>
            </a:r>
            <a:r>
              <a:rPr lang="en-US" altLang="zh-CN"/>
              <a:t>is_forward </a:t>
            </a:r>
            <a:r>
              <a:rPr lang="zh-CN" altLang="en-US"/>
              <a:t>参数决定行为：正向时 </a:t>
            </a:r>
            <a:r>
              <a:rPr lang="en-US" altLang="zh-CN"/>
              <a:t>guidance_scale=1，</a:t>
            </a:r>
            <a:r>
              <a:rPr lang="zh-CN" altLang="en-US"/>
              <a:t>相当于只用条件噪声预测，保证</a:t>
            </a:r>
            <a:r>
              <a:rPr lang="en-US" altLang="zh-CN"/>
              <a:t>DDIM</a:t>
            </a:r>
            <a:r>
              <a:rPr lang="zh-CN" altLang="en-US"/>
              <a:t>反演的确定性；反向时 </a:t>
            </a:r>
            <a:r>
              <a:rPr lang="en-US" altLang="zh-CN"/>
              <a:t>guidance_scale=7.5，</a:t>
            </a:r>
            <a:r>
              <a:rPr lang="zh-CN" altLang="en-US"/>
              <a:t>启用完整的</a:t>
            </a:r>
            <a:r>
              <a:rPr lang="en-US" altLang="zh-CN"/>
              <a:t>CFG</a:t>
            </a:r>
            <a:r>
              <a:rPr lang="zh-CN" altLang="en-US"/>
              <a:t>引导，增强生成质量。</a:t>
            </a:r>
            <a:r>
              <a:rPr lang="en-US" altLang="zh-CN"/>
              <a:t>CFG</a:t>
            </a:r>
            <a:r>
              <a:rPr lang="zh-CN" altLang="en-US"/>
              <a:t>噪声预测的公式是：无条件预测加上引导比例乘以条件预测减去无条件预测的差。</a:t>
            </a:r>
            <a:endParaRPr lang="en-US" altLang="zh-CN"/>
          </a:p>
          <a:p>
            <a:r>
              <a:rPr lang="zh-CN" altLang="en-US"/>
              <a:t>最后根据方向，分别调用 </a:t>
            </a:r>
            <a:r>
              <a:rPr lang="en-US" altLang="zh-CN"/>
              <a:t>next_step（</a:t>
            </a:r>
            <a:r>
              <a:rPr lang="zh-CN" altLang="en-US"/>
              <a:t>正向加噪）或 </a:t>
            </a:r>
            <a:r>
              <a:rPr lang="en-US" altLang="zh-CN"/>
              <a:t>prev_step（</a:t>
            </a:r>
            <a:r>
              <a:rPr lang="zh-CN" altLang="en-US"/>
              <a:t>反向去噪），完成扩散。</a:t>
            </a:r>
          </a:p>
        </p:txBody>
      </p:sp>
    </p:spTree>
    <p:extLst>
      <p:ext uri="{BB962C8B-B14F-4D97-AF65-F5344CB8AC3E}">
        <p14:creationId xmlns:p14="http://schemas.microsoft.com/office/powerpoint/2010/main" val="991108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我们来看</a:t>
            </a:r>
            <a:r>
              <a:rPr lang="en-US" altLang="zh-CN"/>
              <a:t>DDIM Inversion，</a:t>
            </a:r>
            <a:r>
              <a:rPr lang="zh-CN" altLang="en-US"/>
              <a:t>也就是关键反演。这里需要先理解一个核心矛盾：</a:t>
            </a:r>
            <a:r>
              <a:rPr lang="en-US" altLang="zh-CN"/>
              <a:t>DDIM</a:t>
            </a:r>
            <a:r>
              <a:rPr lang="zh-CN" altLang="en-US"/>
              <a:t>反演时模型只用有条件嵌入，没有</a:t>
            </a:r>
            <a:r>
              <a:rPr lang="en-US" altLang="zh-CN"/>
              <a:t>CFG，</a:t>
            </a:r>
            <a:r>
              <a:rPr lang="zh-CN" altLang="en-US"/>
              <a:t>所以轨迹是确定且可逆的。但后续编辑生图时为了质量必须开启</a:t>
            </a:r>
            <a:r>
              <a:rPr lang="en-US" altLang="zh-CN"/>
              <a:t>CFG，</a:t>
            </a:r>
            <a:r>
              <a:rPr lang="zh-CN" altLang="en-US"/>
              <a:t>这就导致两条轨迹分叉。</a:t>
            </a:r>
            <a:r>
              <a:rPr lang="en-US" altLang="zh-CN"/>
              <a:t>DDIM</a:t>
            </a:r>
            <a:r>
              <a:rPr lang="zh-CN" altLang="en-US"/>
              <a:t>反演的目的就是先生成一条干净的、确定性的“锚点轨迹”，供后续优化使用。</a:t>
            </a:r>
            <a:endParaRPr lang="en-US" altLang="zh-CN"/>
          </a:p>
          <a:p>
            <a:r>
              <a:rPr lang="zh-CN" altLang="en-US"/>
              <a:t>来看代码。</a:t>
            </a:r>
            <a:r>
              <a:rPr lang="en-US" altLang="zh-CN"/>
              <a:t>ddim_inversion </a:t>
            </a:r>
            <a:r>
              <a:rPr lang="zh-CN" altLang="en-US"/>
              <a:t>是入口方法，它做了三件事：首先把图像通过</a:t>
            </a:r>
            <a:r>
              <a:rPr lang="en-US" altLang="zh-CN"/>
              <a:t>VAE</a:t>
            </a:r>
            <a:r>
              <a:rPr lang="zh-CN" altLang="en-US"/>
              <a:t>编码器变成潜变量；然后验证</a:t>
            </a:r>
            <a:r>
              <a:rPr lang="en-US" altLang="zh-CN"/>
              <a:t>VAE</a:t>
            </a:r>
            <a:r>
              <a:rPr lang="zh-CN" altLang="en-US"/>
              <a:t>重建质量；最后调用 </a:t>
            </a:r>
            <a:r>
              <a:rPr lang="en-US" altLang="zh-CN"/>
              <a:t>ddim_loop </a:t>
            </a:r>
            <a:r>
              <a:rPr lang="zh-CN" altLang="en-US"/>
              <a:t>执行反演循环，返回完整的潜变量轨迹。</a:t>
            </a:r>
            <a:endParaRPr lang="en-US" altLang="zh-CN"/>
          </a:p>
          <a:p>
            <a:r>
              <a:rPr lang="en-US" altLang="zh-CN"/>
              <a:t>ddim_loop </a:t>
            </a:r>
            <a:r>
              <a:rPr lang="zh-CN" altLang="en-US"/>
              <a:t>是核心循环，它把上下文拆分成无条件嵌入和条件嵌入两份，但循环中只用 </a:t>
            </a:r>
            <a:r>
              <a:rPr lang="en-US" altLang="zh-CN"/>
              <a:t>cond_embeddings </a:t>
            </a:r>
            <a:r>
              <a:rPr lang="zh-CN" altLang="en-US"/>
              <a:t>来预测噪声，不涉及</a:t>
            </a:r>
            <a:r>
              <a:rPr lang="en-US" altLang="zh-CN"/>
              <a:t>CFG。</a:t>
            </a:r>
            <a:r>
              <a:rPr lang="zh-CN" altLang="en-US"/>
              <a:t>每一步都通过</a:t>
            </a:r>
            <a:r>
              <a:rPr lang="en-US" altLang="zh-CN"/>
              <a:t>UNet</a:t>
            </a:r>
            <a:r>
              <a:rPr lang="zh-CN" altLang="en-US"/>
              <a:t>预测噪声，然后执行</a:t>
            </a:r>
            <a:r>
              <a:rPr lang="en-US" altLang="zh-CN"/>
              <a:t>DDIM</a:t>
            </a:r>
            <a:r>
              <a:rPr lang="zh-CN" altLang="en-US"/>
              <a:t>正向加噪，并将当前步的潜变量追加到 </a:t>
            </a:r>
            <a:r>
              <a:rPr lang="en-US" altLang="zh-CN"/>
              <a:t>all_latent </a:t>
            </a:r>
            <a:r>
              <a:rPr lang="zh-CN" altLang="en-US"/>
              <a:t>列表。循环结束后得到一个的完整轨迹。这个轨迹就是后续优化的“锚点”。</a:t>
            </a:r>
          </a:p>
        </p:txBody>
      </p:sp>
    </p:spTree>
    <p:extLst>
      <p:ext uri="{BB962C8B-B14F-4D97-AF65-F5344CB8AC3E}">
        <p14:creationId xmlns:p14="http://schemas.microsoft.com/office/powerpoint/2010/main" val="2558308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Null-text Optimization</a:t>
            </a:r>
            <a:r>
              <a:rPr lang="zh-CN" altLang="en-US"/>
              <a:t>是整个</a:t>
            </a:r>
            <a:r>
              <a:rPr lang="en-US" altLang="zh-CN"/>
              <a:t>NTI</a:t>
            </a:r>
            <a:r>
              <a:rPr lang="zh-CN" altLang="en-US"/>
              <a:t>最核心的算法。对于</a:t>
            </a:r>
            <a:r>
              <a:rPr lang="en-US" altLang="zh-CN"/>
              <a:t>DDIM</a:t>
            </a:r>
            <a:r>
              <a:rPr lang="zh-CN" altLang="en-US"/>
              <a:t>反演得到的轨迹中每一对相邻的潜变量，我们要找一个特殊的空文本嵌入，使得用这个嵌入做带</a:t>
            </a:r>
            <a:r>
              <a:rPr lang="en-US" altLang="zh-CN"/>
              <a:t>CFG</a:t>
            </a:r>
            <a:r>
              <a:rPr lang="zh-CN" altLang="en-US"/>
              <a:t>的去噪时，得到的潜变量能和反演轨迹中的目标潜变量完全对齐。</a:t>
            </a:r>
            <a:endParaRPr lang="en-US" altLang="zh-CN"/>
          </a:p>
          <a:p>
            <a:r>
              <a:rPr lang="zh-CN" altLang="en-US"/>
              <a:t>我们的代码逻辑就是外层循环遍历50个时间步，从纯噪声出发逐步去噪。每个时间步开始时，把无条件嵌入复制一份并设置 </a:t>
            </a:r>
            <a:r>
              <a:rPr lang="en-US" altLang="zh-CN"/>
              <a:t>requires_grad=True，</a:t>
            </a:r>
            <a:r>
              <a:rPr lang="zh-CN" altLang="en-US"/>
              <a:t>然后创建</a:t>
            </a:r>
            <a:r>
              <a:rPr lang="en-US" altLang="zh-CN"/>
              <a:t>Adam</a:t>
            </a:r>
            <a:r>
              <a:rPr lang="zh-CN" altLang="en-US"/>
              <a:t>优化器，学习率随步数递减。</a:t>
            </a:r>
            <a:r>
              <a:rPr lang="en-US" altLang="zh-CN"/>
              <a:t>latent_prev </a:t>
            </a:r>
            <a:r>
              <a:rPr lang="zh-CN" altLang="en-US"/>
              <a:t>是从反演轨迹中取出的目标潜变量——也就是我们希望当前步去噪后能达到的答案。内层循环是最关键的优化部分。首先在 </a:t>
            </a:r>
            <a:r>
              <a:rPr lang="en-US" altLang="zh-CN"/>
              <a:t>torch.no_grad() </a:t>
            </a:r>
            <a:r>
              <a:rPr lang="zh-CN" altLang="en-US"/>
              <a:t>下计算条件噪声预测，这是不参与梯度更新的。然后在内层循环中计算无条件噪声预测。两者合并得到带</a:t>
            </a:r>
            <a:r>
              <a:rPr lang="en-US" altLang="zh-CN"/>
              <a:t>CFG</a:t>
            </a:r>
            <a:r>
              <a:rPr lang="zh-CN" altLang="en-US"/>
              <a:t>引导的噪声预测，再通过 </a:t>
            </a:r>
            <a:r>
              <a:rPr lang="en-US" altLang="zh-CN"/>
              <a:t>prev_step </a:t>
            </a:r>
            <a:r>
              <a:rPr lang="zh-CN" altLang="en-US"/>
              <a:t>得到重建的上一时刻潜变量。最后用</a:t>
            </a:r>
            <a:r>
              <a:rPr lang="en-US" altLang="zh-CN"/>
              <a:t>MSE</a:t>
            </a:r>
            <a:r>
              <a:rPr lang="zh-CN" altLang="en-US"/>
              <a:t>损失将重建结果与锚点目标进行比较，反向传播更新无条件嵌入。</a:t>
            </a:r>
            <a:endParaRPr lang="en-US" altLang="zh-CN"/>
          </a:p>
          <a:p>
            <a:r>
              <a:rPr lang="zh-CN" altLang="en-US"/>
              <a:t>这个过程在每个时间步重复，直到损失小于阈值。优化完成后，该步的嵌入被保存到列表中，同时用优化好的嵌入执行一次真正的去噪步，得到下一个潜变量。最终返回的是所有时间步优化后的空文本嵌入列表。</a:t>
            </a:r>
          </a:p>
          <a:p>
            <a:r>
              <a:rPr lang="zh-CN" altLang="en-US"/>
              <a:t>这样，我们就得到了可以用于编辑的纯噪声和嵌入列表。</a:t>
            </a:r>
          </a:p>
        </p:txBody>
      </p:sp>
    </p:spTree>
    <p:extLst>
      <p:ext uri="{BB962C8B-B14F-4D97-AF65-F5344CB8AC3E}">
        <p14:creationId xmlns:p14="http://schemas.microsoft.com/office/powerpoint/2010/main" val="2431606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17DB6-99D7-3686-7366-EB4EA68E3D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A02EA0-314D-8B84-F10C-3DC1872F2F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9CE76E-34D3-3B60-2296-CB427FC0FE5B}"/>
              </a:ext>
            </a:extLst>
          </p:cNvPr>
          <p:cNvSpPr>
            <a:spLocks noGrp="1"/>
          </p:cNvSpPr>
          <p:nvPr>
            <p:ph type="body" idx="1"/>
          </p:nvPr>
        </p:nvSpPr>
        <p:spPr/>
        <p:txBody>
          <a:bodyPr/>
          <a:lstStyle/>
          <a:p>
            <a:r>
              <a:rPr lang="zh-CN" altLang="zh-CN" sz="1400" kern="1200" dirty="0">
                <a:solidFill>
                  <a:schemeClr val="tx1"/>
                </a:solidFill>
                <a:effectLst/>
                <a:latin typeface="+mn-lt"/>
                <a:ea typeface="+mn-ea"/>
                <a:cs typeface="+mn-cs"/>
              </a:rPr>
              <a:t>In this project, we directly</a:t>
            </a:r>
            <a:r>
              <a:rPr lang="en-US" altLang="zh-CN" sz="1400" kern="1200" dirty="0">
                <a:solidFill>
                  <a:schemeClr val="tx1"/>
                </a:solidFill>
                <a:effectLst/>
                <a:latin typeface="+mn-lt"/>
                <a:ea typeface="+mn-ea"/>
                <a:cs typeface="+mn-cs"/>
              </a:rPr>
              <a:t> use </a:t>
            </a:r>
            <a:r>
              <a:rPr lang="zh-CN" altLang="zh-CN" sz="1400" kern="1200" dirty="0">
                <a:solidFill>
                  <a:schemeClr val="tx1"/>
                </a:solidFill>
                <a:effectLst/>
                <a:latin typeface="+mn-lt"/>
                <a:ea typeface="+mn-ea"/>
                <a:cs typeface="+mn-cs"/>
              </a:rPr>
              <a:t>the S</a:t>
            </a:r>
            <a:r>
              <a:rPr lang="en-US" altLang="zh-CN" sz="1400" kern="1200" dirty="0">
                <a:solidFill>
                  <a:schemeClr val="tx1"/>
                </a:solidFill>
                <a:effectLst/>
                <a:latin typeface="+mn-lt"/>
                <a:ea typeface="+mn-ea"/>
                <a:cs typeface="+mn-cs"/>
              </a:rPr>
              <a:t>table</a:t>
            </a:r>
            <a:r>
              <a:rPr lang="zh-CN" altLang="zh-CN" sz="1400" kern="1200" dirty="0">
                <a:solidFill>
                  <a:schemeClr val="tx1"/>
                </a:solidFill>
                <a:effectLst/>
                <a:latin typeface="+mn-lt"/>
                <a:ea typeface="+mn-ea"/>
                <a:cs typeface="+mn-cs"/>
              </a:rPr>
              <a:t>D</a:t>
            </a:r>
            <a:r>
              <a:rPr lang="en-US" altLang="zh-CN" sz="1400" kern="1200" dirty="0" err="1">
                <a:solidFill>
                  <a:schemeClr val="tx1"/>
                </a:solidFill>
                <a:effectLst/>
                <a:latin typeface="+mn-lt"/>
                <a:ea typeface="+mn-ea"/>
                <a:cs typeface="+mn-cs"/>
              </a:rPr>
              <a:t>iffusion</a:t>
            </a:r>
            <a:r>
              <a:rPr lang="zh-CN" altLang="zh-CN" sz="1400" kern="1200" dirty="0">
                <a:solidFill>
                  <a:schemeClr val="tx1"/>
                </a:solidFill>
                <a:effectLst/>
                <a:latin typeface="+mn-lt"/>
                <a:ea typeface="+mn-ea"/>
                <a:cs typeface="+mn-cs"/>
              </a:rPr>
              <a:t> </a:t>
            </a:r>
            <a:r>
              <a:rPr lang="en-US" altLang="zh-CN" sz="1400" kern="1200" dirty="0">
                <a:solidFill>
                  <a:schemeClr val="tx1"/>
                </a:solidFill>
                <a:effectLst/>
                <a:latin typeface="+mn-lt"/>
                <a:ea typeface="+mn-ea"/>
                <a:cs typeface="+mn-cs"/>
              </a:rPr>
              <a:t>M</a:t>
            </a:r>
            <a:r>
              <a:rPr lang="zh-CN" altLang="zh-CN" sz="1400" kern="1200" dirty="0">
                <a:solidFill>
                  <a:schemeClr val="tx1"/>
                </a:solidFill>
                <a:effectLst/>
                <a:latin typeface="+mn-lt"/>
                <a:ea typeface="+mn-ea"/>
                <a:cs typeface="+mn-cs"/>
              </a:rPr>
              <a:t>odel without retraining or modifying the weights, achieving results </a:t>
            </a:r>
            <a:r>
              <a:rPr lang="en-US" altLang="zh-CN" sz="1400" kern="1200" dirty="0">
                <a:solidFill>
                  <a:schemeClr val="tx1"/>
                </a:solidFill>
                <a:effectLst/>
                <a:latin typeface="+mn-lt"/>
                <a:ea typeface="+mn-ea"/>
                <a:cs typeface="+mn-cs"/>
              </a:rPr>
              <a:t>only</a:t>
            </a:r>
            <a:r>
              <a:rPr lang="zh-CN" altLang="zh-CN" sz="1400" kern="1200" dirty="0">
                <a:solidFill>
                  <a:schemeClr val="tx1"/>
                </a:solidFill>
                <a:effectLst/>
                <a:latin typeface="+mn-lt"/>
                <a:ea typeface="+mn-ea"/>
                <a:cs typeface="+mn-cs"/>
              </a:rPr>
              <a:t> through interception and replacement. </a:t>
            </a:r>
          </a:p>
          <a:p>
            <a:r>
              <a:rPr lang="zh-CN" altLang="zh-CN" sz="1400" kern="1200" dirty="0">
                <a:solidFill>
                  <a:schemeClr val="tx1"/>
                </a:solidFill>
                <a:effectLst/>
                <a:latin typeface="+mn-lt"/>
                <a:ea typeface="+mn-ea"/>
                <a:cs typeface="+mn-cs"/>
              </a:rPr>
              <a:t>Previously, my two teammates have explained the N</a:t>
            </a:r>
            <a:r>
              <a:rPr lang="en-US" altLang="zh-CN" sz="1400" kern="1200" dirty="0" err="1">
                <a:solidFill>
                  <a:schemeClr val="tx1"/>
                </a:solidFill>
                <a:effectLst/>
                <a:latin typeface="+mn-lt"/>
                <a:ea typeface="+mn-ea"/>
                <a:cs typeface="+mn-cs"/>
              </a:rPr>
              <a:t>ull</a:t>
            </a:r>
            <a:r>
              <a:rPr lang="en-US" altLang="zh-CN" sz="1400" kern="1200" dirty="0">
                <a:solidFill>
                  <a:schemeClr val="tx1"/>
                </a:solidFill>
                <a:effectLst/>
                <a:latin typeface="+mn-lt"/>
                <a:ea typeface="+mn-ea"/>
                <a:cs typeface="+mn-cs"/>
              </a:rPr>
              <a:t>-</a:t>
            </a:r>
            <a:r>
              <a:rPr lang="zh-CN" altLang="zh-CN" sz="1400" kern="1200" dirty="0">
                <a:solidFill>
                  <a:schemeClr val="tx1"/>
                </a:solidFill>
                <a:effectLst/>
                <a:latin typeface="+mn-lt"/>
                <a:ea typeface="+mn-ea"/>
                <a:cs typeface="+mn-cs"/>
              </a:rPr>
              <a:t>T</a:t>
            </a:r>
            <a:r>
              <a:rPr lang="en-US" altLang="zh-CN" sz="1400" kern="1200" dirty="0" err="1">
                <a:solidFill>
                  <a:schemeClr val="tx1"/>
                </a:solidFill>
                <a:effectLst/>
                <a:latin typeface="+mn-lt"/>
                <a:ea typeface="+mn-ea"/>
                <a:cs typeface="+mn-cs"/>
              </a:rPr>
              <a:t>ext</a:t>
            </a:r>
            <a:r>
              <a:rPr lang="en-US" altLang="zh-CN" sz="1400" kern="1200" dirty="0">
                <a:solidFill>
                  <a:schemeClr val="tx1"/>
                </a:solidFill>
                <a:effectLst/>
                <a:latin typeface="+mn-lt"/>
                <a:ea typeface="+mn-ea"/>
                <a:cs typeface="+mn-cs"/>
              </a:rPr>
              <a:t> </a:t>
            </a:r>
            <a:r>
              <a:rPr lang="zh-CN" altLang="zh-CN" sz="1400" kern="1200" dirty="0">
                <a:solidFill>
                  <a:schemeClr val="tx1"/>
                </a:solidFill>
                <a:effectLst/>
                <a:latin typeface="+mn-lt"/>
                <a:ea typeface="+mn-ea"/>
                <a:cs typeface="+mn-cs"/>
              </a:rPr>
              <a:t>I</a:t>
            </a:r>
            <a:r>
              <a:rPr lang="en-US" altLang="zh-CN" sz="1400" kern="1200" dirty="0" err="1">
                <a:solidFill>
                  <a:schemeClr val="tx1"/>
                </a:solidFill>
                <a:effectLst/>
                <a:latin typeface="+mn-lt"/>
                <a:ea typeface="+mn-ea"/>
                <a:cs typeface="+mn-cs"/>
              </a:rPr>
              <a:t>nversion</a:t>
            </a:r>
            <a:r>
              <a:rPr lang="zh-CN" altLang="zh-CN" sz="1400" kern="1200" dirty="0">
                <a:solidFill>
                  <a:schemeClr val="tx1"/>
                </a:solidFill>
                <a:effectLst/>
                <a:latin typeface="+mn-lt"/>
                <a:ea typeface="+mn-ea"/>
                <a:cs typeface="+mn-cs"/>
              </a:rPr>
              <a:t> concept, which ensures the original image can be replicated during generation, as well as the P</a:t>
            </a:r>
            <a:r>
              <a:rPr lang="en-US" altLang="zh-CN" sz="1400" kern="1200" dirty="0" err="1">
                <a:solidFill>
                  <a:schemeClr val="tx1"/>
                </a:solidFill>
                <a:effectLst/>
                <a:latin typeface="+mn-lt"/>
                <a:ea typeface="+mn-ea"/>
                <a:cs typeface="+mn-cs"/>
              </a:rPr>
              <a:t>rompt</a:t>
            </a:r>
            <a:r>
              <a:rPr lang="en-US" altLang="zh-CN" sz="1400" kern="1200" dirty="0">
                <a:solidFill>
                  <a:schemeClr val="tx1"/>
                </a:solidFill>
                <a:effectLst/>
                <a:latin typeface="+mn-lt"/>
                <a:ea typeface="+mn-ea"/>
                <a:cs typeface="+mn-cs"/>
              </a:rPr>
              <a:t>-to-</a:t>
            </a:r>
            <a:r>
              <a:rPr lang="zh-CN" altLang="zh-CN" sz="1400" kern="1200" dirty="0">
                <a:solidFill>
                  <a:schemeClr val="tx1"/>
                </a:solidFill>
                <a:effectLst/>
                <a:latin typeface="+mn-lt"/>
                <a:ea typeface="+mn-ea"/>
                <a:cs typeface="+mn-cs"/>
              </a:rPr>
              <a:t>P</a:t>
            </a:r>
            <a:r>
              <a:rPr lang="en-US" altLang="zh-CN" sz="1400" kern="1200" dirty="0" err="1">
                <a:solidFill>
                  <a:schemeClr val="tx1"/>
                </a:solidFill>
                <a:effectLst/>
                <a:latin typeface="+mn-lt"/>
                <a:ea typeface="+mn-ea"/>
                <a:cs typeface="+mn-cs"/>
              </a:rPr>
              <a:t>rompt</a:t>
            </a:r>
            <a:r>
              <a:rPr lang="zh-CN" altLang="zh-CN" sz="1400" kern="1200" dirty="0">
                <a:solidFill>
                  <a:schemeClr val="tx1"/>
                </a:solidFill>
                <a:effectLst/>
                <a:latin typeface="+mn-lt"/>
                <a:ea typeface="+mn-ea"/>
                <a:cs typeface="+mn-cs"/>
              </a:rPr>
              <a:t> concept, which intercepts the original attention data of the model and replaces it with the desired attention data to achieve "</a:t>
            </a:r>
            <a:r>
              <a:rPr lang="en-US" altLang="zh-CN" sz="1400" kern="1200" dirty="0">
                <a:solidFill>
                  <a:schemeClr val="tx1"/>
                </a:solidFill>
                <a:effectLst/>
                <a:latin typeface="+mn-lt"/>
                <a:ea typeface="+mn-ea"/>
                <a:cs typeface="+mn-cs"/>
              </a:rPr>
              <a:t>M</a:t>
            </a:r>
            <a:r>
              <a:rPr lang="zh-CN" altLang="zh-CN" sz="1400" kern="1200" dirty="0">
                <a:solidFill>
                  <a:schemeClr val="tx1"/>
                </a:solidFill>
                <a:effectLst/>
                <a:latin typeface="+mn-lt"/>
                <a:ea typeface="+mn-ea"/>
                <a:cs typeface="+mn-cs"/>
              </a:rPr>
              <a:t>odifying only the style, not the structure.“</a:t>
            </a:r>
            <a:endParaRPr lang="en-US" altLang="zh-CN" sz="14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Next, I will describe how local editing and style intensity control are implemented throughout the entire process.</a:t>
            </a:r>
            <a:endParaRPr lang="zh-CN" altLang="zh-CN" sz="14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2A5BB17-2696-B404-B6E1-241ADF792D6F}"/>
              </a:ext>
            </a:extLst>
          </p:cNvPr>
          <p:cNvSpPr>
            <a:spLocks noGrp="1"/>
          </p:cNvSpPr>
          <p:nvPr>
            <p:ph type="sldNum" sz="quarter" idx="5"/>
          </p:nvPr>
        </p:nvSpPr>
        <p:spPr/>
        <p:txBody>
          <a:bodyPr/>
          <a:lstStyle/>
          <a:p>
            <a:fld id="{116C8412-B7E8-49BB-A67D-CECED1E7A617}" type="slidenum">
              <a:rPr lang="zh-CN" altLang="en-US" smtClean="0"/>
              <a:t>12</a:t>
            </a:fld>
            <a:endParaRPr lang="zh-CN" altLang="en-US"/>
          </a:p>
        </p:txBody>
      </p:sp>
    </p:spTree>
    <p:extLst>
      <p:ext uri="{BB962C8B-B14F-4D97-AF65-F5344CB8AC3E}">
        <p14:creationId xmlns:p14="http://schemas.microsoft.com/office/powerpoint/2010/main" val="2366696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C1336-D2AE-89B3-533A-9BB11659B2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053047-92D7-411E-0E9F-D03318C3FD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87289D-A9CE-0F23-189C-A1BCBA4B0588}"/>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Hello everyone. Today I will introduce Prompt-to-Prompt, or P2P. It is an image editing technology by Google.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Its goal is very simple: we want to edit a generated image by changing text prompts. At the same time, we keep the </a:t>
            </a:r>
            <a:r>
              <a:rPr lang="en-US" altLang="zh-CN" sz="1200" b="1" kern="1200" dirty="0">
                <a:solidFill>
                  <a:schemeClr val="tx1"/>
                </a:solidFill>
                <a:effectLst/>
                <a:latin typeface="+mn-lt"/>
                <a:ea typeface="+mn-ea"/>
                <a:cs typeface="+mn-cs"/>
              </a:rPr>
              <a:t>spatial structure </a:t>
            </a:r>
            <a:r>
              <a:rPr lang="en-US" altLang="zh-CN" sz="1200" kern="1200" dirty="0">
                <a:solidFill>
                  <a:schemeClr val="tx1"/>
                </a:solidFill>
                <a:effectLst/>
                <a:latin typeface="+mn-lt"/>
                <a:ea typeface="+mn-ea"/>
                <a:cs typeface="+mn-cs"/>
              </a:rPr>
              <a:t>completely unchanged, and only change the </a:t>
            </a:r>
            <a:r>
              <a:rPr lang="en-US" altLang="zh-CN" sz="1200" b="1" kern="1200" dirty="0">
                <a:solidFill>
                  <a:schemeClr val="tx1"/>
                </a:solidFill>
                <a:effectLst/>
                <a:latin typeface="+mn-lt"/>
                <a:ea typeface="+mn-ea"/>
                <a:cs typeface="+mn-cs"/>
              </a:rPr>
              <a:t>semantic content.</a:t>
            </a:r>
            <a:endParaRPr lang="zh-CN" altLang="zh-CN" sz="1200" b="1"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For example, if I change the word "bicycle" to "car" in the prompt, the car should </a:t>
            </a:r>
            <a:r>
              <a:rPr lang="en-US" altLang="zh-CN" sz="1200" b="1" kern="1200" dirty="0">
                <a:solidFill>
                  <a:schemeClr val="tx1"/>
                </a:solidFill>
                <a:effectLst/>
                <a:latin typeface="+mn-lt"/>
                <a:ea typeface="+mn-ea"/>
                <a:cs typeface="+mn-cs"/>
              </a:rPr>
              <a:t>appear in the exact same position as the bicycle</a:t>
            </a:r>
            <a:r>
              <a:rPr lang="en-US" altLang="zh-CN" sz="1200" kern="1200" dirty="0">
                <a:solidFill>
                  <a:schemeClr val="tx1"/>
                </a:solidFill>
                <a:effectLst/>
                <a:latin typeface="+mn-lt"/>
                <a:ea typeface="+mn-ea"/>
                <a:cs typeface="+mn-cs"/>
              </a:rPr>
              <a:t>. The pose, background, and layout should not change. This is what P2P wants to do.</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D4CD5BD-BF4C-7709-4BFD-F47C08C7819F}"/>
              </a:ext>
            </a:extLst>
          </p:cNvPr>
          <p:cNvSpPr>
            <a:spLocks noGrp="1"/>
          </p:cNvSpPr>
          <p:nvPr>
            <p:ph type="sldNum" sz="quarter" idx="5"/>
          </p:nvPr>
        </p:nvSpPr>
        <p:spPr/>
        <p:txBody>
          <a:bodyPr/>
          <a:lstStyle/>
          <a:p>
            <a:fld id="{6CDAB7AF-E6B1-4D8E-B52C-70AC5C0FBC19}" type="slidenum">
              <a:rPr lang="zh-CN" altLang="en-US" smtClean="0"/>
              <a:t>13</a:t>
            </a:fld>
            <a:endParaRPr lang="zh-CN" altLang="en-US"/>
          </a:p>
        </p:txBody>
      </p:sp>
    </p:spTree>
    <p:extLst>
      <p:ext uri="{BB962C8B-B14F-4D97-AF65-F5344CB8AC3E}">
        <p14:creationId xmlns:p14="http://schemas.microsoft.com/office/powerpoint/2010/main" val="1224561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27775-24E7-8A67-683D-BA3142DD81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F16CCF-9D71-C0FC-7506-C8677D4B1A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034003-764E-B8D6-6307-567EBBA6362E}"/>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So How does P2P do this?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Well, It relies on a key finding: </a:t>
            </a:r>
            <a:r>
              <a:rPr lang="en-US" altLang="zh-CN" sz="1200" b="1" kern="1200" dirty="0">
                <a:solidFill>
                  <a:schemeClr val="tx1"/>
                </a:solidFill>
                <a:effectLst/>
                <a:latin typeface="+mn-lt"/>
                <a:ea typeface="+mn-ea"/>
                <a:cs typeface="+mn-cs"/>
              </a:rPr>
              <a:t>the Cross-Attention Map controls the spatial layout and geometry of the image.</a:t>
            </a:r>
            <a:endParaRPr lang="zh-CN" altLang="zh-CN" sz="1200" b="1"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In every step of the Diffusion Model, text features and image features mix in the Cross-Attention layer.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Each text token makes a spatial attention map. It acts like a heatmap. It tells the model "which area this token belongs to, and which pixels it affects".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u="sng" kern="1200" dirty="0">
                <a:solidFill>
                  <a:schemeClr val="tx1"/>
                </a:solidFill>
                <a:effectLst/>
                <a:latin typeface="+mn-lt"/>
                <a:ea typeface="+mn-ea"/>
                <a:cs typeface="+mn-cs"/>
              </a:rPr>
              <a:t>Look at the picture on the right</a:t>
            </a:r>
            <a:r>
              <a:rPr lang="en-US" altLang="zh-CN" sz="1200" kern="1200" dirty="0">
                <a:solidFill>
                  <a:schemeClr val="tx1"/>
                </a:solidFill>
                <a:effectLst/>
                <a:latin typeface="+mn-lt"/>
                <a:ea typeface="+mn-ea"/>
                <a:cs typeface="+mn-cs"/>
              </a:rPr>
              <a:t>. The attention map of the token "bear" exactly highlights the bear. "Bird" corresponds to the bird's area. They are highly separate in space.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More importantly: the spatial structure of the image is already fixed by the attention maps in the early steps of the diffusion process.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So, the conclusion is: Attention Map is the bridge between text and structure. Controlling the attention map means controlling the image structural skeleton.</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6769D5B-3A59-1E78-F00B-044D9DBF6E0D}"/>
              </a:ext>
            </a:extLst>
          </p:cNvPr>
          <p:cNvSpPr>
            <a:spLocks noGrp="1"/>
          </p:cNvSpPr>
          <p:nvPr>
            <p:ph type="sldNum" sz="quarter" idx="5"/>
          </p:nvPr>
        </p:nvSpPr>
        <p:spPr/>
        <p:txBody>
          <a:bodyPr/>
          <a:lstStyle/>
          <a:p>
            <a:fld id="{6CDAB7AF-E6B1-4D8E-B52C-70AC5C0FBC19}" type="slidenum">
              <a:rPr lang="zh-CN" altLang="en-US" smtClean="0"/>
              <a:t>14</a:t>
            </a:fld>
            <a:endParaRPr lang="zh-CN" altLang="en-US"/>
          </a:p>
        </p:txBody>
      </p:sp>
    </p:spTree>
    <p:extLst>
      <p:ext uri="{BB962C8B-B14F-4D97-AF65-F5344CB8AC3E}">
        <p14:creationId xmlns:p14="http://schemas.microsoft.com/office/powerpoint/2010/main" val="2655424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BBF7C-4135-ADDD-EBB2-79A91CA24A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6DB21F-C4B9-4CF0-52BD-169E0FB41C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4C4A9F-7344-3D97-C167-9E61BCA47859}"/>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Now, let's look at the mathematical foundation.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formula for Attention Matrix M is </a:t>
            </a:r>
            <a:r>
              <a:rPr lang="en-US" altLang="zh-CN" sz="1200" kern="1200" dirty="0" err="1">
                <a:solidFill>
                  <a:schemeClr val="tx1"/>
                </a:solidFill>
                <a:effectLst/>
                <a:latin typeface="+mn-lt"/>
                <a:ea typeface="+mn-ea"/>
                <a:cs typeface="+mn-cs"/>
              </a:rPr>
              <a:t>Softmax</a:t>
            </a:r>
            <a:r>
              <a:rPr lang="en-US" altLang="zh-CN" sz="1200" kern="1200" dirty="0">
                <a:solidFill>
                  <a:schemeClr val="tx1"/>
                </a:solidFill>
                <a:effectLst/>
                <a:latin typeface="+mn-lt"/>
                <a:ea typeface="+mn-ea"/>
                <a:cs typeface="+mn-cs"/>
              </a:rPr>
              <a:t>(QKᵀ/√d). Here, Q comes from image features. K and V come from text embeddings.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Each element </a:t>
            </a:r>
            <a:r>
              <a:rPr lang="en-US" altLang="zh-CN" sz="1200" kern="1200" dirty="0" err="1">
                <a:solidFill>
                  <a:schemeClr val="tx1"/>
                </a:solidFill>
                <a:effectLst/>
                <a:latin typeface="+mn-lt"/>
                <a:ea typeface="+mn-ea"/>
                <a:cs typeface="+mn-cs"/>
              </a:rPr>
              <a:t>M_ij</a:t>
            </a:r>
            <a:r>
              <a:rPr lang="en-US" altLang="zh-CN" sz="1200" kern="1200" dirty="0">
                <a:solidFill>
                  <a:schemeClr val="tx1"/>
                </a:solidFill>
                <a:effectLst/>
                <a:latin typeface="+mn-lt"/>
                <a:ea typeface="+mn-ea"/>
                <a:cs typeface="+mn-cs"/>
              </a:rPr>
              <a:t> means the weight of the j-</a:t>
            </a:r>
            <a:r>
              <a:rPr lang="en-US" altLang="zh-CN" sz="1200" kern="1200" dirty="0" err="1">
                <a:solidFill>
                  <a:schemeClr val="tx1"/>
                </a:solidFill>
                <a:effectLst/>
                <a:latin typeface="+mn-lt"/>
                <a:ea typeface="+mn-ea"/>
                <a:cs typeface="+mn-cs"/>
              </a:rPr>
              <a:t>th</a:t>
            </a:r>
            <a:r>
              <a:rPr lang="en-US" altLang="zh-CN" sz="1200" kern="1200" dirty="0">
                <a:solidFill>
                  <a:schemeClr val="tx1"/>
                </a:solidFill>
                <a:effectLst/>
                <a:latin typeface="+mn-lt"/>
                <a:ea typeface="+mn-ea"/>
                <a:cs typeface="+mn-cs"/>
              </a:rPr>
              <a:t> token on the </a:t>
            </a:r>
            <a:r>
              <a:rPr lang="en-US" altLang="zh-CN" sz="1200" kern="1200" dirty="0" err="1">
                <a:solidFill>
                  <a:schemeClr val="tx1"/>
                </a:solidFill>
                <a:effectLst/>
                <a:latin typeface="+mn-lt"/>
                <a:ea typeface="+mn-ea"/>
                <a:cs typeface="+mn-cs"/>
              </a:rPr>
              <a:t>i-th</a:t>
            </a:r>
            <a:r>
              <a:rPr lang="en-US" altLang="zh-CN" sz="1200" kern="1200" dirty="0">
                <a:solidFill>
                  <a:schemeClr val="tx1"/>
                </a:solidFill>
                <a:effectLst/>
                <a:latin typeface="+mn-lt"/>
                <a:ea typeface="+mn-ea"/>
                <a:cs typeface="+mn-cs"/>
              </a:rPr>
              <a:t> pixel. The final output is M multiply V. It is the weighted average of text information V, using M as weights.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means: M decides "which word" draws "which area". So, the core idea of P2P is...</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A7F0EEA-2E0A-AF5D-FA27-C1A862BC630D}"/>
              </a:ext>
            </a:extLst>
          </p:cNvPr>
          <p:cNvSpPr>
            <a:spLocks noGrp="1"/>
          </p:cNvSpPr>
          <p:nvPr>
            <p:ph type="sldNum" sz="quarter" idx="5"/>
          </p:nvPr>
        </p:nvSpPr>
        <p:spPr/>
        <p:txBody>
          <a:bodyPr/>
          <a:lstStyle/>
          <a:p>
            <a:fld id="{6CDAB7AF-E6B1-4D8E-B52C-70AC5C0FBC19}" type="slidenum">
              <a:rPr lang="zh-CN" altLang="en-US" smtClean="0"/>
              <a:t>15</a:t>
            </a:fld>
            <a:endParaRPr lang="zh-CN" altLang="en-US"/>
          </a:p>
        </p:txBody>
      </p:sp>
    </p:spTree>
    <p:extLst>
      <p:ext uri="{BB962C8B-B14F-4D97-AF65-F5344CB8AC3E}">
        <p14:creationId xmlns:p14="http://schemas.microsoft.com/office/powerpoint/2010/main" val="1736403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02258-D0DE-512F-7595-1E964E92BD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42F557-D65A-27F1-C12A-E7CE7344259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D69E44B-F4B4-75F8-909F-218B83E5E479}"/>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The core idea of P2P is: </a:t>
                </a:r>
                <a:r>
                  <a:rPr lang="en-US" altLang="zh-CN" sz="1200" b="1" kern="1200" dirty="0">
                    <a:solidFill>
                      <a:schemeClr val="tx1"/>
                    </a:solidFill>
                    <a:effectLst/>
                    <a:latin typeface="+mn-lt"/>
                    <a:ea typeface="+mn-ea"/>
                    <a:cs typeface="+mn-cs"/>
                  </a:rPr>
                  <a:t>We "save" the attention maps from the original image generation process, and then "inject" them into the generation process of the new image, so that the new image inherits the spatial layout of the original image, but with the semantics of the new prompt.</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Let's see how it works. We use the same random seed to make two noises. One uses the source prompt P to make the source image. The other uses the target prompt P* to generate the target image.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In each denoising step, we extract the attention map </a:t>
                </a:r>
                <a:r>
                  <a:rPr lang="en-US" altLang="zh-CN" sz="1200" kern="1200" dirty="0" err="1">
                    <a:solidFill>
                      <a:schemeClr val="tx1"/>
                    </a:solidFill>
                    <a:effectLst/>
                    <a:latin typeface="+mn-lt"/>
                    <a:ea typeface="+mn-ea"/>
                    <a:cs typeface="+mn-cs"/>
                  </a:rPr>
                  <a:t>M_t</a:t>
                </a:r>
                <a:r>
                  <a:rPr lang="en-US" altLang="zh-CN" sz="1200" kern="1200" dirty="0">
                    <a:solidFill>
                      <a:schemeClr val="tx1"/>
                    </a:solidFill>
                    <a:effectLst/>
                    <a:latin typeface="+mn-lt"/>
                    <a:ea typeface="+mn-ea"/>
                    <a:cs typeface="+mn-cs"/>
                  </a:rPr>
                  <a:t> from the source image, while also letting the target branch generate its own attention map </a:t>
                </a:r>
                <a:r>
                  <a:rPr lang="en-US" altLang="zh-CN" sz="1200" kern="1200" dirty="0" err="1">
                    <a:solidFill>
                      <a:schemeClr val="tx1"/>
                    </a:solidFill>
                    <a:effectLst/>
                    <a:latin typeface="+mn-lt"/>
                    <a:ea typeface="+mn-ea"/>
                    <a:cs typeface="+mn-cs"/>
                  </a:rPr>
                  <a:t>M_t</a:t>
                </a:r>
                <a:r>
                  <a:rPr lang="en-US" altLang="zh-CN" sz="1200" kern="1200" dirty="0">
                    <a:solidFill>
                      <a:schemeClr val="tx1"/>
                    </a:solidFill>
                    <a:effectLst/>
                    <a:latin typeface="+mn-lt"/>
                    <a:ea typeface="+mn-ea"/>
                    <a:cs typeface="+mn-cs"/>
                  </a:rPr>
                  <a:t>* normally.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Then we use an Edit function to combine the two maps, producing a modified attention map </a:t>
                </a:r>
                <a:r>
                  <a:rPr lang="en-US" altLang="zh-CN" sz="1200" kern="1200" dirty="0" err="1">
                    <a:solidFill>
                      <a:schemeClr val="tx1"/>
                    </a:solidFill>
                    <a:effectLst/>
                    <a:latin typeface="+mn-lt"/>
                    <a:ea typeface="+mn-ea"/>
                    <a:cs typeface="+mn-cs"/>
                  </a:rPr>
                  <a:t>M̃_t</a:t>
                </a:r>
                <a:r>
                  <a:rPr lang="en-US" altLang="zh-CN" sz="1200" kern="1200" dirty="0">
                    <a:solidFill>
                      <a:schemeClr val="tx1"/>
                    </a:solidFill>
                    <a:effectLst/>
                    <a:latin typeface="+mn-lt"/>
                    <a:ea typeface="+mn-ea"/>
                    <a:cs typeface="+mn-cs"/>
                  </a:rPr>
                  <a:t>. We use this new map to overwrite the target branch. </a:t>
                </a:r>
              </a:p>
              <a:p>
                <a:endParaRPr lang="en-US"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In this way, </a:t>
                </a:r>
                <a:r>
                  <a:rPr lang="en-US" altLang="zh-CN" sz="1200" kern="1200" dirty="0">
                    <a:solidFill>
                      <a:schemeClr val="tx1"/>
                    </a:solidFill>
                    <a:effectLst/>
                    <a:latin typeface="+mn-lt"/>
                    <a:ea typeface="+mn-ea"/>
                    <a:cs typeface="+mn-cs"/>
                  </a:rPr>
                  <a:t>the target image gets new semantics but keeps the old layout.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Edit function is very flexible. It supports three strategies: Word Swap, Prompt Refinement, and Attention Reweighting. Next, I will introduce them one by one.</a:t>
                </a:r>
                <a:endParaRPr lang="zh-CN" altLang="zh-CN" sz="1200" kern="1200" dirty="0">
                  <a:solidFill>
                    <a:schemeClr val="tx1"/>
                  </a:solidFill>
                  <a:effectLst/>
                  <a:latin typeface="+mn-lt"/>
                  <a:ea typeface="+mn-ea"/>
                  <a:cs typeface="+mn-cs"/>
                </a:endParaRPr>
              </a:p>
            </p:txBody>
          </p:sp>
        </mc:Choice>
        <mc:Fallback xmlns="">
          <p:sp>
            <p:nvSpPr>
              <p:cNvPr id="3" name="备注占位符 2">
                <a:extLst>
                  <a:ext uri="{FF2B5EF4-FFF2-40B4-BE49-F238E27FC236}">
                    <a16:creationId xmlns:a16="http://schemas.microsoft.com/office/drawing/2014/main" id="{6D69E44B-F4B4-75F8-909F-218B83E5E479}"/>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So, the core idea of P2P is this. If we want to change the text but keep the layout, we just </a:t>
                </a:r>
                <a:r>
                  <a:rPr lang="en-US" altLang="zh-CN" sz="1200" b="1" i="0" kern="1200" dirty="0">
                    <a:solidFill>
                      <a:schemeClr val="tx1"/>
                    </a:solidFill>
                    <a:effectLst/>
                    <a:latin typeface="+mn-lt"/>
                    <a:ea typeface="+mn-ea"/>
                    <a:cs typeface="+mn-cs"/>
                  </a:rPr>
                  <a:t>copy the attention map M from the original image, and inject (</a:t>
                </a:r>
                <a:r>
                  <a:rPr lang="zh-CN" altLang="en-US" sz="1200" b="1" i="0" kern="1200" dirty="0">
                    <a:solidFill>
                      <a:schemeClr val="tx1"/>
                    </a:solidFill>
                    <a:effectLst/>
                    <a:latin typeface="+mn-lt"/>
                    <a:ea typeface="+mn-ea"/>
                    <a:cs typeface="+mn-cs"/>
                  </a:rPr>
                  <a:t>注入</a:t>
                </a:r>
                <a:r>
                  <a:rPr lang="en-US" altLang="zh-CN" sz="1200" b="1" i="0" kern="1200" dirty="0">
                    <a:solidFill>
                      <a:schemeClr val="tx1"/>
                    </a:solidFill>
                    <a:effectLst/>
                    <a:latin typeface="+mn-lt"/>
                    <a:ea typeface="+mn-ea"/>
                    <a:cs typeface="+mn-cs"/>
                  </a:rPr>
                  <a:t>) it into the new generation.</a:t>
                </a:r>
                <a:r>
                  <a:rPr lang="en-US" altLang="zh-CN" sz="1200" b="0" i="0" kern="1200" dirty="0">
                    <a:solidFill>
                      <a:schemeClr val="tx1"/>
                    </a:solidFill>
                    <a:effectLst/>
                    <a:latin typeface="+mn-lt"/>
                    <a:ea typeface="+mn-ea"/>
                    <a:cs typeface="+mn-cs"/>
                  </a:rPr>
                  <a:t> It means: "Draw a new picture, but use the old layout.“</a:t>
                </a: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P2P uses a parallel running mechanism: The source image and the target image share the same initial noise </a:t>
                </a:r>
                <a:r>
                  <a:rPr lang="zh-CN" altLang="ar-AE" sz="1200" i="0" kern="1200">
                    <a:solidFill>
                      <a:schemeClr val="tx1"/>
                    </a:solidFill>
                    <a:latin typeface="+mn-lt"/>
                    <a:ea typeface="+mn-ea"/>
                    <a:cs typeface="+mn-cs"/>
                  </a:rPr>
                  <a:t>𝑧</a:t>
                </a:r>
                <a:r>
                  <a:rPr lang="ar-AE" altLang="zh-CN" sz="1200" i="0" kern="1200">
                    <a:solidFill>
                      <a:schemeClr val="tx1"/>
                    </a:solidFill>
                    <a:latin typeface="+mn-lt"/>
                    <a:ea typeface="+mn-ea"/>
                    <a:cs typeface="+mn-cs"/>
                  </a:rPr>
                  <a:t>_</a:t>
                </a:r>
                <a:r>
                  <a:rPr lang="zh-CN" altLang="ar-AE" sz="1200" i="0" kern="1200">
                    <a:solidFill>
                      <a:schemeClr val="tx1"/>
                    </a:solidFill>
                    <a:latin typeface="+mn-lt"/>
                    <a:ea typeface="+mn-ea"/>
                    <a:cs typeface="+mn-cs"/>
                  </a:rPr>
                  <a:t>𝑇</a:t>
                </a:r>
                <a:r>
                  <a:rPr lang="ar-AE" altLang="zh-CN" dirty="0">
                    <a:effectLst/>
                  </a:rPr>
                  <a:t>.</a:t>
                </a:r>
                <a:endParaRPr lang="en-US" altLang="zh-CN" dirty="0">
                  <a:effectLst/>
                </a:endParaRPr>
              </a:p>
              <a:p>
                <a:r>
                  <a:rPr lang="en-US" altLang="zh-CN" sz="1200" b="0" i="0" kern="1200" dirty="0">
                    <a:solidFill>
                      <a:schemeClr val="tx1"/>
                    </a:solidFill>
                    <a:effectLst/>
                    <a:latin typeface="+mn-lt"/>
                    <a:ea typeface="+mn-ea"/>
                    <a:cs typeface="+mn-cs"/>
                  </a:rPr>
                  <a:t>In each denoising step (iteration), we first extract the current attention map </a:t>
                </a:r>
                <a:r>
                  <a:rPr lang="zh-CN" altLang="ar-AE" sz="1200" i="0" kern="1200">
                    <a:solidFill>
                      <a:schemeClr val="tx1"/>
                    </a:solidFill>
                    <a:latin typeface="+mn-lt"/>
                    <a:ea typeface="+mn-ea"/>
                    <a:cs typeface="+mn-cs"/>
                  </a:rPr>
                  <a:t>𝑀</a:t>
                </a:r>
                <a:r>
                  <a:rPr lang="ar-AE" altLang="zh-CN" sz="1200" i="0" kern="1200">
                    <a:solidFill>
                      <a:schemeClr val="tx1"/>
                    </a:solidFill>
                    <a:latin typeface="+mn-lt"/>
                    <a:ea typeface="+mn-ea"/>
                    <a:cs typeface="+mn-cs"/>
                  </a:rPr>
                  <a:t>_</a:t>
                </a:r>
                <a:r>
                  <a:rPr lang="zh-CN" altLang="ar-AE" sz="1200" i="0" kern="1200">
                    <a:solidFill>
                      <a:schemeClr val="tx1"/>
                    </a:solidFill>
                    <a:latin typeface="+mn-lt"/>
                    <a:ea typeface="+mn-ea"/>
                    <a:cs typeface="+mn-cs"/>
                  </a:rPr>
                  <a:t>𝑡</a:t>
                </a:r>
                <a:r>
                  <a:rPr lang="ar-AE" altLang="zh-CN"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from the generation of the source image.</a:t>
                </a:r>
              </a:p>
              <a:p>
                <a:r>
                  <a:rPr lang="en-US" altLang="zh-CN" sz="1200" b="0" i="0" kern="1200" dirty="0">
                    <a:solidFill>
                      <a:schemeClr val="tx1"/>
                    </a:solidFill>
                    <a:effectLst/>
                    <a:latin typeface="+mn-lt"/>
                    <a:ea typeface="+mn-ea"/>
                    <a:cs typeface="+mn-cs"/>
                  </a:rPr>
                  <a:t>This is our "spatial layout reference" and is passed to a core function called Edit().</a:t>
                </a:r>
              </a:p>
              <a:p>
                <a:r>
                  <a:rPr lang="en-US" altLang="zh-CN" sz="1200" b="0" i="0" kern="1200" dirty="0">
                    <a:solidFill>
                      <a:schemeClr val="tx1"/>
                    </a:solidFill>
                    <a:effectLst/>
                    <a:latin typeface="+mn-lt"/>
                    <a:ea typeface="+mn-ea"/>
                    <a:cs typeface="+mn-cs"/>
                  </a:rPr>
                  <a:t>During the forward process of the target image, we forcibly replace or merge its original attention map with the </a:t>
                </a:r>
                <a:r>
                  <a:rPr lang="zh-CN" altLang="ar-AE" sz="1200" i="0" kern="1200">
                    <a:solidFill>
                      <a:schemeClr val="tx1"/>
                    </a:solidFill>
                    <a:latin typeface="+mn-lt"/>
                    <a:ea typeface="+mn-ea"/>
                    <a:cs typeface="+mn-cs"/>
                  </a:rPr>
                  <a:t>𝑀</a:t>
                </a:r>
                <a:r>
                  <a:rPr lang="ar-AE" altLang="zh-CN" sz="1200" i="0" kern="1200">
                    <a:solidFill>
                      <a:schemeClr val="tx1"/>
                    </a:solidFill>
                    <a:latin typeface="+mn-lt"/>
                    <a:ea typeface="+mn-ea"/>
                    <a:cs typeface="+mn-cs"/>
                  </a:rPr>
                  <a:t>_</a:t>
                </a:r>
                <a:r>
                  <a:rPr lang="zh-CN" altLang="ar-AE" sz="1200" i="0" kern="1200">
                    <a:solidFill>
                      <a:schemeClr val="tx1"/>
                    </a:solidFill>
                    <a:latin typeface="+mn-lt"/>
                    <a:ea typeface="+mn-ea"/>
                    <a:cs typeface="+mn-cs"/>
                  </a:rPr>
                  <a:t>𝑡</a:t>
                </a:r>
                <a:r>
                  <a:rPr lang="ar-AE" altLang="zh-CN"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processed by the Edit() function.</a:t>
                </a:r>
              </a:p>
              <a:p>
                <a:r>
                  <a:rPr lang="en-US" altLang="zh-CN" sz="1200" b="0" i="0" kern="1200" dirty="0">
                    <a:solidFill>
                      <a:schemeClr val="tx1"/>
                    </a:solidFill>
                    <a:effectLst/>
                    <a:latin typeface="+mn-lt"/>
                    <a:ea typeface="+mn-ea"/>
                    <a:cs typeface="+mn-cs"/>
                  </a:rPr>
                  <a:t>As a result, in the final edited image, the spatial composition comes from the source image's </a:t>
                </a:r>
                <a:r>
                  <a:rPr lang="zh-CN" altLang="ar-AE" sz="1200" i="0" kern="1200">
                    <a:solidFill>
                      <a:schemeClr val="tx1"/>
                    </a:solidFill>
                    <a:latin typeface="+mn-lt"/>
                    <a:ea typeface="+mn-ea"/>
                    <a:cs typeface="+mn-cs"/>
                  </a:rPr>
                  <a:t>𝑀</a:t>
                </a:r>
                <a:r>
                  <a:rPr lang="ar-AE" altLang="zh-CN" sz="1200" i="0" kern="1200">
                    <a:solidFill>
                      <a:schemeClr val="tx1"/>
                    </a:solidFill>
                    <a:latin typeface="+mn-lt"/>
                    <a:ea typeface="+mn-ea"/>
                    <a:cs typeface="+mn-cs"/>
                  </a:rPr>
                  <a:t>_</a:t>
                </a:r>
                <a:r>
                  <a:rPr lang="zh-CN" altLang="ar-AE" sz="1200" i="0" kern="1200">
                    <a:solidFill>
                      <a:schemeClr val="tx1"/>
                    </a:solidFill>
                    <a:latin typeface="+mn-lt"/>
                    <a:ea typeface="+mn-ea"/>
                    <a:cs typeface="+mn-cs"/>
                  </a:rPr>
                  <a:t>𝑡</a:t>
                </a:r>
                <a:r>
                  <a:rPr lang="ar-AE" altLang="zh-CN"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while the semantic details comes from the target prompt </a:t>
                </a:r>
                <a:r>
                  <a:rPr lang="zh-CN" altLang="ar-AE" sz="1200" i="0" kern="1200">
                    <a:solidFill>
                      <a:schemeClr val="tx1"/>
                    </a:solidFill>
                    <a:latin typeface="+mn-lt"/>
                    <a:ea typeface="+mn-ea"/>
                    <a:cs typeface="+mn-cs"/>
                  </a:rPr>
                  <a:t>𝑃</a:t>
                </a:r>
                <a:r>
                  <a:rPr lang="ar-AE" altLang="zh-CN" sz="1200" i="0" kern="1200">
                    <a:solidFill>
                      <a:schemeClr val="tx1"/>
                    </a:solidFill>
                    <a:latin typeface="+mn-lt"/>
                    <a:ea typeface="+mn-ea"/>
                    <a:cs typeface="+mn-cs"/>
                  </a:rPr>
                  <a:t>^∗</a:t>
                </a:r>
                <a:r>
                  <a:rPr lang="ar-AE" altLang="zh-CN" sz="1200" b="0" i="0" kern="1200" dirty="0">
                    <a:solidFill>
                      <a:schemeClr val="tx1"/>
                    </a:solidFill>
                    <a:effectLst/>
                    <a:latin typeface="+mn-lt"/>
                    <a:ea typeface="+mn-ea"/>
                    <a:cs typeface="+mn-cs"/>
                  </a:rPr>
                  <a:t>.</a:t>
                </a:r>
              </a:p>
              <a:p>
                <a:br>
                  <a:rPr lang="ar-AE" altLang="zh-CN" dirty="0"/>
                </a:br>
                <a:endParaRPr lang="en-US" altLang="zh-CN" dirty="0"/>
              </a:p>
              <a:p>
                <a:endParaRPr lang="ar-AE" altLang="zh-CN" dirty="0"/>
              </a:p>
              <a:p>
                <a:r>
                  <a:rPr lang="en-US" altLang="zh-CN" sz="1200" b="0" i="0" kern="1200" dirty="0">
                    <a:solidFill>
                      <a:schemeClr val="tx1"/>
                    </a:solidFill>
                    <a:effectLst/>
                    <a:latin typeface="+mn-lt"/>
                    <a:ea typeface="+mn-ea"/>
                    <a:cs typeface="+mn-cs"/>
                  </a:rPr>
                  <a:t>In every step, we extract the attention map </a:t>
                </a:r>
                <a:r>
                  <a:rPr lang="zh-CN" altLang="ar-AE" sz="1200" i="0" kern="1200">
                    <a:solidFill>
                      <a:schemeClr val="tx1"/>
                    </a:solidFill>
                    <a:latin typeface="+mn-lt"/>
                    <a:ea typeface="+mn-ea"/>
                    <a:cs typeface="+mn-cs"/>
                  </a:rPr>
                  <a:t>𝑀</a:t>
                </a:r>
                <a:r>
                  <a:rPr lang="ar-AE" altLang="zh-CN" sz="1200" i="0" kern="1200">
                    <a:solidFill>
                      <a:schemeClr val="tx1"/>
                    </a:solidFill>
                    <a:latin typeface="+mn-lt"/>
                    <a:ea typeface="+mn-ea"/>
                    <a:cs typeface="+mn-cs"/>
                  </a:rPr>
                  <a:t>_</a:t>
                </a:r>
                <a:r>
                  <a:rPr lang="zh-CN" altLang="ar-AE" sz="1200" i="0" kern="1200">
                    <a:solidFill>
                      <a:schemeClr val="tx1"/>
                    </a:solidFill>
                    <a:latin typeface="+mn-lt"/>
                    <a:ea typeface="+mn-ea"/>
                    <a:cs typeface="+mn-cs"/>
                  </a:rPr>
                  <a:t>𝑡</a:t>
                </a:r>
                <a:r>
                  <a:rPr lang="ar-AE" altLang="zh-CN" dirty="0">
                    <a:effectLst/>
                  </a:rPr>
                  <a:t> </a:t>
                </a:r>
                <a:r>
                  <a:rPr lang="en-US" altLang="zh-CN" dirty="0">
                    <a:effectLst/>
                  </a:rPr>
                  <a:t>from the source. This is our "layout reference". </a:t>
                </a:r>
              </a:p>
              <a:p>
                <a:r>
                  <a:rPr lang="en-US" altLang="zh-CN" dirty="0">
                    <a:effectLst/>
                  </a:rPr>
                  <a:t>Then, we put </a:t>
                </a:r>
                <a:r>
                  <a:rPr lang="zh-CN" altLang="ar-AE" sz="1200" i="0" kern="1200">
                    <a:solidFill>
                      <a:schemeClr val="tx1"/>
                    </a:solidFill>
                    <a:latin typeface="+mn-lt"/>
                    <a:ea typeface="+mn-ea"/>
                    <a:cs typeface="+mn-cs"/>
                  </a:rPr>
                  <a:t>𝑀</a:t>
                </a:r>
                <a:r>
                  <a:rPr lang="ar-AE" altLang="zh-CN" sz="1200" i="0" kern="1200">
                    <a:solidFill>
                      <a:schemeClr val="tx1"/>
                    </a:solidFill>
                    <a:latin typeface="+mn-lt"/>
                    <a:ea typeface="+mn-ea"/>
                    <a:cs typeface="+mn-cs"/>
                  </a:rPr>
                  <a:t>_</a:t>
                </a:r>
                <a:r>
                  <a:rPr lang="zh-CN" altLang="ar-AE" sz="1200" i="0" kern="1200">
                    <a:solidFill>
                      <a:schemeClr val="tx1"/>
                    </a:solidFill>
                    <a:latin typeface="+mn-lt"/>
                    <a:ea typeface="+mn-ea"/>
                    <a:cs typeface="+mn-cs"/>
                  </a:rPr>
                  <a:t>𝑡</a:t>
                </a:r>
                <a:r>
                  <a:rPr lang="ar-AE" altLang="zh-CN" dirty="0">
                    <a:effectLst/>
                  </a:rPr>
                  <a:t> </a:t>
                </a:r>
                <a:r>
                  <a:rPr lang="en-US" altLang="zh-CN" dirty="0">
                    <a:effectLst/>
                  </a:rPr>
                  <a:t>into an </a:t>
                </a:r>
                <a:r>
                  <a:rPr lang="en-US" altLang="zh-CN" sz="1200" kern="1200" dirty="0">
                    <a:solidFill>
                      <a:schemeClr val="tx1"/>
                    </a:solidFill>
                    <a:effectLst/>
                    <a:latin typeface="+mn-lt"/>
                    <a:ea typeface="+mn-ea"/>
                    <a:cs typeface="+mn-cs"/>
                  </a:rPr>
                  <a:t>Edit()</a:t>
                </a:r>
                <a:r>
                  <a:rPr lang="en-US" altLang="zh-CN" dirty="0">
                    <a:effectLst/>
                  </a:rPr>
                  <a:t> function. The target image uses this edited map.</a:t>
                </a:r>
                <a:endParaRPr lang="en-US" altLang="zh-CN" dirty="0"/>
              </a:p>
              <a:p>
                <a:r>
                  <a:rPr lang="en-US" altLang="zh-CN" sz="1200" b="0" i="0" kern="1200" dirty="0">
                    <a:solidFill>
                      <a:schemeClr val="tx1"/>
                    </a:solidFill>
                    <a:effectLst/>
                    <a:latin typeface="+mn-lt"/>
                    <a:ea typeface="+mn-ea"/>
                    <a:cs typeface="+mn-cs"/>
                  </a:rPr>
                  <a:t>Finally, the new image has the layout of the source, but the semantic content (</a:t>
                </a:r>
                <a:r>
                  <a:rPr lang="zh-CN" altLang="en-US" sz="1200" b="0" i="0" kern="1200" dirty="0">
                    <a:solidFill>
                      <a:schemeClr val="tx1"/>
                    </a:solidFill>
                    <a:effectLst/>
                    <a:latin typeface="+mn-lt"/>
                    <a:ea typeface="+mn-ea"/>
                    <a:cs typeface="+mn-cs"/>
                  </a:rPr>
                  <a:t>语义内容</a:t>
                </a:r>
                <a:r>
                  <a:rPr lang="en-US" altLang="zh-CN" sz="1200" b="0" i="0" kern="1200" dirty="0">
                    <a:solidFill>
                      <a:schemeClr val="tx1"/>
                    </a:solidFill>
                    <a:effectLst/>
                    <a:latin typeface="+mn-lt"/>
                    <a:ea typeface="+mn-ea"/>
                    <a:cs typeface="+mn-cs"/>
                  </a:rPr>
                  <a:t>) of the target prompt.</a:t>
                </a:r>
              </a:p>
              <a:p>
                <a:br>
                  <a:rPr lang="en-US" altLang="zh-CN" dirty="0"/>
                </a:br>
                <a:br>
                  <a:rPr lang="en-US" altLang="zh-CN" dirty="0"/>
                </a:br>
                <a:endParaRPr lang="zh-CN" altLang="en-US" dirty="0"/>
              </a:p>
            </p:txBody>
          </p:sp>
        </mc:Fallback>
      </mc:AlternateContent>
      <p:sp>
        <p:nvSpPr>
          <p:cNvPr id="4" name="灯片编号占位符 3">
            <a:extLst>
              <a:ext uri="{FF2B5EF4-FFF2-40B4-BE49-F238E27FC236}">
                <a16:creationId xmlns:a16="http://schemas.microsoft.com/office/drawing/2014/main" id="{DB91869E-EC0C-C5AD-503A-E95B31081AD9}"/>
              </a:ext>
            </a:extLst>
          </p:cNvPr>
          <p:cNvSpPr>
            <a:spLocks noGrp="1"/>
          </p:cNvSpPr>
          <p:nvPr>
            <p:ph type="sldNum" sz="quarter" idx="5"/>
          </p:nvPr>
        </p:nvSpPr>
        <p:spPr/>
        <p:txBody>
          <a:bodyPr/>
          <a:lstStyle/>
          <a:p>
            <a:fld id="{6CDAB7AF-E6B1-4D8E-B52C-70AC5C0FBC19}" type="slidenum">
              <a:rPr lang="zh-CN" altLang="en-US" smtClean="0"/>
              <a:t>16</a:t>
            </a:fld>
            <a:endParaRPr lang="zh-CN" altLang="en-US"/>
          </a:p>
        </p:txBody>
      </p:sp>
    </p:spTree>
    <p:extLst>
      <p:ext uri="{BB962C8B-B14F-4D97-AF65-F5344CB8AC3E}">
        <p14:creationId xmlns:p14="http://schemas.microsoft.com/office/powerpoint/2010/main" val="945490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9DE4A-8B64-4D88-8DF5-512CD91E35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34A7F6-0E87-42B9-308F-7813E478F7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D2DFB3-478F-E971-EA73-5FD98894FD5F}"/>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First is </a:t>
            </a:r>
            <a:r>
              <a:rPr lang="en-US" altLang="zh-CN" sz="1200" b="1" kern="1200" dirty="0">
                <a:solidFill>
                  <a:schemeClr val="tx1"/>
                </a:solidFill>
                <a:effectLst/>
                <a:latin typeface="+mn-lt"/>
                <a:ea typeface="+mn-ea"/>
                <a:cs typeface="+mn-cs"/>
              </a:rPr>
              <a:t>Word Swap</a:t>
            </a:r>
            <a:r>
              <a:rPr lang="en-US" altLang="zh-CN" sz="1200" kern="1200" dirty="0">
                <a:solidFill>
                  <a:schemeClr val="tx1"/>
                </a:solidFill>
                <a:effectLst/>
                <a:latin typeface="+mn-lt"/>
                <a:ea typeface="+mn-ea"/>
                <a:cs typeface="+mn-cs"/>
              </a:rPr>
              <a:t>. We change one word in the prompt to another word.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For example, changing "a cat riding a bicycle" to "a cat riding a car". We want the car to take the exact place of the bicycle.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How to do it?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We define a mapper matrix. It shows which source token matches which target token.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Then we </a:t>
            </a:r>
            <a:r>
              <a:rPr lang="en-US" altLang="zh-CN" sz="1200" b="1" kern="1200" dirty="0">
                <a:solidFill>
                  <a:schemeClr val="tx1"/>
                </a:solidFill>
                <a:effectLst/>
                <a:latin typeface="+mn-lt"/>
                <a:ea typeface="+mn-ea"/>
                <a:cs typeface="+mn-cs"/>
              </a:rPr>
              <a:t>multiply</a:t>
            </a:r>
            <a:r>
              <a:rPr lang="en-US" altLang="zh-CN" sz="1200" kern="1200" dirty="0">
                <a:solidFill>
                  <a:schemeClr val="tx1"/>
                </a:solidFill>
                <a:effectLst/>
                <a:latin typeface="+mn-lt"/>
                <a:ea typeface="+mn-ea"/>
                <a:cs typeface="+mn-cs"/>
              </a:rPr>
              <a:t> the source attention map by the mapper, and directly overwrite the target attention map.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So, the attention for "bicycle" is forced to move to "car". The car will appear in the old position.</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589723AA-9868-65D4-9A6F-4B2CFDAC8B5C}"/>
              </a:ext>
            </a:extLst>
          </p:cNvPr>
          <p:cNvSpPr>
            <a:spLocks noGrp="1"/>
          </p:cNvSpPr>
          <p:nvPr>
            <p:ph type="sldNum" sz="quarter" idx="5"/>
          </p:nvPr>
        </p:nvSpPr>
        <p:spPr/>
        <p:txBody>
          <a:bodyPr/>
          <a:lstStyle/>
          <a:p>
            <a:fld id="{6CDAB7AF-E6B1-4D8E-B52C-70AC5C0FBC19}" type="slidenum">
              <a:rPr lang="zh-CN" altLang="en-US" smtClean="0"/>
              <a:t>17</a:t>
            </a:fld>
            <a:endParaRPr lang="zh-CN" altLang="en-US"/>
          </a:p>
        </p:txBody>
      </p:sp>
    </p:spTree>
    <p:extLst>
      <p:ext uri="{BB962C8B-B14F-4D97-AF65-F5344CB8AC3E}">
        <p14:creationId xmlns:p14="http://schemas.microsoft.com/office/powerpoint/2010/main" val="1077857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B062B-9E97-6A28-D421-896D11F3AE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041C62-449B-AE09-ADA5-4857DD6DCBF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BFE41A-A9F4-2CD4-0356-8B2177BA1B05}"/>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The second operation is </a:t>
            </a:r>
            <a:r>
              <a:rPr lang="en-US" altLang="zh-CN" sz="1200" b="1" kern="1200" dirty="0">
                <a:solidFill>
                  <a:schemeClr val="tx1"/>
                </a:solidFill>
                <a:effectLst/>
                <a:latin typeface="+mn-lt"/>
                <a:ea typeface="+mn-ea"/>
                <a:cs typeface="+mn-cs"/>
              </a:rPr>
              <a:t>Adding a New Phrase</a:t>
            </a:r>
            <a:r>
              <a:rPr lang="en-US" altLang="zh-CN" sz="1200" kern="1200" dirty="0">
                <a:solidFill>
                  <a:schemeClr val="tx1"/>
                </a:solidFill>
                <a:effectLst/>
                <a:latin typeface="+mn-lt"/>
                <a:ea typeface="+mn-ea"/>
                <a:cs typeface="+mn-cs"/>
              </a:rPr>
              <a:t>, </a:t>
            </a:r>
            <a:r>
              <a:rPr lang="en-US" altLang="zh-CN" sz="1200" b="1" kern="1200" dirty="0">
                <a:solidFill>
                  <a:schemeClr val="tx1"/>
                </a:solidFill>
                <a:effectLst/>
                <a:latin typeface="+mn-lt"/>
                <a:ea typeface="+mn-ea"/>
                <a:cs typeface="+mn-cs"/>
              </a:rPr>
              <a:t>or Prompt Refinement</a:t>
            </a:r>
            <a:r>
              <a:rPr lang="en-US" altLang="zh-CN" sz="1200" kern="1200" dirty="0">
                <a:solidFill>
                  <a:schemeClr val="tx1"/>
                </a:solidFill>
                <a:effectLst/>
                <a:latin typeface="+mn-lt"/>
                <a:ea typeface="+mn-ea"/>
                <a:cs typeface="+mn-cs"/>
              </a:rPr>
              <a:t>.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For example, the old prompt is "a bear wearing sunglasses". We want to add the word "squared" to make the sunglasses square.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Here, we cannot replace all maps, because the new word has no old match.</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strategy is: for words kept in both prompts, we inject the old attention maps.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For the new word, we keep the target model's own maps. We mix them using a </a:t>
            </a:r>
            <a:r>
              <a:rPr lang="en-US" altLang="zh-CN" sz="1200" b="1" kern="1200" dirty="0">
                <a:solidFill>
                  <a:schemeClr val="tx1"/>
                </a:solidFill>
                <a:effectLst/>
                <a:latin typeface="+mn-lt"/>
                <a:ea typeface="+mn-ea"/>
                <a:cs typeface="+mn-cs"/>
              </a:rPr>
              <a:t>parameter </a:t>
            </a:r>
            <a:r>
              <a:rPr lang="en-US" altLang="zh-CN" sz="1200" kern="1200" dirty="0">
                <a:solidFill>
                  <a:schemeClr val="tx1"/>
                </a:solidFill>
                <a:effectLst/>
                <a:latin typeface="+mn-lt"/>
                <a:ea typeface="+mn-ea"/>
                <a:cs typeface="+mn-cs"/>
              </a:rPr>
              <a:t>alpha.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In early steps, alpha is big to keep the old structure. Later, alpha becomes small to let new content blend in naturally.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makes a smooth change, which is great for fine details.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CD035C0-11EF-3F85-F4B9-FFD4C2C37634}"/>
              </a:ext>
            </a:extLst>
          </p:cNvPr>
          <p:cNvSpPr>
            <a:spLocks noGrp="1"/>
          </p:cNvSpPr>
          <p:nvPr>
            <p:ph type="sldNum" sz="quarter" idx="5"/>
          </p:nvPr>
        </p:nvSpPr>
        <p:spPr/>
        <p:txBody>
          <a:bodyPr/>
          <a:lstStyle/>
          <a:p>
            <a:fld id="{6CDAB7AF-E6B1-4D8E-B52C-70AC5C0FBC19}" type="slidenum">
              <a:rPr lang="zh-CN" altLang="en-US" smtClean="0"/>
              <a:t>18</a:t>
            </a:fld>
            <a:endParaRPr lang="zh-CN" altLang="en-US"/>
          </a:p>
        </p:txBody>
      </p:sp>
    </p:spTree>
    <p:extLst>
      <p:ext uri="{BB962C8B-B14F-4D97-AF65-F5344CB8AC3E}">
        <p14:creationId xmlns:p14="http://schemas.microsoft.com/office/powerpoint/2010/main" val="17593724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879DB-4E46-6356-A8CD-40596E042C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58B848-E92D-AC2A-6FE9-F86144257F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D2935A-CB70-5863-0886-C6DB5FEA123E}"/>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The last operation is </a:t>
            </a:r>
            <a:r>
              <a:rPr lang="en-US" altLang="zh-CN" sz="1200" b="1" kern="1200" dirty="0">
                <a:solidFill>
                  <a:schemeClr val="tx1"/>
                </a:solidFill>
                <a:effectLst/>
                <a:latin typeface="+mn-lt"/>
                <a:ea typeface="+mn-ea"/>
                <a:cs typeface="+mn-cs"/>
              </a:rPr>
              <a:t>Attention Reweighting</a:t>
            </a:r>
            <a:r>
              <a:rPr lang="en-US" altLang="zh-CN" sz="1200" kern="1200" dirty="0">
                <a:solidFill>
                  <a:schemeClr val="tx1"/>
                </a:solidFill>
                <a:effectLst/>
                <a:latin typeface="+mn-lt"/>
                <a:ea typeface="+mn-ea"/>
                <a:cs typeface="+mn-cs"/>
              </a:rPr>
              <a:t>. We don't change words. We just change the attention strength of a word.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For example, to make a toy rabbit look more "fluffy", we multiply the attention map of the token "fluffy" by a parameter c. This can make the visual effect stronger or weaker.</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In code, we use an equalizer vector to store the weight coefficient for each token, and directly multiply it with the default attention map.</a:t>
            </a: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Also, </a:t>
            </a:r>
            <a:r>
              <a:rPr lang="en-US" altLang="zh-CN" sz="1100" dirty="0" err="1">
                <a:solidFill>
                  <a:srgbClr val="001080"/>
                </a:solidFill>
                <a:latin typeface="Consolas" panose="020B0609020204030204" pitchFamily="49" charset="0"/>
              </a:rPr>
              <a:t>previous_controller</a:t>
            </a:r>
            <a:r>
              <a:rPr lang="en-US" altLang="zh-CN" sz="1100" b="0" i="0" dirty="0">
                <a:solidFill>
                  <a:srgbClr val="0F1115"/>
                </a:solidFill>
                <a:effectLst/>
                <a:latin typeface="Times New Roman" panose="02020603050405020304" pitchFamily="18" charset="0"/>
                <a:cs typeface="Times New Roman" panose="02020603050405020304" pitchFamily="18" charset="0"/>
              </a:rPr>
              <a:t> </a:t>
            </a:r>
            <a:r>
              <a:rPr lang="en-US" altLang="zh-CN" b="0" i="0" dirty="0">
                <a:solidFill>
                  <a:srgbClr val="0F1115"/>
                </a:solidFill>
                <a:effectLst/>
                <a:latin typeface="Times New Roman" panose="02020603050405020304" pitchFamily="18" charset="0"/>
                <a:cs typeface="Times New Roman" panose="02020603050405020304" pitchFamily="18" charset="0"/>
              </a:rPr>
              <a:t>allows to chain multiple controllers, like </a:t>
            </a:r>
            <a:r>
              <a:rPr lang="en-US" altLang="zh-CN" sz="1200" kern="1200" dirty="0">
                <a:solidFill>
                  <a:schemeClr val="tx1"/>
                </a:solidFill>
                <a:effectLst/>
                <a:latin typeface="+mn-lt"/>
                <a:ea typeface="+mn-ea"/>
                <a:cs typeface="+mn-cs"/>
              </a:rPr>
              <a:t>first do a replacement, then do reweighting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to achieve more complex editing combinations.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The result is that the structure is unchanged, but one </a:t>
            </a:r>
            <a:r>
              <a:rPr lang="en-US" altLang="zh-CN" dirty="0">
                <a:solidFill>
                  <a:srgbClr val="0F1115"/>
                </a:solidFill>
                <a:latin typeface="Times New Roman" panose="02020603050405020304" pitchFamily="18" charset="0"/>
                <a:cs typeface="Times New Roman" panose="02020603050405020304" pitchFamily="18" charset="0"/>
              </a:rPr>
              <a:t>certain </a:t>
            </a:r>
            <a:r>
              <a:rPr lang="en-US" altLang="zh-CN" sz="1200" kern="1200" dirty="0">
                <a:solidFill>
                  <a:schemeClr val="tx1"/>
                </a:solidFill>
                <a:effectLst/>
                <a:latin typeface="+mn-lt"/>
                <a:ea typeface="+mn-ea"/>
                <a:cs typeface="+mn-cs"/>
              </a:rPr>
              <a:t>feature is much stronger or weaker. This is perfect for fine-tuning image style or feature strength.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457200" indent="-457200">
              <a:lnSpc>
                <a:spcPct val="150000"/>
              </a:lnSpc>
              <a:buFont typeface="Arial" panose="020B0604020202020204" pitchFamily="34" charset="0"/>
              <a:buChar char="•"/>
            </a:pPr>
            <a:r>
              <a:rPr lang="en-US" altLang="zh-CN" sz="1200" dirty="0"/>
              <a:t>However, without an image inversion technique, this approach is limited to SYNTHESIZED images only. </a:t>
            </a:r>
          </a:p>
          <a:p>
            <a:pPr marL="457200" indent="-457200">
              <a:lnSpc>
                <a:spcPct val="150000"/>
              </a:lnSpc>
              <a:buFont typeface="Arial" panose="020B0604020202020204" pitchFamily="34" charset="0"/>
              <a:buChar char="•"/>
            </a:pPr>
            <a:r>
              <a:rPr lang="en-US" altLang="zh-CN" sz="1200" dirty="0"/>
              <a:t>For real-world photographs, its editing effect is not outstanding.</a:t>
            </a:r>
          </a:p>
          <a:p>
            <a:pPr marL="457200" indent="-457200">
              <a:lnSpc>
                <a:spcPct val="150000"/>
              </a:lnSpc>
              <a:buFont typeface="Arial" panose="020B0604020202020204" pitchFamily="34" charset="0"/>
              <a:buChar char="•"/>
            </a:pPr>
            <a:r>
              <a:rPr lang="en-US" altLang="zh-CN" sz="1200" dirty="0"/>
              <a:t>SO the Null-text Inversion is introduced. </a:t>
            </a:r>
            <a:endParaRPr lang="zh-CN" alt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Thank you!</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F1115"/>
              </a:solidFill>
              <a:effectLst/>
              <a:latin typeface="Times New Roman" panose="02020603050405020304" pitchFamily="18" charset="0"/>
              <a:cs typeface="Times New Roman" panose="02020603050405020304" pitchFamily="18" charset="0"/>
            </a:endParaRPr>
          </a:p>
          <a:p>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04EA25D-26F8-9277-493E-F32992A0FA8F}"/>
              </a:ext>
            </a:extLst>
          </p:cNvPr>
          <p:cNvSpPr>
            <a:spLocks noGrp="1"/>
          </p:cNvSpPr>
          <p:nvPr>
            <p:ph type="sldNum" sz="quarter" idx="5"/>
          </p:nvPr>
        </p:nvSpPr>
        <p:spPr/>
        <p:txBody>
          <a:bodyPr/>
          <a:lstStyle/>
          <a:p>
            <a:fld id="{6CDAB7AF-E6B1-4D8E-B52C-70AC5C0FBC19}" type="slidenum">
              <a:rPr lang="zh-CN" altLang="en-US" smtClean="0"/>
              <a:t>19</a:t>
            </a:fld>
            <a:endParaRPr lang="zh-CN" altLang="en-US"/>
          </a:p>
        </p:txBody>
      </p:sp>
    </p:spTree>
    <p:extLst>
      <p:ext uri="{BB962C8B-B14F-4D97-AF65-F5344CB8AC3E}">
        <p14:creationId xmlns:p14="http://schemas.microsoft.com/office/powerpoint/2010/main" val="41068306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FB668-FF9E-309B-8BFA-91746AE4DD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D5202B-921C-E7EF-57FD-7E21AC3E45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1FCAC9-F6E7-1DD6-DD2C-A191F8999064}"/>
              </a:ext>
            </a:extLst>
          </p:cNvPr>
          <p:cNvSpPr>
            <a:spLocks noGrp="1"/>
          </p:cNvSpPr>
          <p:nvPr>
            <p:ph type="body" idx="1"/>
          </p:nvPr>
        </p:nvSpPr>
        <p:spPr/>
        <p:txBody>
          <a:bodyPr/>
          <a:lstStyle/>
          <a:p>
            <a:r>
              <a:rPr lang="zh-CN" altLang="zh-CN" sz="1400" kern="1200" dirty="0">
                <a:solidFill>
                  <a:schemeClr val="tx1"/>
                </a:solidFill>
                <a:effectLst/>
                <a:latin typeface="+mn-lt"/>
                <a:ea typeface="+mn-ea"/>
                <a:cs typeface="+mn-cs"/>
              </a:rPr>
              <a:t>In this project, we directly</a:t>
            </a:r>
            <a:r>
              <a:rPr lang="en-US" altLang="zh-CN" sz="1400" kern="1200" dirty="0">
                <a:solidFill>
                  <a:schemeClr val="tx1"/>
                </a:solidFill>
                <a:effectLst/>
                <a:latin typeface="+mn-lt"/>
                <a:ea typeface="+mn-ea"/>
                <a:cs typeface="+mn-cs"/>
              </a:rPr>
              <a:t> use </a:t>
            </a:r>
            <a:r>
              <a:rPr lang="zh-CN" altLang="zh-CN" sz="1400" kern="1200" dirty="0">
                <a:solidFill>
                  <a:schemeClr val="tx1"/>
                </a:solidFill>
                <a:effectLst/>
                <a:latin typeface="+mn-lt"/>
                <a:ea typeface="+mn-ea"/>
                <a:cs typeface="+mn-cs"/>
              </a:rPr>
              <a:t>the S</a:t>
            </a:r>
            <a:r>
              <a:rPr lang="en-US" altLang="zh-CN" sz="1400" kern="1200" dirty="0">
                <a:solidFill>
                  <a:schemeClr val="tx1"/>
                </a:solidFill>
                <a:effectLst/>
                <a:latin typeface="+mn-lt"/>
                <a:ea typeface="+mn-ea"/>
                <a:cs typeface="+mn-cs"/>
              </a:rPr>
              <a:t>table</a:t>
            </a:r>
            <a:r>
              <a:rPr lang="zh-CN" altLang="zh-CN" sz="1400" kern="1200" dirty="0">
                <a:solidFill>
                  <a:schemeClr val="tx1"/>
                </a:solidFill>
                <a:effectLst/>
                <a:latin typeface="+mn-lt"/>
                <a:ea typeface="+mn-ea"/>
                <a:cs typeface="+mn-cs"/>
              </a:rPr>
              <a:t>D</a:t>
            </a:r>
            <a:r>
              <a:rPr lang="en-US" altLang="zh-CN" sz="1400" kern="1200" dirty="0" err="1">
                <a:solidFill>
                  <a:schemeClr val="tx1"/>
                </a:solidFill>
                <a:effectLst/>
                <a:latin typeface="+mn-lt"/>
                <a:ea typeface="+mn-ea"/>
                <a:cs typeface="+mn-cs"/>
              </a:rPr>
              <a:t>iffusion</a:t>
            </a:r>
            <a:r>
              <a:rPr lang="zh-CN" altLang="zh-CN" sz="1400" kern="1200" dirty="0">
                <a:solidFill>
                  <a:schemeClr val="tx1"/>
                </a:solidFill>
                <a:effectLst/>
                <a:latin typeface="+mn-lt"/>
                <a:ea typeface="+mn-ea"/>
                <a:cs typeface="+mn-cs"/>
              </a:rPr>
              <a:t> </a:t>
            </a:r>
            <a:r>
              <a:rPr lang="en-US" altLang="zh-CN" sz="1400" kern="1200" dirty="0">
                <a:solidFill>
                  <a:schemeClr val="tx1"/>
                </a:solidFill>
                <a:effectLst/>
                <a:latin typeface="+mn-lt"/>
                <a:ea typeface="+mn-ea"/>
                <a:cs typeface="+mn-cs"/>
              </a:rPr>
              <a:t>M</a:t>
            </a:r>
            <a:r>
              <a:rPr lang="zh-CN" altLang="zh-CN" sz="1400" kern="1200" dirty="0">
                <a:solidFill>
                  <a:schemeClr val="tx1"/>
                </a:solidFill>
                <a:effectLst/>
                <a:latin typeface="+mn-lt"/>
                <a:ea typeface="+mn-ea"/>
                <a:cs typeface="+mn-cs"/>
              </a:rPr>
              <a:t>odel without retraining or modifying the weights, achieving results </a:t>
            </a:r>
            <a:r>
              <a:rPr lang="en-US" altLang="zh-CN" sz="1400" kern="1200" dirty="0">
                <a:solidFill>
                  <a:schemeClr val="tx1"/>
                </a:solidFill>
                <a:effectLst/>
                <a:latin typeface="+mn-lt"/>
                <a:ea typeface="+mn-ea"/>
                <a:cs typeface="+mn-cs"/>
              </a:rPr>
              <a:t>only</a:t>
            </a:r>
            <a:r>
              <a:rPr lang="zh-CN" altLang="zh-CN" sz="1400" kern="1200" dirty="0">
                <a:solidFill>
                  <a:schemeClr val="tx1"/>
                </a:solidFill>
                <a:effectLst/>
                <a:latin typeface="+mn-lt"/>
                <a:ea typeface="+mn-ea"/>
                <a:cs typeface="+mn-cs"/>
              </a:rPr>
              <a:t> through interception and replacement. </a:t>
            </a:r>
          </a:p>
          <a:p>
            <a:r>
              <a:rPr lang="zh-CN" altLang="zh-CN" sz="1400" kern="1200" dirty="0">
                <a:solidFill>
                  <a:schemeClr val="tx1"/>
                </a:solidFill>
                <a:effectLst/>
                <a:latin typeface="+mn-lt"/>
                <a:ea typeface="+mn-ea"/>
                <a:cs typeface="+mn-cs"/>
              </a:rPr>
              <a:t>Previously, my two teammates have explained the N</a:t>
            </a:r>
            <a:r>
              <a:rPr lang="en-US" altLang="zh-CN" sz="1400" kern="1200" dirty="0" err="1">
                <a:solidFill>
                  <a:schemeClr val="tx1"/>
                </a:solidFill>
                <a:effectLst/>
                <a:latin typeface="+mn-lt"/>
                <a:ea typeface="+mn-ea"/>
                <a:cs typeface="+mn-cs"/>
              </a:rPr>
              <a:t>ull</a:t>
            </a:r>
            <a:r>
              <a:rPr lang="en-US" altLang="zh-CN" sz="1400" kern="1200" dirty="0">
                <a:solidFill>
                  <a:schemeClr val="tx1"/>
                </a:solidFill>
                <a:effectLst/>
                <a:latin typeface="+mn-lt"/>
                <a:ea typeface="+mn-ea"/>
                <a:cs typeface="+mn-cs"/>
              </a:rPr>
              <a:t>-</a:t>
            </a:r>
            <a:r>
              <a:rPr lang="zh-CN" altLang="zh-CN" sz="1400" kern="1200" dirty="0">
                <a:solidFill>
                  <a:schemeClr val="tx1"/>
                </a:solidFill>
                <a:effectLst/>
                <a:latin typeface="+mn-lt"/>
                <a:ea typeface="+mn-ea"/>
                <a:cs typeface="+mn-cs"/>
              </a:rPr>
              <a:t>T</a:t>
            </a:r>
            <a:r>
              <a:rPr lang="en-US" altLang="zh-CN" sz="1400" kern="1200" dirty="0" err="1">
                <a:solidFill>
                  <a:schemeClr val="tx1"/>
                </a:solidFill>
                <a:effectLst/>
                <a:latin typeface="+mn-lt"/>
                <a:ea typeface="+mn-ea"/>
                <a:cs typeface="+mn-cs"/>
              </a:rPr>
              <a:t>ext</a:t>
            </a:r>
            <a:r>
              <a:rPr lang="en-US" altLang="zh-CN" sz="1400" kern="1200" dirty="0">
                <a:solidFill>
                  <a:schemeClr val="tx1"/>
                </a:solidFill>
                <a:effectLst/>
                <a:latin typeface="+mn-lt"/>
                <a:ea typeface="+mn-ea"/>
                <a:cs typeface="+mn-cs"/>
              </a:rPr>
              <a:t> </a:t>
            </a:r>
            <a:r>
              <a:rPr lang="zh-CN" altLang="zh-CN" sz="1400" kern="1200" dirty="0">
                <a:solidFill>
                  <a:schemeClr val="tx1"/>
                </a:solidFill>
                <a:effectLst/>
                <a:latin typeface="+mn-lt"/>
                <a:ea typeface="+mn-ea"/>
                <a:cs typeface="+mn-cs"/>
              </a:rPr>
              <a:t>I</a:t>
            </a:r>
            <a:r>
              <a:rPr lang="en-US" altLang="zh-CN" sz="1400" kern="1200" dirty="0" err="1">
                <a:solidFill>
                  <a:schemeClr val="tx1"/>
                </a:solidFill>
                <a:effectLst/>
                <a:latin typeface="+mn-lt"/>
                <a:ea typeface="+mn-ea"/>
                <a:cs typeface="+mn-cs"/>
              </a:rPr>
              <a:t>nversion</a:t>
            </a:r>
            <a:r>
              <a:rPr lang="zh-CN" altLang="zh-CN" sz="1400" kern="1200" dirty="0">
                <a:solidFill>
                  <a:schemeClr val="tx1"/>
                </a:solidFill>
                <a:effectLst/>
                <a:latin typeface="+mn-lt"/>
                <a:ea typeface="+mn-ea"/>
                <a:cs typeface="+mn-cs"/>
              </a:rPr>
              <a:t> concept, which ensures the original image can be replicated during generation, as well as the P</a:t>
            </a:r>
            <a:r>
              <a:rPr lang="en-US" altLang="zh-CN" sz="1400" kern="1200" dirty="0" err="1">
                <a:solidFill>
                  <a:schemeClr val="tx1"/>
                </a:solidFill>
                <a:effectLst/>
                <a:latin typeface="+mn-lt"/>
                <a:ea typeface="+mn-ea"/>
                <a:cs typeface="+mn-cs"/>
              </a:rPr>
              <a:t>rompt</a:t>
            </a:r>
            <a:r>
              <a:rPr lang="en-US" altLang="zh-CN" sz="1400" kern="1200" dirty="0">
                <a:solidFill>
                  <a:schemeClr val="tx1"/>
                </a:solidFill>
                <a:effectLst/>
                <a:latin typeface="+mn-lt"/>
                <a:ea typeface="+mn-ea"/>
                <a:cs typeface="+mn-cs"/>
              </a:rPr>
              <a:t>-to-</a:t>
            </a:r>
            <a:r>
              <a:rPr lang="zh-CN" altLang="zh-CN" sz="1400" kern="1200" dirty="0">
                <a:solidFill>
                  <a:schemeClr val="tx1"/>
                </a:solidFill>
                <a:effectLst/>
                <a:latin typeface="+mn-lt"/>
                <a:ea typeface="+mn-ea"/>
                <a:cs typeface="+mn-cs"/>
              </a:rPr>
              <a:t>P</a:t>
            </a:r>
            <a:r>
              <a:rPr lang="en-US" altLang="zh-CN" sz="1400" kern="1200" dirty="0" err="1">
                <a:solidFill>
                  <a:schemeClr val="tx1"/>
                </a:solidFill>
                <a:effectLst/>
                <a:latin typeface="+mn-lt"/>
                <a:ea typeface="+mn-ea"/>
                <a:cs typeface="+mn-cs"/>
              </a:rPr>
              <a:t>rompt</a:t>
            </a:r>
            <a:r>
              <a:rPr lang="zh-CN" altLang="zh-CN" sz="1400" kern="1200" dirty="0">
                <a:solidFill>
                  <a:schemeClr val="tx1"/>
                </a:solidFill>
                <a:effectLst/>
                <a:latin typeface="+mn-lt"/>
                <a:ea typeface="+mn-ea"/>
                <a:cs typeface="+mn-cs"/>
              </a:rPr>
              <a:t> concept, which intercepts the original attention data of the model and replaces it with the desired attention data to achieve "</a:t>
            </a:r>
            <a:r>
              <a:rPr lang="en-US" altLang="zh-CN" sz="1400" kern="1200" dirty="0">
                <a:solidFill>
                  <a:schemeClr val="tx1"/>
                </a:solidFill>
                <a:effectLst/>
                <a:latin typeface="+mn-lt"/>
                <a:ea typeface="+mn-ea"/>
                <a:cs typeface="+mn-cs"/>
              </a:rPr>
              <a:t>M</a:t>
            </a:r>
            <a:r>
              <a:rPr lang="zh-CN" altLang="zh-CN" sz="1400" kern="1200" dirty="0">
                <a:solidFill>
                  <a:schemeClr val="tx1"/>
                </a:solidFill>
                <a:effectLst/>
                <a:latin typeface="+mn-lt"/>
                <a:ea typeface="+mn-ea"/>
                <a:cs typeface="+mn-cs"/>
              </a:rPr>
              <a:t>odifying only the style, not the structure.“</a:t>
            </a:r>
            <a:endParaRPr lang="en-US" altLang="zh-CN" sz="14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Next, I will describe how local editing and style intensity control are implemented throughout the entire process.</a:t>
            </a:r>
            <a:endParaRPr lang="zh-CN" altLang="zh-CN" sz="14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38534ACE-6C38-05C8-6B2E-4B0C46D34640}"/>
              </a:ext>
            </a:extLst>
          </p:cNvPr>
          <p:cNvSpPr>
            <a:spLocks noGrp="1"/>
          </p:cNvSpPr>
          <p:nvPr>
            <p:ph type="sldNum" sz="quarter" idx="5"/>
          </p:nvPr>
        </p:nvSpPr>
        <p:spPr/>
        <p:txBody>
          <a:bodyPr/>
          <a:lstStyle/>
          <a:p>
            <a:fld id="{116C8412-B7E8-49BB-A67D-CECED1E7A617}" type="slidenum">
              <a:rPr lang="zh-CN" altLang="en-US" smtClean="0"/>
              <a:t>20</a:t>
            </a:fld>
            <a:endParaRPr lang="zh-CN" altLang="en-US"/>
          </a:p>
        </p:txBody>
      </p:sp>
    </p:spTree>
    <p:extLst>
      <p:ext uri="{BB962C8B-B14F-4D97-AF65-F5344CB8AC3E}">
        <p14:creationId xmlns:p14="http://schemas.microsoft.com/office/powerpoint/2010/main" val="15211642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Before this, the attention storage mechanism is very important, specifically the most important class AttentionStore, which is the prerequisite for all subsequent attention editing controllers. Components that play a role in the project </a:t>
            </a:r>
            <a:r>
              <a:rPr lang="en-US" altLang="zh-CN" sz="1200" kern="1200" dirty="0">
                <a:solidFill>
                  <a:schemeClr val="tx1"/>
                </a:solidFill>
                <a:effectLst/>
                <a:latin typeface="+mn-lt"/>
                <a:ea typeface="+mn-ea"/>
                <a:cs typeface="+mn-cs"/>
              </a:rPr>
              <a:t>later</a:t>
            </a:r>
            <a:r>
              <a:rPr lang="zh-CN" altLang="zh-CN" sz="1200" kern="1200" dirty="0">
                <a:solidFill>
                  <a:schemeClr val="tx1"/>
                </a:solidFill>
                <a:effectLst/>
                <a:latin typeface="+mn-lt"/>
                <a:ea typeface="+mn-ea"/>
                <a:cs typeface="+mn-cs"/>
              </a:rPr>
              <a:t>(such as LocalBlend for local protection ) must call the original attention heatmaps recorded in AttentionStore.</a:t>
            </a:r>
          </a:p>
          <a:p>
            <a:r>
              <a:rPr lang="zh-CN" altLang="zh-CN" sz="1200" kern="1200" dirty="0">
                <a:solidFill>
                  <a:schemeClr val="tx1"/>
                </a:solidFill>
                <a:effectLst/>
                <a:latin typeface="+mn-lt"/>
                <a:ea typeface="+mn-ea"/>
                <a:cs typeface="+mn-cs"/>
              </a:rPr>
              <a:t>The following are the most important functions in this section</a:t>
            </a:r>
            <a:r>
              <a:rPr lang="en-US" altLang="zh-CN"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get_empty_store and the initialization function prepare for storing the original data. In the U-Net of Stable Diffusion, image processing is divided into three stages: downsampling (down), the middle layer (mid), and upsampling (up). Meanwhile, the attention mechanism is divided into cross-attention (cross), which determines the relationship between image and text, and self-attention (self), which determines the physical structure. Therefore, there are six categories here.</a:t>
            </a: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116C8412-B7E8-49BB-A67D-CECED1E7A617}" type="slidenum">
              <a:rPr lang="zh-CN" altLang="en-US" smtClean="0"/>
              <a:t>21</a:t>
            </a:fld>
            <a:endParaRPr lang="zh-CN" altLang="en-US"/>
          </a:p>
        </p:txBody>
      </p:sp>
    </p:spTree>
    <p:extLst>
      <p:ext uri="{BB962C8B-B14F-4D97-AF65-F5344CB8AC3E}">
        <p14:creationId xmlns:p14="http://schemas.microsoft.com/office/powerpoint/2010/main" val="41665553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53003-A9F1-A8EB-37DD-B7A9E7B2CF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20E1B1-1200-A58A-BAC5-9A00CB1A8C0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44AE65-6A89-2698-EA9E-1AB8C4545A88}"/>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We know that the generation of a diffusion model is not achieved in a single step, but typically requires 50 denoising steps. between_steps demonstrates how the data continues to be stored during the 50-step diffusion process. Then, through get_average_attention, the accumulated data is divided by the total number of steps to obtain an average attention heatmap.</a:t>
            </a:r>
          </a:p>
          <a:p>
            <a:endParaRPr lang="zh-CN" altLang="en-US" dirty="0"/>
          </a:p>
        </p:txBody>
      </p:sp>
      <p:sp>
        <p:nvSpPr>
          <p:cNvPr id="4" name="灯片编号占位符 3">
            <a:extLst>
              <a:ext uri="{FF2B5EF4-FFF2-40B4-BE49-F238E27FC236}">
                <a16:creationId xmlns:a16="http://schemas.microsoft.com/office/drawing/2014/main" id="{33357EB5-B6FD-014A-2664-E4EE0572BCCC}"/>
              </a:ext>
            </a:extLst>
          </p:cNvPr>
          <p:cNvSpPr>
            <a:spLocks noGrp="1"/>
          </p:cNvSpPr>
          <p:nvPr>
            <p:ph type="sldNum" sz="quarter" idx="5"/>
          </p:nvPr>
        </p:nvSpPr>
        <p:spPr/>
        <p:txBody>
          <a:bodyPr/>
          <a:lstStyle/>
          <a:p>
            <a:fld id="{116C8412-B7E8-49BB-A67D-CECED1E7A617}" type="slidenum">
              <a:rPr lang="zh-CN" altLang="en-US" smtClean="0"/>
              <a:t>22</a:t>
            </a:fld>
            <a:endParaRPr lang="zh-CN" altLang="en-US"/>
          </a:p>
        </p:txBody>
      </p:sp>
    </p:spTree>
    <p:extLst>
      <p:ext uri="{BB962C8B-B14F-4D97-AF65-F5344CB8AC3E}">
        <p14:creationId xmlns:p14="http://schemas.microsoft.com/office/powerpoint/2010/main" val="35224310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The most important class is LocalBlend. Its function is to utilize the cross-attention priors spontaneously generated within the diffusion model to achieve local image editing, where only the semantic parts specified by the user are modified while the remaining regions remain unchanged.</a:t>
            </a:r>
          </a:p>
        </p:txBody>
      </p:sp>
      <p:sp>
        <p:nvSpPr>
          <p:cNvPr id="4" name="灯片编号占位符 3"/>
          <p:cNvSpPr>
            <a:spLocks noGrp="1"/>
          </p:cNvSpPr>
          <p:nvPr>
            <p:ph type="sldNum" sz="quarter" idx="5"/>
          </p:nvPr>
        </p:nvSpPr>
        <p:spPr/>
        <p:txBody>
          <a:bodyPr/>
          <a:lstStyle/>
          <a:p>
            <a:fld id="{116C8412-B7E8-49BB-A67D-CECED1E7A617}" type="slidenum">
              <a:rPr lang="zh-CN" altLang="en-US" smtClean="0"/>
              <a:t>23</a:t>
            </a:fld>
            <a:endParaRPr lang="zh-CN" altLang="en-US"/>
          </a:p>
        </p:txBody>
      </p:sp>
    </p:spTree>
    <p:extLst>
      <p:ext uri="{BB962C8B-B14F-4D97-AF65-F5344CB8AC3E}">
        <p14:creationId xmlns:p14="http://schemas.microsoft.com/office/powerpoint/2010/main" val="2111068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2BA4B-9097-5497-5900-739624EE08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C814EC-F49C-E5B5-2F6D-36DB204D2C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9333FB-009F-DC24-AF5D-5EC6031A8DD6}"/>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First, it is necessary to know the position of the word to be modified and at which step to start intervening in the model. The initialization function performs these tasks:</a:t>
            </a:r>
          </a:p>
          <a:p>
            <a:pPr rtl="0" fontAlgn="ctr"/>
            <a:r>
              <a:rPr lang="zh-CN" altLang="zh-CN" sz="1200" b="1" i="0" kern="1200" dirty="0">
                <a:solidFill>
                  <a:schemeClr val="tx1"/>
                </a:solidFill>
                <a:effectLst/>
                <a:latin typeface="+mn-lt"/>
                <a:ea typeface="+mn-ea"/>
                <a:cs typeface="+mn-cs"/>
              </a:rPr>
              <a:t>ind = ptp_utils.get_word_inds(prompt, word, tokenizer)</a:t>
            </a:r>
            <a:r>
              <a:rPr lang="zh-CN" altLang="zh-CN" sz="1200" b="0" i="0" kern="1200" dirty="0">
                <a:solidFill>
                  <a:schemeClr val="tx1"/>
                </a:solidFill>
                <a:effectLst/>
                <a:latin typeface="+mn-lt"/>
                <a:ea typeface="+mn-ea"/>
                <a:cs typeface="+mn-cs"/>
              </a:rPr>
              <a:t>: The entire sentence, the target word, and the tokenizer are passed in. It returns the index position (ind) of the target word in the sentence.</a:t>
            </a:r>
            <a:br>
              <a:rPr lang="zh-CN" altLang="zh-CN" sz="1200" b="0" i="0" kern="1200" dirty="0">
                <a:solidFill>
                  <a:schemeClr val="tx1"/>
                </a:solidFill>
                <a:effectLst/>
                <a:latin typeface="+mn-lt"/>
                <a:ea typeface="+mn-ea"/>
                <a:cs typeface="+mn-cs"/>
              </a:rPr>
            </a:br>
            <a:r>
              <a:rPr lang="zh-CN" altLang="zh-CN" sz="1200" b="1" i="0" kern="1200" dirty="0">
                <a:solidFill>
                  <a:schemeClr val="tx1"/>
                </a:solidFill>
                <a:effectLst/>
                <a:latin typeface="+mn-lt"/>
                <a:ea typeface="+mn-ea"/>
                <a:cs typeface="+mn-cs"/>
              </a:rPr>
              <a:t>Example</a:t>
            </a:r>
            <a:r>
              <a:rPr lang="zh-CN" altLang="zh-CN" sz="1200" b="0" i="0" kern="1200" dirty="0">
                <a:solidFill>
                  <a:schemeClr val="tx1"/>
                </a:solidFill>
                <a:effectLst/>
                <a:latin typeface="+mn-lt"/>
                <a:ea typeface="+mn-ea"/>
                <a:cs typeface="+mn-cs"/>
              </a:rPr>
              <a:t>: If the target word to be edited is "woman" and the prompt is "A photo of a woman", after tokenization it becomes [&lt;start&gt;, A, photo, of, a, woman, &lt;end&gt;]. The program finds that "woman" is at the 5th position, so ind returns 5. This parameter is crucial for the subsequent process.</a:t>
            </a:r>
            <a:endParaRPr lang="zh-CN" altLang="zh-CN" sz="1200" b="1" i="0" kern="1200" dirty="0">
              <a:solidFill>
                <a:schemeClr val="tx1"/>
              </a:solidFill>
              <a:effectLst/>
              <a:latin typeface="+mn-lt"/>
              <a:ea typeface="+mn-ea"/>
              <a:cs typeface="+mn-cs"/>
            </a:endParaRPr>
          </a:p>
          <a:p>
            <a:pPr rtl="0" fontAlgn="ctr"/>
            <a:r>
              <a:rPr lang="zh-CN" altLang="zh-CN" sz="1200" b="1" i="0" kern="1200" dirty="0">
                <a:solidFill>
                  <a:schemeClr val="tx1"/>
                </a:solidFill>
                <a:effectLst/>
                <a:latin typeface="+mn-lt"/>
                <a:ea typeface="+mn-ea"/>
                <a:cs typeface="+mn-cs"/>
              </a:rPr>
              <a:t>alpha_layers[i, :, :, :, :, ind] = 1</a:t>
            </a:r>
            <a:r>
              <a:rPr lang="zh-CN" altLang="zh-CN" sz="1200" b="0" i="0" kern="1200" dirty="0">
                <a:solidFill>
                  <a:schemeClr val="tx1"/>
                </a:solidFill>
                <a:effectLst/>
                <a:latin typeface="+mn-lt"/>
                <a:ea typeface="+mn-ea"/>
                <a:cs typeface="+mn-cs"/>
              </a:rPr>
              <a:t>: This performs tensor slicing and assignment, setting the value at the position we want to edit to 1. This prepares for the get_mask function to generate a mask.</a:t>
            </a:r>
            <a:br>
              <a:rPr lang="zh-CN" altLang="zh-CN" sz="1200" b="0" i="0" kern="1200" dirty="0">
                <a:solidFill>
                  <a:schemeClr val="tx1"/>
                </a:solidFill>
                <a:effectLst/>
                <a:latin typeface="+mn-lt"/>
                <a:ea typeface="+mn-ea"/>
                <a:cs typeface="+mn-cs"/>
              </a:rPr>
            </a:br>
            <a:r>
              <a:rPr lang="zh-CN" altLang="zh-CN" sz="1200" b="1" i="0" kern="1200" dirty="0">
                <a:solidFill>
                  <a:schemeClr val="tx1"/>
                </a:solidFill>
                <a:effectLst/>
                <a:latin typeface="+mn-lt"/>
                <a:ea typeface="+mn-ea"/>
                <a:cs typeface="+mn-cs"/>
              </a:rPr>
              <a:t>Example</a:t>
            </a:r>
            <a:r>
              <a:rPr lang="zh-CN" altLang="zh-CN" sz="1200" b="0" i="0" kern="1200" dirty="0">
                <a:solidFill>
                  <a:schemeClr val="tx1"/>
                </a:solidFill>
                <a:effectLst/>
                <a:latin typeface="+mn-lt"/>
                <a:ea typeface="+mn-ea"/>
                <a:cs typeface="+mn-cs"/>
              </a:rPr>
              <a:t>: "woman" is at the 5th position, so [0, 0, 0, 0, 0, 0, 0] is transformed into [0, 0, 0, 0, 0, 1, 0].</a:t>
            </a:r>
            <a:endParaRPr lang="zh-CN" altLang="zh-CN" sz="1200" b="1" i="0" kern="1200" dirty="0">
              <a:solidFill>
                <a:schemeClr val="tx1"/>
              </a:solidFill>
              <a:effectLst/>
              <a:latin typeface="+mn-lt"/>
              <a:ea typeface="+mn-ea"/>
              <a:cs typeface="+mn-cs"/>
            </a:endParaRPr>
          </a:p>
          <a:p>
            <a:endParaRPr lang="zh-CN" altLang="en-US" dirty="0"/>
          </a:p>
        </p:txBody>
      </p:sp>
      <p:sp>
        <p:nvSpPr>
          <p:cNvPr id="4" name="灯片编号占位符 3">
            <a:extLst>
              <a:ext uri="{FF2B5EF4-FFF2-40B4-BE49-F238E27FC236}">
                <a16:creationId xmlns:a16="http://schemas.microsoft.com/office/drawing/2014/main" id="{519A6369-D968-26A1-1C7D-F68EA18DCDB6}"/>
              </a:ext>
            </a:extLst>
          </p:cNvPr>
          <p:cNvSpPr>
            <a:spLocks noGrp="1"/>
          </p:cNvSpPr>
          <p:nvPr>
            <p:ph type="sldNum" sz="quarter" idx="5"/>
          </p:nvPr>
        </p:nvSpPr>
        <p:spPr/>
        <p:txBody>
          <a:bodyPr/>
          <a:lstStyle/>
          <a:p>
            <a:fld id="{116C8412-B7E8-49BB-A67D-CECED1E7A617}" type="slidenum">
              <a:rPr lang="zh-CN" altLang="en-US" smtClean="0"/>
              <a:t>24</a:t>
            </a:fld>
            <a:endParaRPr lang="zh-CN" altLang="en-US"/>
          </a:p>
        </p:txBody>
      </p:sp>
    </p:spTree>
    <p:extLst>
      <p:ext uri="{BB962C8B-B14F-4D97-AF65-F5344CB8AC3E}">
        <p14:creationId xmlns:p14="http://schemas.microsoft.com/office/powerpoint/2010/main" val="6023377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B2816-B54B-AB10-1EBE-9A1E19B4B5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F3A7D1-18A8-3EE4-E278-EAAFB535ED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961EDB5-34CC-1345-16C2-C2E16ACC2651}"/>
              </a:ext>
            </a:extLst>
          </p:cNvPr>
          <p:cNvSpPr>
            <a:spLocks noGrp="1"/>
          </p:cNvSpPr>
          <p:nvPr>
            <p:ph type="body" idx="1"/>
          </p:nvPr>
        </p:nvSpPr>
        <p:spPr/>
        <p:txBody>
          <a:bodyPr/>
          <a:lstStyle/>
          <a:p>
            <a:pPr rtl="0" fontAlgn="ctr"/>
            <a:r>
              <a:rPr lang="zh-CN" altLang="zh-CN" sz="1200" b="1" i="0" kern="1200" dirty="0">
                <a:solidFill>
                  <a:schemeClr val="tx1"/>
                </a:solidFill>
                <a:effectLst/>
                <a:latin typeface="+mn-lt"/>
                <a:ea typeface="+mn-ea"/>
                <a:cs typeface="+mn-cs"/>
              </a:rPr>
              <a:t>self.start_blend = int(start_blend * NUM_DDIM_STEPS)</a:t>
            </a:r>
            <a:r>
              <a:rPr lang="zh-CN" altLang="zh-CN" sz="1200" b="0" i="0" kern="1200" dirty="0">
                <a:solidFill>
                  <a:schemeClr val="tx1"/>
                </a:solidFill>
                <a:effectLst/>
                <a:latin typeface="+mn-lt"/>
                <a:ea typeface="+mn-ea"/>
                <a:cs typeface="+mn-cs"/>
              </a:rPr>
              <a:t>: This calculates the specific step at which to start the intervention.</a:t>
            </a:r>
            <a:br>
              <a:rPr lang="zh-CN" altLang="zh-CN" sz="1200" b="0" i="0" kern="1200" dirty="0">
                <a:solidFill>
                  <a:schemeClr val="tx1"/>
                </a:solidFill>
                <a:effectLst/>
                <a:latin typeface="+mn-lt"/>
                <a:ea typeface="+mn-ea"/>
                <a:cs typeface="+mn-cs"/>
              </a:rPr>
            </a:br>
            <a:r>
              <a:rPr lang="zh-CN" altLang="zh-CN" sz="1200" b="1" i="0" kern="1200" dirty="0">
                <a:solidFill>
                  <a:schemeClr val="tx1"/>
                </a:solidFill>
                <a:effectLst/>
                <a:latin typeface="+mn-lt"/>
                <a:ea typeface="+mn-ea"/>
                <a:cs typeface="+mn-cs"/>
              </a:rPr>
              <a:t>Example</a:t>
            </a:r>
            <a:r>
              <a:rPr lang="zh-CN" altLang="zh-CN" sz="1200" b="0" i="0" kern="1200" dirty="0">
                <a:solidFill>
                  <a:schemeClr val="tx1"/>
                </a:solidFill>
                <a:effectLst/>
                <a:latin typeface="+mn-lt"/>
                <a:ea typeface="+mn-ea"/>
                <a:cs typeface="+mn-cs"/>
              </a:rPr>
              <a:t>: If the total steps NUM_DDIM_STEPS is 50 and the specified start_blend is 0.2, then $50 \times 0.2 = 10$. This means the model generates the general outline freely for the first 10 steps, and background protection is enforced starting from the 11th step.</a:t>
            </a:r>
            <a:endParaRPr lang="zh-CN" altLang="zh-CN" sz="1200" b="1"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6C0749BD-892A-9E66-D2CE-91F7F1103EA2}"/>
              </a:ext>
            </a:extLst>
          </p:cNvPr>
          <p:cNvSpPr>
            <a:spLocks noGrp="1"/>
          </p:cNvSpPr>
          <p:nvPr>
            <p:ph type="sldNum" sz="quarter" idx="5"/>
          </p:nvPr>
        </p:nvSpPr>
        <p:spPr/>
        <p:txBody>
          <a:bodyPr/>
          <a:lstStyle/>
          <a:p>
            <a:fld id="{116C8412-B7E8-49BB-A67D-CECED1E7A617}" type="slidenum">
              <a:rPr lang="zh-CN" altLang="en-US" smtClean="0"/>
              <a:t>25</a:t>
            </a:fld>
            <a:endParaRPr lang="zh-CN" altLang="en-US"/>
          </a:p>
        </p:txBody>
      </p:sp>
    </p:spTree>
    <p:extLst>
      <p:ext uri="{BB962C8B-B14F-4D97-AF65-F5344CB8AC3E}">
        <p14:creationId xmlns:p14="http://schemas.microsoft.com/office/powerpoint/2010/main" val="1441618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3C6DC-E61F-AEDB-500E-A3D3B49AEB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420E9D-6E04-4F70-D119-DD12775D63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AF45A8-5B4D-F626-60E9-96AF36C7CFF0}"/>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Next is the get_mask function, which is the most critical part for achieving local editing. It receives high-dimensional "Cross-Attention Maps" from within the neural network and, through a series of mathematical calculations, converts them into a black-and-white 2D local protection mask. During each image denoising step, it precisely blocks the features that would disrupt the background (occluded by the black mask) and only allows the style features acting on the target area to pass through.</a:t>
            </a:r>
          </a:p>
        </p:txBody>
      </p:sp>
      <p:sp>
        <p:nvSpPr>
          <p:cNvPr id="4" name="灯片编号占位符 3">
            <a:extLst>
              <a:ext uri="{FF2B5EF4-FFF2-40B4-BE49-F238E27FC236}">
                <a16:creationId xmlns:a16="http://schemas.microsoft.com/office/drawing/2014/main" id="{F86FC18D-BBA1-8FD6-0A9F-0DFCA886CBDF}"/>
              </a:ext>
            </a:extLst>
          </p:cNvPr>
          <p:cNvSpPr>
            <a:spLocks noGrp="1"/>
          </p:cNvSpPr>
          <p:nvPr>
            <p:ph type="sldNum" sz="quarter" idx="5"/>
          </p:nvPr>
        </p:nvSpPr>
        <p:spPr/>
        <p:txBody>
          <a:bodyPr/>
          <a:lstStyle/>
          <a:p>
            <a:fld id="{116C8412-B7E8-49BB-A67D-CECED1E7A617}" type="slidenum">
              <a:rPr lang="zh-CN" altLang="en-US" smtClean="0"/>
              <a:t>26</a:t>
            </a:fld>
            <a:endParaRPr lang="zh-CN" altLang="en-US"/>
          </a:p>
        </p:txBody>
      </p:sp>
    </p:spTree>
    <p:extLst>
      <p:ext uri="{BB962C8B-B14F-4D97-AF65-F5344CB8AC3E}">
        <p14:creationId xmlns:p14="http://schemas.microsoft.com/office/powerpoint/2010/main" val="2155193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1F23B-67EC-BE2B-19D2-13028760BC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3CD471-314C-084E-C780-CA66B82C74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B894FC-3249-AB04-9561-6D95D26134CF}"/>
              </a:ext>
            </a:extLst>
          </p:cNvPr>
          <p:cNvSpPr>
            <a:spLocks noGrp="1"/>
          </p:cNvSpPr>
          <p:nvPr>
            <p:ph type="body" idx="1"/>
          </p:nvPr>
        </p:nvSpPr>
        <p:spPr/>
        <p:txBody>
          <a:bodyPr/>
          <a:lstStyle/>
          <a:p>
            <a:r>
              <a:rPr lang="zh-CN" altLang="zh-CN" sz="1200" b="1" kern="1200" dirty="0">
                <a:solidFill>
                  <a:schemeClr val="tx1"/>
                </a:solidFill>
                <a:effectLst/>
                <a:latin typeface="+mn-lt"/>
                <a:ea typeface="+mn-ea"/>
                <a:cs typeface="+mn-cs"/>
              </a:rPr>
              <a:t>1. maps = (maps * alpha).sum(-1).mean(1)</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We obtained alpha from the initialization function, and in this step, element-wise multiplication is performed. Except for the attention data of the word "woman," the attention of all other irrelevant words becomes 0. After this line of code executes, the originally complex tensor is transformed into a 2D base heatmap specifically for the target word.</a:t>
            </a:r>
          </a:p>
          <a:p>
            <a:r>
              <a:rPr lang="zh-CN" altLang="zh-CN" sz="1200" b="1"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The last four lines forcibly process the previously generated blurry, small, and numerically inconsistent heatmap into a standard mask with matching dimensions.</a:t>
            </a:r>
          </a:p>
          <a:p>
            <a:r>
              <a:rPr lang="zh-CN" altLang="zh-CN" sz="1200" kern="1200" dirty="0">
                <a:solidFill>
                  <a:schemeClr val="tx1"/>
                </a:solidFill>
                <a:effectLst/>
                <a:latin typeface="+mn-lt"/>
                <a:ea typeface="+mn-ea"/>
                <a:cs typeface="+mn-cs"/>
              </a:rPr>
              <a:t>Finally, the pre-prepared mask is executed. During the 50 denoising steps of image generation, the system automatically calls this function after each step. It performs a local replacement of the current latent variable x_t at the tensor level, achieving text-driven local image protection.</a:t>
            </a:r>
          </a:p>
        </p:txBody>
      </p:sp>
      <p:sp>
        <p:nvSpPr>
          <p:cNvPr id="4" name="灯片编号占位符 3">
            <a:extLst>
              <a:ext uri="{FF2B5EF4-FFF2-40B4-BE49-F238E27FC236}">
                <a16:creationId xmlns:a16="http://schemas.microsoft.com/office/drawing/2014/main" id="{665CCF88-4719-1FE2-E2EE-1E1AB1329BED}"/>
              </a:ext>
            </a:extLst>
          </p:cNvPr>
          <p:cNvSpPr>
            <a:spLocks noGrp="1"/>
          </p:cNvSpPr>
          <p:nvPr>
            <p:ph type="sldNum" sz="quarter" idx="5"/>
          </p:nvPr>
        </p:nvSpPr>
        <p:spPr/>
        <p:txBody>
          <a:bodyPr/>
          <a:lstStyle/>
          <a:p>
            <a:fld id="{116C8412-B7E8-49BB-A67D-CECED1E7A617}" type="slidenum">
              <a:rPr lang="zh-CN" altLang="en-US" smtClean="0"/>
              <a:t>27</a:t>
            </a:fld>
            <a:endParaRPr lang="zh-CN" altLang="en-US"/>
          </a:p>
        </p:txBody>
      </p:sp>
    </p:spTree>
    <p:extLst>
      <p:ext uri="{BB962C8B-B14F-4D97-AF65-F5344CB8AC3E}">
        <p14:creationId xmlns:p14="http://schemas.microsoft.com/office/powerpoint/2010/main" val="11291564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22838-1749-07CE-4F23-68B825AAE2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23C4A8-40DA-3FC6-AC9C-E8A8BF0DE2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6AB361-4C67-4CC5-CAF2-B420569107B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The __call__ function executes the previously prepared </a:t>
            </a:r>
            <a:r>
              <a:rPr lang="zh-CN" altLang="zh-CN" sz="1200" b="1" kern="1200" dirty="0">
                <a:solidFill>
                  <a:schemeClr val="tx1"/>
                </a:solidFill>
                <a:effectLst/>
                <a:latin typeface="+mn-lt"/>
                <a:ea typeface="+mn-ea"/>
                <a:cs typeface="+mn-cs"/>
              </a:rPr>
              <a:t>"target word switches"</a:t>
            </a:r>
            <a:r>
              <a:rPr lang="zh-CN" altLang="zh-CN" sz="1200" kern="1200" dirty="0">
                <a:solidFill>
                  <a:schemeClr val="tx1"/>
                </a:solidFill>
                <a:effectLst/>
                <a:latin typeface="+mn-lt"/>
                <a:ea typeface="+mn-ea"/>
                <a:cs typeface="+mn-cs"/>
              </a:rPr>
              <a:t> and </a:t>
            </a:r>
            <a:r>
              <a:rPr lang="zh-CN" altLang="zh-CN" sz="1200" b="1" kern="1200" dirty="0">
                <a:solidFill>
                  <a:schemeClr val="tx1"/>
                </a:solidFill>
                <a:effectLst/>
                <a:latin typeface="+mn-lt"/>
                <a:ea typeface="+mn-ea"/>
                <a:cs typeface="+mn-cs"/>
              </a:rPr>
              <a:t>"attention feature data."</a:t>
            </a:r>
            <a:r>
              <a:rPr lang="zh-CN" altLang="zh-CN" sz="1200" kern="1200" dirty="0">
                <a:solidFill>
                  <a:schemeClr val="tx1"/>
                </a:solidFill>
                <a:effectLst/>
                <a:latin typeface="+mn-lt"/>
                <a:ea typeface="+mn-ea"/>
                <a:cs typeface="+mn-cs"/>
              </a:rPr>
              <a:t> Through physical-level operations—masking and replacing at every step—it achieves text-driven local image protection at the tensor level.</a:t>
            </a:r>
            <a:endParaRPr lang="en-US" altLang="zh-CN" sz="1200" kern="1200" dirty="0">
              <a:solidFill>
                <a:schemeClr val="tx1"/>
              </a:solidFill>
              <a:effectLst/>
              <a:latin typeface="+mn-lt"/>
              <a:ea typeface="+mn-ea"/>
              <a:cs typeface="+mn-cs"/>
            </a:endParaRPr>
          </a:p>
          <a:p>
            <a:pPr rtl="0" fontAlgn="ctr"/>
            <a:r>
              <a:rPr lang="zh-CN" altLang="zh-CN" sz="1200" b="1" kern="1200" dirty="0">
                <a:solidFill>
                  <a:schemeClr val="tx1"/>
                </a:solidFill>
                <a:effectLst/>
                <a:latin typeface="+mn-lt"/>
                <a:ea typeface="+mn-ea"/>
                <a:cs typeface="+mn-cs"/>
              </a:rPr>
              <a:t>$x_t$</a:t>
            </a:r>
            <a:r>
              <a:rPr lang="zh-CN" altLang="zh-CN" sz="1200" kern="1200" dirty="0">
                <a:solidFill>
                  <a:schemeClr val="tx1"/>
                </a:solidFill>
                <a:effectLst/>
                <a:latin typeface="+mn-lt"/>
                <a:ea typeface="+mn-ea"/>
                <a:cs typeface="+mn-cs"/>
              </a:rPr>
              <a:t> is the latent variable of the image generated at the current step.</a:t>
            </a:r>
          </a:p>
          <a:p>
            <a:pPr rtl="0" fontAlgn="ctr"/>
            <a:r>
              <a:rPr lang="zh-CN" altLang="zh-CN" sz="1200" b="1" kern="1200" dirty="0">
                <a:solidFill>
                  <a:schemeClr val="tx1"/>
                </a:solidFill>
                <a:effectLst/>
                <a:latin typeface="+mn-lt"/>
                <a:ea typeface="+mn-ea"/>
                <a:cs typeface="+mn-cs"/>
              </a:rPr>
              <a:t>$x_t[:1]$</a:t>
            </a:r>
            <a:r>
              <a:rPr lang="zh-CN" altLang="zh-CN" sz="1200" kern="1200" dirty="0">
                <a:solidFill>
                  <a:schemeClr val="tx1"/>
                </a:solidFill>
                <a:effectLst/>
                <a:latin typeface="+mn-lt"/>
                <a:ea typeface="+mn-ea"/>
                <a:cs typeface="+mn-cs"/>
              </a:rPr>
              <a:t>: The latent variable of the source image.</a:t>
            </a:r>
          </a:p>
          <a:p>
            <a:pPr rtl="0" fontAlgn="ctr"/>
            <a:r>
              <a:rPr lang="zh-CN" altLang="zh-CN" sz="1200" b="1" kern="1200" dirty="0">
                <a:solidFill>
                  <a:schemeClr val="tx1"/>
                </a:solidFill>
                <a:effectLst/>
                <a:latin typeface="+mn-lt"/>
                <a:ea typeface="+mn-ea"/>
                <a:cs typeface="+mn-cs"/>
              </a:rPr>
              <a:t>mask</a:t>
            </a:r>
            <a:r>
              <a:rPr lang="zh-CN" altLang="zh-CN" sz="1200" kern="1200" dirty="0">
                <a:solidFill>
                  <a:schemeClr val="tx1"/>
                </a:solidFill>
                <a:effectLst/>
                <a:latin typeface="+mn-lt"/>
                <a:ea typeface="+mn-ea"/>
                <a:cs typeface="+mn-cs"/>
              </a:rPr>
              <a:t>: The mask generated previously. The white area (1) represents the target, and the black area (0) represents the background.</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0955CCA7-9E0D-8101-5DEB-42925C889ED8}"/>
              </a:ext>
            </a:extLst>
          </p:cNvPr>
          <p:cNvSpPr>
            <a:spLocks noGrp="1"/>
          </p:cNvSpPr>
          <p:nvPr>
            <p:ph type="sldNum" sz="quarter" idx="5"/>
          </p:nvPr>
        </p:nvSpPr>
        <p:spPr/>
        <p:txBody>
          <a:bodyPr/>
          <a:lstStyle/>
          <a:p>
            <a:fld id="{116C8412-B7E8-49BB-A67D-CECED1E7A617}" type="slidenum">
              <a:rPr lang="zh-CN" altLang="en-US" smtClean="0"/>
              <a:t>28</a:t>
            </a:fld>
            <a:endParaRPr lang="zh-CN" altLang="en-US"/>
          </a:p>
        </p:txBody>
      </p:sp>
    </p:spTree>
    <p:extLst>
      <p:ext uri="{BB962C8B-B14F-4D97-AF65-F5344CB8AC3E}">
        <p14:creationId xmlns:p14="http://schemas.microsoft.com/office/powerpoint/2010/main" val="41423612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DA096-24A3-0AC3-0D40-CC55564F9C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D3D98A-B88F-B3DB-647A-3E7BA20E7D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26F3E0-D454-FB41-B289-066F4BFDADBA}"/>
              </a:ext>
            </a:extLst>
          </p:cNvPr>
          <p:cNvSpPr>
            <a:spLocks noGrp="1"/>
          </p:cNvSpPr>
          <p:nvPr>
            <p:ph type="body" idx="1"/>
          </p:nvPr>
        </p:nvSpPr>
        <p:spPr/>
        <p:txBody>
          <a:bodyPr/>
          <a:lstStyle/>
          <a:p>
            <a:pPr rtl="0" fontAlgn="ctr"/>
            <a:r>
              <a:rPr lang="zh-CN" altLang="zh-CN" sz="1200" kern="1200" dirty="0">
                <a:solidFill>
                  <a:schemeClr val="tx1"/>
                </a:solidFill>
                <a:effectLst/>
                <a:latin typeface="+mn-lt"/>
                <a:ea typeface="+mn-ea"/>
                <a:cs typeface="+mn-cs"/>
              </a:rPr>
              <a:t>The black background portion is completely zeroed out and perfectly replaced by the actual pixels of the source image $x_t[:1]$; the white target portion is allowed to pass, retaining the newly generated style pixels.</a:t>
            </a:r>
          </a:p>
        </p:txBody>
      </p:sp>
      <p:sp>
        <p:nvSpPr>
          <p:cNvPr id="4" name="灯片编号占位符 3">
            <a:extLst>
              <a:ext uri="{FF2B5EF4-FFF2-40B4-BE49-F238E27FC236}">
                <a16:creationId xmlns:a16="http://schemas.microsoft.com/office/drawing/2014/main" id="{026225A3-A9EB-353F-E97D-85C0B7892B25}"/>
              </a:ext>
            </a:extLst>
          </p:cNvPr>
          <p:cNvSpPr>
            <a:spLocks noGrp="1"/>
          </p:cNvSpPr>
          <p:nvPr>
            <p:ph type="sldNum" sz="quarter" idx="5"/>
          </p:nvPr>
        </p:nvSpPr>
        <p:spPr/>
        <p:txBody>
          <a:bodyPr/>
          <a:lstStyle/>
          <a:p>
            <a:fld id="{116C8412-B7E8-49BB-A67D-CECED1E7A617}" type="slidenum">
              <a:rPr lang="zh-CN" altLang="en-US" smtClean="0"/>
              <a:t>29</a:t>
            </a:fld>
            <a:endParaRPr lang="zh-CN" altLang="en-US"/>
          </a:p>
        </p:txBody>
      </p:sp>
    </p:spTree>
    <p:extLst>
      <p:ext uri="{BB962C8B-B14F-4D97-AF65-F5344CB8AC3E}">
        <p14:creationId xmlns:p14="http://schemas.microsoft.com/office/powerpoint/2010/main" val="2519309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fontAlgn="ctr"/>
            <a:r>
              <a:rPr lang="zh-CN" altLang="zh-CN" sz="1200" kern="1200" dirty="0">
                <a:solidFill>
                  <a:schemeClr val="tx1"/>
                </a:solidFill>
                <a:effectLst/>
                <a:latin typeface="+mn-lt"/>
                <a:ea typeface="+mn-ea"/>
                <a:cs typeface="+mn-cs"/>
              </a:rPr>
              <a:t>The black background portion is completely zeroed out and perfectly replaced by the actual pixels of the source image $x_t[:1]$; the white target portion is allowed to pass, retaining the newly generated style pixels.</a:t>
            </a:r>
          </a:p>
        </p:txBody>
      </p:sp>
      <p:sp>
        <p:nvSpPr>
          <p:cNvPr id="4" name="灯片编号占位符 3"/>
          <p:cNvSpPr>
            <a:spLocks noGrp="1"/>
          </p:cNvSpPr>
          <p:nvPr>
            <p:ph type="sldNum" sz="quarter" idx="5"/>
          </p:nvPr>
        </p:nvSpPr>
        <p:spPr/>
        <p:txBody>
          <a:bodyPr/>
          <a:lstStyle/>
          <a:p>
            <a:fld id="{116C8412-B7E8-49BB-A67D-CECED1E7A617}" type="slidenum">
              <a:rPr lang="zh-CN" altLang="en-US" smtClean="0"/>
              <a:t>30</a:t>
            </a:fld>
            <a:endParaRPr lang="zh-CN" altLang="en-US"/>
          </a:p>
        </p:txBody>
      </p:sp>
    </p:spTree>
    <p:extLst>
      <p:ext uri="{BB962C8B-B14F-4D97-AF65-F5344CB8AC3E}">
        <p14:creationId xmlns:p14="http://schemas.microsoft.com/office/powerpoint/2010/main" val="2917661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8194BC-AAC4-5291-A4D7-3C3AB6A1848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D4DDE0B2-8FB6-85B5-A1DC-6689647003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DA707BF0-4E5E-F380-652E-FD36E5CCDF84}"/>
              </a:ext>
            </a:extLst>
          </p:cNvPr>
          <p:cNvSpPr>
            <a:spLocks noGrp="1"/>
          </p:cNvSpPr>
          <p:nvPr>
            <p:ph type="dt" sz="half" idx="10"/>
          </p:nvPr>
        </p:nvSpPr>
        <p:spPr/>
        <p:txBody>
          <a:bodyPr/>
          <a:lstStyle/>
          <a:p>
            <a:fld id="{B2D649E4-5E31-4E38-807F-035415778303}" type="datetime1">
              <a:rPr kumimoji="1" lang="zh-CN" altLang="en-US" smtClean="0"/>
              <a:t>2026/5/5</a:t>
            </a:fld>
            <a:endParaRPr kumimoji="1" lang="zh-CN" altLang="en-US"/>
          </a:p>
        </p:txBody>
      </p:sp>
      <p:sp>
        <p:nvSpPr>
          <p:cNvPr id="5" name="页脚占位符 4">
            <a:extLst>
              <a:ext uri="{FF2B5EF4-FFF2-40B4-BE49-F238E27FC236}">
                <a16:creationId xmlns:a16="http://schemas.microsoft.com/office/drawing/2014/main" id="{69171948-3812-932B-E2E9-B9BBFE5917F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8CECA00-70C8-F0EB-C5DB-42803D30FD52}"/>
              </a:ext>
            </a:extLst>
          </p:cNvPr>
          <p:cNvSpPr>
            <a:spLocks noGrp="1"/>
          </p:cNvSpPr>
          <p:nvPr>
            <p:ph type="sldNum" sz="quarter" idx="12"/>
          </p:nvPr>
        </p:nvSpPr>
        <p:spPr/>
        <p:txBody>
          <a:bodyPr/>
          <a:lstStyle/>
          <a:p>
            <a:fld id="{E6518835-16E6-9244-9C02-6BFB876E5D3C}" type="slidenum">
              <a:rPr kumimoji="1" lang="zh-CN" altLang="en-US" smtClean="0"/>
              <a:t>‹#›</a:t>
            </a:fld>
            <a:endParaRPr kumimoji="1" lang="zh-CN" altLang="en-US"/>
          </a:p>
        </p:txBody>
      </p:sp>
    </p:spTree>
    <p:extLst>
      <p:ext uri="{BB962C8B-B14F-4D97-AF65-F5344CB8AC3E}">
        <p14:creationId xmlns:p14="http://schemas.microsoft.com/office/powerpoint/2010/main" val="2155405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A73988-56C9-5B7A-27ED-A1045CCFD37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87F5D1A-7A33-7EAC-4650-FE2727AD4531}"/>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08E877C-4E4F-C659-45F3-99E5B0DA79CA}"/>
              </a:ext>
            </a:extLst>
          </p:cNvPr>
          <p:cNvSpPr>
            <a:spLocks noGrp="1"/>
          </p:cNvSpPr>
          <p:nvPr>
            <p:ph type="dt" sz="half" idx="10"/>
          </p:nvPr>
        </p:nvSpPr>
        <p:spPr/>
        <p:txBody>
          <a:bodyPr/>
          <a:lstStyle/>
          <a:p>
            <a:fld id="{F17152E6-82B8-4B94-91B4-000FD4F96297}" type="datetime1">
              <a:rPr kumimoji="1" lang="zh-CN" altLang="en-US" smtClean="0"/>
              <a:t>2026/5/5</a:t>
            </a:fld>
            <a:endParaRPr kumimoji="1" lang="zh-CN" altLang="en-US"/>
          </a:p>
        </p:txBody>
      </p:sp>
      <p:sp>
        <p:nvSpPr>
          <p:cNvPr id="5" name="页脚占位符 4">
            <a:extLst>
              <a:ext uri="{FF2B5EF4-FFF2-40B4-BE49-F238E27FC236}">
                <a16:creationId xmlns:a16="http://schemas.microsoft.com/office/drawing/2014/main" id="{A6905B11-A58F-733C-E45B-74A517D6A6F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449CBC0-DE77-C38C-20A5-67B4F3415436}"/>
              </a:ext>
            </a:extLst>
          </p:cNvPr>
          <p:cNvSpPr>
            <a:spLocks noGrp="1"/>
          </p:cNvSpPr>
          <p:nvPr>
            <p:ph type="sldNum" sz="quarter" idx="12"/>
          </p:nvPr>
        </p:nvSpPr>
        <p:spPr/>
        <p:txBody>
          <a:bodyPr/>
          <a:lstStyle/>
          <a:p>
            <a:fld id="{E6518835-16E6-9244-9C02-6BFB876E5D3C}" type="slidenum">
              <a:rPr kumimoji="1" lang="zh-CN" altLang="en-US" smtClean="0"/>
              <a:t>‹#›</a:t>
            </a:fld>
            <a:endParaRPr kumimoji="1" lang="zh-CN" altLang="en-US"/>
          </a:p>
        </p:txBody>
      </p:sp>
    </p:spTree>
    <p:extLst>
      <p:ext uri="{BB962C8B-B14F-4D97-AF65-F5344CB8AC3E}">
        <p14:creationId xmlns:p14="http://schemas.microsoft.com/office/powerpoint/2010/main" val="2059667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19DD33-8CEB-94DC-B4E4-004BD48C60EB}"/>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647DA093-3239-172D-38BD-AC80DF597B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C2E55F4B-F923-F3A7-52F8-F670C9251178}"/>
              </a:ext>
            </a:extLst>
          </p:cNvPr>
          <p:cNvSpPr>
            <a:spLocks noGrp="1"/>
          </p:cNvSpPr>
          <p:nvPr>
            <p:ph type="dt" sz="half" idx="10"/>
          </p:nvPr>
        </p:nvSpPr>
        <p:spPr/>
        <p:txBody>
          <a:bodyPr/>
          <a:lstStyle/>
          <a:p>
            <a:fld id="{EDDDB0B2-E98B-4CA9-A5D3-6BC48073F380}" type="datetime1">
              <a:rPr kumimoji="1" lang="zh-CN" altLang="en-US" smtClean="0"/>
              <a:t>2026/5/5</a:t>
            </a:fld>
            <a:endParaRPr kumimoji="1" lang="zh-CN" altLang="en-US"/>
          </a:p>
        </p:txBody>
      </p:sp>
      <p:sp>
        <p:nvSpPr>
          <p:cNvPr id="5" name="页脚占位符 4">
            <a:extLst>
              <a:ext uri="{FF2B5EF4-FFF2-40B4-BE49-F238E27FC236}">
                <a16:creationId xmlns:a16="http://schemas.microsoft.com/office/drawing/2014/main" id="{EEE631A1-FA19-28D4-C742-ED1DE862FD8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8E9601A-8BBB-A810-1A9A-8ADC2EF7B98E}"/>
              </a:ext>
            </a:extLst>
          </p:cNvPr>
          <p:cNvSpPr>
            <a:spLocks noGrp="1"/>
          </p:cNvSpPr>
          <p:nvPr>
            <p:ph type="sldNum" sz="quarter" idx="12"/>
          </p:nvPr>
        </p:nvSpPr>
        <p:spPr/>
        <p:txBody>
          <a:bodyPr/>
          <a:lstStyle/>
          <a:p>
            <a:fld id="{E6518835-16E6-9244-9C02-6BFB876E5D3C}" type="slidenum">
              <a:rPr kumimoji="1" lang="zh-CN" altLang="en-US" smtClean="0"/>
              <a:t>‹#›</a:t>
            </a:fld>
            <a:endParaRPr kumimoji="1" lang="zh-CN" altLang="en-US"/>
          </a:p>
        </p:txBody>
      </p:sp>
    </p:spTree>
    <p:extLst>
      <p:ext uri="{BB962C8B-B14F-4D97-AF65-F5344CB8AC3E}">
        <p14:creationId xmlns:p14="http://schemas.microsoft.com/office/powerpoint/2010/main" val="3555326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E84143-246B-7CCE-0B5A-ABA8F3C38A75}"/>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6555807-CF5F-3E8C-01B7-BF9CF61A8A5F}"/>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315A1DE9-4B6B-3C6F-99E4-D817D0C0A9B9}"/>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2E91F7D1-1EDA-7693-2184-95FA657828D1}"/>
              </a:ext>
            </a:extLst>
          </p:cNvPr>
          <p:cNvSpPr>
            <a:spLocks noGrp="1"/>
          </p:cNvSpPr>
          <p:nvPr>
            <p:ph type="dt" sz="half" idx="10"/>
          </p:nvPr>
        </p:nvSpPr>
        <p:spPr/>
        <p:txBody>
          <a:bodyPr/>
          <a:lstStyle/>
          <a:p>
            <a:fld id="{DB1A4976-7C30-4E85-AD71-DA226AA33B2B}" type="datetime1">
              <a:rPr kumimoji="1" lang="zh-CN" altLang="en-US" smtClean="0"/>
              <a:t>2026/5/5</a:t>
            </a:fld>
            <a:endParaRPr kumimoji="1" lang="zh-CN" altLang="en-US"/>
          </a:p>
        </p:txBody>
      </p:sp>
      <p:sp>
        <p:nvSpPr>
          <p:cNvPr id="6" name="页脚占位符 5">
            <a:extLst>
              <a:ext uri="{FF2B5EF4-FFF2-40B4-BE49-F238E27FC236}">
                <a16:creationId xmlns:a16="http://schemas.microsoft.com/office/drawing/2014/main" id="{554AFA03-88A9-5ADB-4AB0-2682384140A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23F93F0-5164-CE36-91ED-B091D6C34BB8}"/>
              </a:ext>
            </a:extLst>
          </p:cNvPr>
          <p:cNvSpPr>
            <a:spLocks noGrp="1"/>
          </p:cNvSpPr>
          <p:nvPr>
            <p:ph type="sldNum" sz="quarter" idx="12"/>
          </p:nvPr>
        </p:nvSpPr>
        <p:spPr/>
        <p:txBody>
          <a:bodyPr/>
          <a:lstStyle/>
          <a:p>
            <a:fld id="{E6518835-16E6-9244-9C02-6BFB876E5D3C}" type="slidenum">
              <a:rPr kumimoji="1" lang="zh-CN" altLang="en-US" smtClean="0"/>
              <a:t>‹#›</a:t>
            </a:fld>
            <a:endParaRPr kumimoji="1" lang="zh-CN" altLang="en-US"/>
          </a:p>
        </p:txBody>
      </p:sp>
    </p:spTree>
    <p:extLst>
      <p:ext uri="{BB962C8B-B14F-4D97-AF65-F5344CB8AC3E}">
        <p14:creationId xmlns:p14="http://schemas.microsoft.com/office/powerpoint/2010/main" val="690602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F17D4D-7640-A75A-2284-FFC9FD4A74EA}"/>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975679E-D36C-4970-977F-E9C249977C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C3F9109E-D90F-0249-66C0-876F9D28B541}"/>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5AE15183-D7C7-5DF7-82BB-EC90024E33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7B6230C3-4E5C-4069-6DE3-7C6C341508A9}"/>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D6AED525-72FC-A4AC-59A1-807FF250FCC2}"/>
              </a:ext>
            </a:extLst>
          </p:cNvPr>
          <p:cNvSpPr>
            <a:spLocks noGrp="1"/>
          </p:cNvSpPr>
          <p:nvPr>
            <p:ph type="dt" sz="half" idx="10"/>
          </p:nvPr>
        </p:nvSpPr>
        <p:spPr/>
        <p:txBody>
          <a:bodyPr/>
          <a:lstStyle/>
          <a:p>
            <a:fld id="{BCE45F3A-E9BC-4FA5-8F50-C03D46D8003D}" type="datetime1">
              <a:rPr kumimoji="1" lang="zh-CN" altLang="en-US" smtClean="0"/>
              <a:t>2026/5/5</a:t>
            </a:fld>
            <a:endParaRPr kumimoji="1" lang="zh-CN" altLang="en-US"/>
          </a:p>
        </p:txBody>
      </p:sp>
      <p:sp>
        <p:nvSpPr>
          <p:cNvPr id="8" name="页脚占位符 7">
            <a:extLst>
              <a:ext uri="{FF2B5EF4-FFF2-40B4-BE49-F238E27FC236}">
                <a16:creationId xmlns:a16="http://schemas.microsoft.com/office/drawing/2014/main" id="{39AA189D-9786-C799-49E1-4FC53A857DFD}"/>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593BBB2D-1078-5C8B-F90F-ED5F157F0AD5}"/>
              </a:ext>
            </a:extLst>
          </p:cNvPr>
          <p:cNvSpPr>
            <a:spLocks noGrp="1"/>
          </p:cNvSpPr>
          <p:nvPr>
            <p:ph type="sldNum" sz="quarter" idx="12"/>
          </p:nvPr>
        </p:nvSpPr>
        <p:spPr/>
        <p:txBody>
          <a:bodyPr/>
          <a:lstStyle/>
          <a:p>
            <a:fld id="{E6518835-16E6-9244-9C02-6BFB876E5D3C}" type="slidenum">
              <a:rPr kumimoji="1" lang="zh-CN" altLang="en-US" smtClean="0"/>
              <a:t>‹#›</a:t>
            </a:fld>
            <a:endParaRPr kumimoji="1" lang="zh-CN" altLang="en-US"/>
          </a:p>
        </p:txBody>
      </p:sp>
    </p:spTree>
    <p:extLst>
      <p:ext uri="{BB962C8B-B14F-4D97-AF65-F5344CB8AC3E}">
        <p14:creationId xmlns:p14="http://schemas.microsoft.com/office/powerpoint/2010/main" val="2918325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62961F-58F3-6C31-6A60-5040ECD55FF5}"/>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28461618-6C2C-C902-A72C-6A36248CC51A}"/>
              </a:ext>
            </a:extLst>
          </p:cNvPr>
          <p:cNvSpPr>
            <a:spLocks noGrp="1"/>
          </p:cNvSpPr>
          <p:nvPr>
            <p:ph type="dt" sz="half" idx="10"/>
          </p:nvPr>
        </p:nvSpPr>
        <p:spPr/>
        <p:txBody>
          <a:bodyPr/>
          <a:lstStyle/>
          <a:p>
            <a:fld id="{8E1594C8-A00C-428C-B509-30C386153D47}" type="datetime1">
              <a:rPr kumimoji="1" lang="zh-CN" altLang="en-US" smtClean="0"/>
              <a:t>2026/5/5</a:t>
            </a:fld>
            <a:endParaRPr kumimoji="1" lang="zh-CN" altLang="en-US"/>
          </a:p>
        </p:txBody>
      </p:sp>
      <p:sp>
        <p:nvSpPr>
          <p:cNvPr id="4" name="页脚占位符 3">
            <a:extLst>
              <a:ext uri="{FF2B5EF4-FFF2-40B4-BE49-F238E27FC236}">
                <a16:creationId xmlns:a16="http://schemas.microsoft.com/office/drawing/2014/main" id="{4B377591-399D-4085-75E6-483D4B9BF164}"/>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2C45216A-5A6A-5756-723B-CDB90F5208E9}"/>
              </a:ext>
            </a:extLst>
          </p:cNvPr>
          <p:cNvSpPr>
            <a:spLocks noGrp="1"/>
          </p:cNvSpPr>
          <p:nvPr>
            <p:ph type="sldNum" sz="quarter" idx="12"/>
          </p:nvPr>
        </p:nvSpPr>
        <p:spPr/>
        <p:txBody>
          <a:bodyPr/>
          <a:lstStyle/>
          <a:p>
            <a:fld id="{E6518835-16E6-9244-9C02-6BFB876E5D3C}" type="slidenum">
              <a:rPr kumimoji="1" lang="zh-CN" altLang="en-US" smtClean="0"/>
              <a:t>‹#›</a:t>
            </a:fld>
            <a:endParaRPr kumimoji="1" lang="zh-CN" altLang="en-US"/>
          </a:p>
        </p:txBody>
      </p:sp>
    </p:spTree>
    <p:extLst>
      <p:ext uri="{BB962C8B-B14F-4D97-AF65-F5344CB8AC3E}">
        <p14:creationId xmlns:p14="http://schemas.microsoft.com/office/powerpoint/2010/main" val="3702180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C8BB4B2-609C-3FCB-4793-119AF5CF940D}"/>
              </a:ext>
            </a:extLst>
          </p:cNvPr>
          <p:cNvSpPr>
            <a:spLocks noGrp="1"/>
          </p:cNvSpPr>
          <p:nvPr>
            <p:ph type="dt" sz="half" idx="10"/>
          </p:nvPr>
        </p:nvSpPr>
        <p:spPr/>
        <p:txBody>
          <a:bodyPr/>
          <a:lstStyle/>
          <a:p>
            <a:fld id="{BB131B34-1EA5-4489-945C-7A5460B54D2A}" type="datetime1">
              <a:rPr kumimoji="1" lang="zh-CN" altLang="en-US" smtClean="0"/>
              <a:t>2026/5/5</a:t>
            </a:fld>
            <a:endParaRPr kumimoji="1" lang="zh-CN" altLang="en-US"/>
          </a:p>
        </p:txBody>
      </p:sp>
      <p:sp>
        <p:nvSpPr>
          <p:cNvPr id="3" name="页脚占位符 2">
            <a:extLst>
              <a:ext uri="{FF2B5EF4-FFF2-40B4-BE49-F238E27FC236}">
                <a16:creationId xmlns:a16="http://schemas.microsoft.com/office/drawing/2014/main" id="{8082FF7A-E8B9-4351-25C7-1B13092F1F08}"/>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9DCF332E-9A48-498B-8FCB-740A385F40F6}"/>
              </a:ext>
            </a:extLst>
          </p:cNvPr>
          <p:cNvSpPr>
            <a:spLocks noGrp="1"/>
          </p:cNvSpPr>
          <p:nvPr>
            <p:ph type="sldNum" sz="quarter" idx="12"/>
          </p:nvPr>
        </p:nvSpPr>
        <p:spPr/>
        <p:txBody>
          <a:bodyPr/>
          <a:lstStyle/>
          <a:p>
            <a:fld id="{E6518835-16E6-9244-9C02-6BFB876E5D3C}" type="slidenum">
              <a:rPr kumimoji="1" lang="zh-CN" altLang="en-US" smtClean="0"/>
              <a:t>‹#›</a:t>
            </a:fld>
            <a:endParaRPr kumimoji="1" lang="zh-CN" altLang="en-US"/>
          </a:p>
        </p:txBody>
      </p:sp>
    </p:spTree>
    <p:extLst>
      <p:ext uri="{BB962C8B-B14F-4D97-AF65-F5344CB8AC3E}">
        <p14:creationId xmlns:p14="http://schemas.microsoft.com/office/powerpoint/2010/main" val="3761571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9F0C52-935E-B563-9204-950EF2500E5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02DCAE9A-D5D5-035F-4D13-34FB1CD5B1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F1F9FAA2-2D92-4E12-911E-FA63911037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554F466-BDB8-65A0-B973-A95D03442100}"/>
              </a:ext>
            </a:extLst>
          </p:cNvPr>
          <p:cNvSpPr>
            <a:spLocks noGrp="1"/>
          </p:cNvSpPr>
          <p:nvPr>
            <p:ph type="dt" sz="half" idx="10"/>
          </p:nvPr>
        </p:nvSpPr>
        <p:spPr/>
        <p:txBody>
          <a:bodyPr/>
          <a:lstStyle/>
          <a:p>
            <a:fld id="{389C9896-CAC4-4FDD-99C6-31E3DA305BFD}" type="datetime1">
              <a:rPr kumimoji="1" lang="zh-CN" altLang="en-US" smtClean="0"/>
              <a:t>2026/5/5</a:t>
            </a:fld>
            <a:endParaRPr kumimoji="1" lang="zh-CN" altLang="en-US"/>
          </a:p>
        </p:txBody>
      </p:sp>
      <p:sp>
        <p:nvSpPr>
          <p:cNvPr id="6" name="页脚占位符 5">
            <a:extLst>
              <a:ext uri="{FF2B5EF4-FFF2-40B4-BE49-F238E27FC236}">
                <a16:creationId xmlns:a16="http://schemas.microsoft.com/office/drawing/2014/main" id="{72DEEC40-4C21-889F-5094-3AF19002ECC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6A11F8A-F3B1-0DCE-518D-812F44E4F549}"/>
              </a:ext>
            </a:extLst>
          </p:cNvPr>
          <p:cNvSpPr>
            <a:spLocks noGrp="1"/>
          </p:cNvSpPr>
          <p:nvPr>
            <p:ph type="sldNum" sz="quarter" idx="12"/>
          </p:nvPr>
        </p:nvSpPr>
        <p:spPr/>
        <p:txBody>
          <a:bodyPr/>
          <a:lstStyle/>
          <a:p>
            <a:fld id="{E6518835-16E6-9244-9C02-6BFB876E5D3C}" type="slidenum">
              <a:rPr kumimoji="1" lang="zh-CN" altLang="en-US" smtClean="0"/>
              <a:t>‹#›</a:t>
            </a:fld>
            <a:endParaRPr kumimoji="1" lang="zh-CN" altLang="en-US"/>
          </a:p>
        </p:txBody>
      </p:sp>
    </p:spTree>
    <p:extLst>
      <p:ext uri="{BB962C8B-B14F-4D97-AF65-F5344CB8AC3E}">
        <p14:creationId xmlns:p14="http://schemas.microsoft.com/office/powerpoint/2010/main" val="630230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7B77DD-926A-259B-F0FF-5AD22022616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6070F962-0A7A-FBF0-91F9-B97B5A1B86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71FF71ED-04B9-743C-A4DE-0E63CE5562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5FF06D78-0A69-F040-46A0-5BC7165B425A}"/>
              </a:ext>
            </a:extLst>
          </p:cNvPr>
          <p:cNvSpPr>
            <a:spLocks noGrp="1"/>
          </p:cNvSpPr>
          <p:nvPr>
            <p:ph type="dt" sz="half" idx="10"/>
          </p:nvPr>
        </p:nvSpPr>
        <p:spPr/>
        <p:txBody>
          <a:bodyPr/>
          <a:lstStyle/>
          <a:p>
            <a:fld id="{4880E9B4-22EC-40E0-9254-7F0574C2E52F}" type="datetime1">
              <a:rPr kumimoji="1" lang="zh-CN" altLang="en-US" smtClean="0"/>
              <a:t>2026/5/5</a:t>
            </a:fld>
            <a:endParaRPr kumimoji="1" lang="zh-CN" altLang="en-US"/>
          </a:p>
        </p:txBody>
      </p:sp>
      <p:sp>
        <p:nvSpPr>
          <p:cNvPr id="6" name="页脚占位符 5">
            <a:extLst>
              <a:ext uri="{FF2B5EF4-FFF2-40B4-BE49-F238E27FC236}">
                <a16:creationId xmlns:a16="http://schemas.microsoft.com/office/drawing/2014/main" id="{1CB01F71-813C-6698-9FB2-082E272E55F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7892EE3-E066-A4FB-CB57-AF372F9369B7}"/>
              </a:ext>
            </a:extLst>
          </p:cNvPr>
          <p:cNvSpPr>
            <a:spLocks noGrp="1"/>
          </p:cNvSpPr>
          <p:nvPr>
            <p:ph type="sldNum" sz="quarter" idx="12"/>
          </p:nvPr>
        </p:nvSpPr>
        <p:spPr/>
        <p:txBody>
          <a:bodyPr/>
          <a:lstStyle/>
          <a:p>
            <a:fld id="{E6518835-16E6-9244-9C02-6BFB876E5D3C}" type="slidenum">
              <a:rPr kumimoji="1" lang="zh-CN" altLang="en-US" smtClean="0"/>
              <a:t>‹#›</a:t>
            </a:fld>
            <a:endParaRPr kumimoji="1" lang="zh-CN" altLang="en-US"/>
          </a:p>
        </p:txBody>
      </p:sp>
    </p:spTree>
    <p:extLst>
      <p:ext uri="{BB962C8B-B14F-4D97-AF65-F5344CB8AC3E}">
        <p14:creationId xmlns:p14="http://schemas.microsoft.com/office/powerpoint/2010/main" val="3191545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10A708-FCEF-02F1-30A5-D86CABB67460}"/>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0421ECC-3AD0-08B9-D09B-C7EB00FEC7B3}"/>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26AD5DD-AA47-5ACB-3DDA-7CDE41997FA5}"/>
              </a:ext>
            </a:extLst>
          </p:cNvPr>
          <p:cNvSpPr>
            <a:spLocks noGrp="1"/>
          </p:cNvSpPr>
          <p:nvPr>
            <p:ph type="dt" sz="half" idx="10"/>
          </p:nvPr>
        </p:nvSpPr>
        <p:spPr/>
        <p:txBody>
          <a:bodyPr/>
          <a:lstStyle/>
          <a:p>
            <a:fld id="{0101A583-13A2-4917-A8BD-447BF9B53851}" type="datetime1">
              <a:rPr kumimoji="1" lang="zh-CN" altLang="en-US" smtClean="0"/>
              <a:t>2026/5/5</a:t>
            </a:fld>
            <a:endParaRPr kumimoji="1" lang="zh-CN" altLang="en-US"/>
          </a:p>
        </p:txBody>
      </p:sp>
      <p:sp>
        <p:nvSpPr>
          <p:cNvPr id="5" name="页脚占位符 4">
            <a:extLst>
              <a:ext uri="{FF2B5EF4-FFF2-40B4-BE49-F238E27FC236}">
                <a16:creationId xmlns:a16="http://schemas.microsoft.com/office/drawing/2014/main" id="{6319B97C-1438-03A3-9784-9DA4D72AFBF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8FD4A54-0F6D-B5A1-2BF3-AE7F78822947}"/>
              </a:ext>
            </a:extLst>
          </p:cNvPr>
          <p:cNvSpPr>
            <a:spLocks noGrp="1"/>
          </p:cNvSpPr>
          <p:nvPr>
            <p:ph type="sldNum" sz="quarter" idx="12"/>
          </p:nvPr>
        </p:nvSpPr>
        <p:spPr/>
        <p:txBody>
          <a:bodyPr/>
          <a:lstStyle/>
          <a:p>
            <a:fld id="{E6518835-16E6-9244-9C02-6BFB876E5D3C}" type="slidenum">
              <a:rPr kumimoji="1" lang="zh-CN" altLang="en-US" smtClean="0"/>
              <a:t>‹#›</a:t>
            </a:fld>
            <a:endParaRPr kumimoji="1" lang="zh-CN" altLang="en-US"/>
          </a:p>
        </p:txBody>
      </p:sp>
    </p:spTree>
    <p:extLst>
      <p:ext uri="{BB962C8B-B14F-4D97-AF65-F5344CB8AC3E}">
        <p14:creationId xmlns:p14="http://schemas.microsoft.com/office/powerpoint/2010/main" val="1449226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2A85C05-1A37-6682-D707-5C357D9FAB6B}"/>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E34B328-CEB9-8EFB-0019-60047E8946CC}"/>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CDAC19B-5D90-FF6B-813F-1BBD6E68A122}"/>
              </a:ext>
            </a:extLst>
          </p:cNvPr>
          <p:cNvSpPr>
            <a:spLocks noGrp="1"/>
          </p:cNvSpPr>
          <p:nvPr>
            <p:ph type="dt" sz="half" idx="10"/>
          </p:nvPr>
        </p:nvSpPr>
        <p:spPr/>
        <p:txBody>
          <a:bodyPr/>
          <a:lstStyle/>
          <a:p>
            <a:fld id="{AD6191CF-4FDB-431C-8DAB-37F62733F14D}" type="datetime1">
              <a:rPr kumimoji="1" lang="zh-CN" altLang="en-US" smtClean="0"/>
              <a:t>2026/5/5</a:t>
            </a:fld>
            <a:endParaRPr kumimoji="1" lang="zh-CN" altLang="en-US"/>
          </a:p>
        </p:txBody>
      </p:sp>
      <p:sp>
        <p:nvSpPr>
          <p:cNvPr id="5" name="页脚占位符 4">
            <a:extLst>
              <a:ext uri="{FF2B5EF4-FFF2-40B4-BE49-F238E27FC236}">
                <a16:creationId xmlns:a16="http://schemas.microsoft.com/office/drawing/2014/main" id="{EBE4E5EB-533A-BA47-F95F-F8C863A65BE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CA8354E-AEE0-B052-F5B5-46E278641D9C}"/>
              </a:ext>
            </a:extLst>
          </p:cNvPr>
          <p:cNvSpPr>
            <a:spLocks noGrp="1"/>
          </p:cNvSpPr>
          <p:nvPr>
            <p:ph type="sldNum" sz="quarter" idx="12"/>
          </p:nvPr>
        </p:nvSpPr>
        <p:spPr/>
        <p:txBody>
          <a:bodyPr/>
          <a:lstStyle/>
          <a:p>
            <a:fld id="{E6518835-16E6-9244-9C02-6BFB876E5D3C}" type="slidenum">
              <a:rPr kumimoji="1" lang="zh-CN" altLang="en-US" smtClean="0"/>
              <a:t>‹#›</a:t>
            </a:fld>
            <a:endParaRPr kumimoji="1" lang="zh-CN" altLang="en-US"/>
          </a:p>
        </p:txBody>
      </p:sp>
    </p:spTree>
    <p:extLst>
      <p:ext uri="{BB962C8B-B14F-4D97-AF65-F5344CB8AC3E}">
        <p14:creationId xmlns:p14="http://schemas.microsoft.com/office/powerpoint/2010/main" val="3566328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9EFF087-4CD8-44D5-E233-040D732B15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46E5ABE1-8D90-16AF-57C3-F24537B41F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EEB1356-0364-3A1E-41ED-C4D97D437C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0C4C8D-0A8F-4BC7-9D53-A10349593705}" type="datetime1">
              <a:rPr kumimoji="1" lang="zh-CN" altLang="en-US" smtClean="0"/>
              <a:t>2026/5/5</a:t>
            </a:fld>
            <a:endParaRPr kumimoji="1" lang="zh-CN" altLang="en-US"/>
          </a:p>
        </p:txBody>
      </p:sp>
      <p:sp>
        <p:nvSpPr>
          <p:cNvPr id="5" name="页脚占位符 4">
            <a:extLst>
              <a:ext uri="{FF2B5EF4-FFF2-40B4-BE49-F238E27FC236}">
                <a16:creationId xmlns:a16="http://schemas.microsoft.com/office/drawing/2014/main" id="{9310FF44-9B7B-349E-8812-A0F5DF1147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C6AC621A-F2B1-2D23-C228-3C778D3CDA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518835-16E6-9244-9C02-6BFB876E5D3C}" type="slidenum">
              <a:rPr kumimoji="1" lang="zh-CN" altLang="en-US" smtClean="0"/>
              <a:t>‹#›</a:t>
            </a:fld>
            <a:endParaRPr kumimoji="1" lang="zh-CN" altLang="en-US"/>
          </a:p>
        </p:txBody>
      </p:sp>
    </p:spTree>
    <p:extLst>
      <p:ext uri="{BB962C8B-B14F-4D97-AF65-F5344CB8AC3E}">
        <p14:creationId xmlns:p14="http://schemas.microsoft.com/office/powerpoint/2010/main" val="448370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tags" Target="../tags/tag4.xml"/><Relationship Id="rId7" Type="http://schemas.openxmlformats.org/officeDocument/2006/relationships/image" Target="../media/image2.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notesSlide" Target="../notesSlides/notesSlide2.xml"/><Relationship Id="rId4" Type="http://schemas.openxmlformats.org/officeDocument/2006/relationships/slideLayout" Target="../slideLayouts/slideLayout1.xml"/><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tags" Target="../tags/tag7.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1.png"/><Relationship Id="rId5" Type="http://schemas.openxmlformats.org/officeDocument/2006/relationships/notesSlide" Target="../notesSlides/notesSlide3.xml"/><Relationship Id="rId10" Type="http://schemas.openxmlformats.org/officeDocument/2006/relationships/image" Target="../media/image7.png"/><Relationship Id="rId4" Type="http://schemas.openxmlformats.org/officeDocument/2006/relationships/slideLayout" Target="../slideLayouts/slideLayout1.xml"/><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tags" Target="../tags/tag10.xml"/><Relationship Id="rId7" Type="http://schemas.openxmlformats.org/officeDocument/2006/relationships/image" Target="../media/image2.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png"/><Relationship Id="rId5" Type="http://schemas.openxmlformats.org/officeDocument/2006/relationships/notesSlide" Target="../notesSlides/notesSlide4.xml"/><Relationship Id="rId4" Type="http://schemas.openxmlformats.org/officeDocument/2006/relationships/slideLayout" Target="../slideLayouts/slideLayout1.xml"/><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tags" Target="../tags/tag13.xml"/><Relationship Id="rId7" Type="http://schemas.openxmlformats.org/officeDocument/2006/relationships/image" Target="../media/image2.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png"/><Relationship Id="rId5" Type="http://schemas.openxmlformats.org/officeDocument/2006/relationships/notesSlide" Target="../notesSlides/notesSlide5.xml"/><Relationship Id="rId10" Type="http://schemas.openxmlformats.org/officeDocument/2006/relationships/image" Target="../media/image10.png"/><Relationship Id="rId4" Type="http://schemas.openxmlformats.org/officeDocument/2006/relationships/slideLayout" Target="../slideLayouts/slideLayout1.xml"/><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tags" Target="../tags/tag16.xml"/><Relationship Id="rId7" Type="http://schemas.openxmlformats.org/officeDocument/2006/relationships/image" Target="../media/image2.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png"/><Relationship Id="rId5" Type="http://schemas.openxmlformats.org/officeDocument/2006/relationships/notesSlide" Target="../notesSlides/notesSlide6.xml"/><Relationship Id="rId4" Type="http://schemas.openxmlformats.org/officeDocument/2006/relationships/slideLayout" Target="../slideLayouts/slideLayout1.xml"/><Relationship Id="rId9"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tags" Target="../tags/tag19.xml"/><Relationship Id="rId7" Type="http://schemas.openxmlformats.org/officeDocument/2006/relationships/image" Target="../media/image2.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png"/><Relationship Id="rId5" Type="http://schemas.openxmlformats.org/officeDocument/2006/relationships/notesSlide" Target="../notesSlides/notesSlide8.xml"/><Relationship Id="rId4" Type="http://schemas.openxmlformats.org/officeDocument/2006/relationships/slideLayout" Target="../slideLayouts/slideLayout1.xml"/><Relationship Id="rId9" Type="http://schemas.openxmlformats.org/officeDocument/2006/relationships/image" Target="../media/image12.png"/></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1.xml"/><Relationship Id="rId7" Type="http://schemas.microsoft.com/office/2007/relationships/hdphoto" Target="../media/hdphoto2.wdp"/><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9.xml"/><Relationship Id="rId9" Type="http://schemas.openxmlformats.org/officeDocument/2006/relationships/image" Target="../media/image50.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25.png"/><Relationship Id="rId3" Type="http://schemas.openxmlformats.org/officeDocument/2006/relationships/slideLayout" Target="../slideLayouts/slideLayout1.xml"/><Relationship Id="rId7" Type="http://schemas.microsoft.com/office/2007/relationships/hdphoto" Target="../media/hdphoto2.wdp"/><Relationship Id="rId12" Type="http://schemas.openxmlformats.org/officeDocument/2006/relationships/image" Target="../media/image24.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2.png"/><Relationship Id="rId11" Type="http://schemas.openxmlformats.org/officeDocument/2006/relationships/image" Target="../media/image23.png"/><Relationship Id="rId5" Type="http://schemas.openxmlformats.org/officeDocument/2006/relationships/image" Target="../media/image1.png"/><Relationship Id="rId10" Type="http://schemas.openxmlformats.org/officeDocument/2006/relationships/image" Target="../media/image15.png"/><Relationship Id="rId4" Type="http://schemas.openxmlformats.org/officeDocument/2006/relationships/notesSlide" Target="../notesSlides/notesSlide10.xml"/><Relationship Id="rId9" Type="http://schemas.openxmlformats.org/officeDocument/2006/relationships/image" Target="../media/image71.png"/></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21.png"/><Relationship Id="rId3" Type="http://schemas.openxmlformats.org/officeDocument/2006/relationships/slideLayout" Target="../slideLayouts/slideLayout1.xml"/><Relationship Id="rId7" Type="http://schemas.microsoft.com/office/2007/relationships/hdphoto" Target="../media/hdphoto2.wdp"/><Relationship Id="rId12" Type="http://schemas.openxmlformats.org/officeDocument/2006/relationships/image" Target="../media/image111.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2.png"/><Relationship Id="rId11" Type="http://schemas.openxmlformats.org/officeDocument/2006/relationships/image" Target="../media/image100.png"/><Relationship Id="rId5" Type="http://schemas.openxmlformats.org/officeDocument/2006/relationships/image" Target="../media/image1.png"/><Relationship Id="rId15" Type="http://schemas.openxmlformats.org/officeDocument/2006/relationships/image" Target="../media/image33.png"/><Relationship Id="rId10" Type="http://schemas.openxmlformats.org/officeDocument/2006/relationships/image" Target="../media/image28.png"/><Relationship Id="rId4" Type="http://schemas.openxmlformats.org/officeDocument/2006/relationships/notesSlide" Target="../notesSlides/notesSlide11.xml"/><Relationship Id="rId9" Type="http://schemas.openxmlformats.org/officeDocument/2006/relationships/image" Target="../media/image27.png"/><Relationship Id="rId14" Type="http://schemas.openxmlformats.org/officeDocument/2006/relationships/image" Target="../media/image131.png"/></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1.xml"/><Relationship Id="rId7" Type="http://schemas.microsoft.com/office/2007/relationships/hdphoto" Target="../media/hdphoto2.wdp"/><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2.png"/><Relationship Id="rId11" Type="http://schemas.openxmlformats.org/officeDocument/2006/relationships/image" Target="../media/image12.png"/><Relationship Id="rId5" Type="http://schemas.openxmlformats.org/officeDocument/2006/relationships/image" Target="../media/image1.png"/><Relationship Id="rId10" Type="http://schemas.openxmlformats.org/officeDocument/2006/relationships/image" Target="../media/image112.png"/><Relationship Id="rId4" Type="http://schemas.openxmlformats.org/officeDocument/2006/relationships/notesSlide" Target="../notesSlides/notesSlide12.xml"/><Relationship Id="rId9" Type="http://schemas.openxmlformats.org/officeDocument/2006/relationships/image" Target="../media/image150.png"/></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microsoft.com/office/2007/relationships/hdphoto" Target="../media/hdphoto2.wdp"/><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microsoft.com/office/2007/relationships/hdphoto" Target="../media/hdphoto2.wdp"/><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tags" Target="../tags/tag30.xml"/><Relationship Id="rId7" Type="http://schemas.openxmlformats.org/officeDocument/2006/relationships/image" Target="../media/image2.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1.png"/><Relationship Id="rId5" Type="http://schemas.openxmlformats.org/officeDocument/2006/relationships/notesSlide" Target="../notesSlides/notesSlide16.xml"/><Relationship Id="rId10" Type="http://schemas.openxmlformats.org/officeDocument/2006/relationships/image" Target="../media/image26.png"/><Relationship Id="rId4" Type="http://schemas.openxmlformats.org/officeDocument/2006/relationships/slideLayout" Target="../slideLayouts/slideLayout1.xml"/><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tags" Target="../tags/tag33.xml"/><Relationship Id="rId7" Type="http://schemas.openxmlformats.org/officeDocument/2006/relationships/image" Target="../media/image2.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png"/><Relationship Id="rId5" Type="http://schemas.openxmlformats.org/officeDocument/2006/relationships/notesSlide" Target="../notesSlides/notesSlide17.xml"/><Relationship Id="rId4" Type="http://schemas.openxmlformats.org/officeDocument/2006/relationships/slideLayout" Target="../slideLayouts/slideLayout1.xml"/><Relationship Id="rId9" Type="http://schemas.openxmlformats.org/officeDocument/2006/relationships/image" Target="../media/image29.png"/></Relationships>
</file>

<file path=ppt/slides/_rels/slide2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tags" Target="../tags/tag36.xml"/><Relationship Id="rId7" Type="http://schemas.openxmlformats.org/officeDocument/2006/relationships/image" Target="../media/image2.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png"/><Relationship Id="rId5" Type="http://schemas.openxmlformats.org/officeDocument/2006/relationships/notesSlide" Target="../notesSlides/notesSlide18.xml"/><Relationship Id="rId4" Type="http://schemas.openxmlformats.org/officeDocument/2006/relationships/slideLayout" Target="../slideLayouts/slideLayout1.xml"/><Relationship Id="rId9" Type="http://schemas.openxmlformats.org/officeDocument/2006/relationships/image" Target="../media/image30.png"/></Relationships>
</file>

<file path=ppt/slides/_rels/slide2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tags" Target="../tags/tag39.xml"/><Relationship Id="rId7" Type="http://schemas.openxmlformats.org/officeDocument/2006/relationships/image" Target="../media/image2.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png"/><Relationship Id="rId5" Type="http://schemas.openxmlformats.org/officeDocument/2006/relationships/notesSlide" Target="../notesSlides/notesSlide19.xml"/><Relationship Id="rId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tags" Target="../tags/tag42.xml"/><Relationship Id="rId7" Type="http://schemas.openxmlformats.org/officeDocument/2006/relationships/image" Target="../media/image2.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1.png"/><Relationship Id="rId5" Type="http://schemas.openxmlformats.org/officeDocument/2006/relationships/notesSlide" Target="../notesSlides/notesSlide20.xml"/><Relationship Id="rId10" Type="http://schemas.openxmlformats.org/officeDocument/2006/relationships/image" Target="../media/image31.png"/><Relationship Id="rId4" Type="http://schemas.openxmlformats.org/officeDocument/2006/relationships/slideLayout" Target="../slideLayouts/slideLayout1.xml"/><Relationship Id="rId9" Type="http://schemas.openxmlformats.org/officeDocument/2006/relationships/image" Target="../media/image70.png"/></Relationships>
</file>

<file path=ppt/slides/_rels/slide26.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tags" Target="../tags/tag45.xml"/><Relationship Id="rId7" Type="http://schemas.openxmlformats.org/officeDocument/2006/relationships/image" Target="../media/image2.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1.png"/><Relationship Id="rId5" Type="http://schemas.openxmlformats.org/officeDocument/2006/relationships/notesSlide" Target="../notesSlides/notesSlide21.xml"/><Relationship Id="rId4" Type="http://schemas.openxmlformats.org/officeDocument/2006/relationships/slideLayout" Target="../slideLayouts/slideLayout1.xml"/><Relationship Id="rId9" Type="http://schemas.openxmlformats.org/officeDocument/2006/relationships/image" Target="../media/image32.png"/></Relationships>
</file>

<file path=ppt/slides/_rels/slide2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tags" Target="../tags/tag48.xml"/><Relationship Id="rId7" Type="http://schemas.openxmlformats.org/officeDocument/2006/relationships/image" Target="../media/image2.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1.png"/><Relationship Id="rId5" Type="http://schemas.openxmlformats.org/officeDocument/2006/relationships/notesSlide" Target="../notesSlides/notesSlide22.xml"/><Relationship Id="rId4" Type="http://schemas.openxmlformats.org/officeDocument/2006/relationships/slideLayout" Target="../slideLayouts/slideLayout1.xml"/><Relationship Id="rId9" Type="http://schemas.openxmlformats.org/officeDocument/2006/relationships/image" Target="../media/image32.png"/></Relationships>
</file>

<file path=ppt/slides/_rels/slide2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tags" Target="../tags/tag51.xml"/><Relationship Id="rId7" Type="http://schemas.openxmlformats.org/officeDocument/2006/relationships/image" Target="../media/image2.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png"/><Relationship Id="rId11" Type="http://schemas.openxmlformats.org/officeDocument/2006/relationships/image" Target="../media/image120.png"/><Relationship Id="rId5" Type="http://schemas.openxmlformats.org/officeDocument/2006/relationships/notesSlide" Target="../notesSlides/notesSlide23.xml"/><Relationship Id="rId10" Type="http://schemas.openxmlformats.org/officeDocument/2006/relationships/image" Target="../media/image110.png"/><Relationship Id="rId4" Type="http://schemas.openxmlformats.org/officeDocument/2006/relationships/slideLayout" Target="../slideLayouts/slideLayout1.xml"/><Relationship Id="rId9" Type="http://schemas.openxmlformats.org/officeDocument/2006/relationships/image" Target="../media/image34.png"/></Relationships>
</file>

<file path=ppt/slides/_rels/slide2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tags" Target="../tags/tag54.xml"/><Relationship Id="rId7" Type="http://schemas.openxmlformats.org/officeDocument/2006/relationships/image" Target="../media/image2.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1.png"/><Relationship Id="rId5" Type="http://schemas.openxmlformats.org/officeDocument/2006/relationships/notesSlide" Target="../notesSlides/notesSlide24.xml"/><Relationship Id="rId10" Type="http://schemas.openxmlformats.org/officeDocument/2006/relationships/image" Target="../media/image35.png"/><Relationship Id="rId4" Type="http://schemas.openxmlformats.org/officeDocument/2006/relationships/slideLayout" Target="../slideLayouts/slideLayout1.xml"/><Relationship Id="rId9" Type="http://schemas.openxmlformats.org/officeDocument/2006/relationships/image" Target="../media/image130.png"/></Relationships>
</file>

<file path=ppt/slides/_rels/slide30.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40.jpg"/><Relationship Id="rId3" Type="http://schemas.openxmlformats.org/officeDocument/2006/relationships/tags" Target="../tags/tag57.xml"/><Relationship Id="rId7" Type="http://schemas.openxmlformats.org/officeDocument/2006/relationships/image" Target="../media/image2.png"/><Relationship Id="rId12" Type="http://schemas.openxmlformats.org/officeDocument/2006/relationships/image" Target="../media/image39.jp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1.png"/><Relationship Id="rId11" Type="http://schemas.openxmlformats.org/officeDocument/2006/relationships/image" Target="../media/image38.jpg"/><Relationship Id="rId5" Type="http://schemas.openxmlformats.org/officeDocument/2006/relationships/notesSlide" Target="../notesSlides/notesSlide25.xml"/><Relationship Id="rId10" Type="http://schemas.openxmlformats.org/officeDocument/2006/relationships/image" Target="../media/image37.jpg"/><Relationship Id="rId4" Type="http://schemas.openxmlformats.org/officeDocument/2006/relationships/slideLayout" Target="../slideLayouts/slideLayout1.xml"/><Relationship Id="rId9" Type="http://schemas.openxmlformats.org/officeDocument/2006/relationships/image" Target="../media/image36.jpg"/><Relationship Id="rId14" Type="http://schemas.openxmlformats.org/officeDocument/2006/relationships/image" Target="../media/image41.jp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2.jpg"/><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8" Type="http://schemas.openxmlformats.org/officeDocument/2006/relationships/image" Target="../media/image45.jpeg"/><Relationship Id="rId3" Type="http://schemas.openxmlformats.org/officeDocument/2006/relationships/image" Target="../media/image1.png"/><Relationship Id="rId7" Type="http://schemas.openxmlformats.org/officeDocument/2006/relationships/image" Target="../media/image44.jpeg"/><Relationship Id="rId12" Type="http://schemas.openxmlformats.org/officeDocument/2006/relationships/image" Target="../media/image49.jpeg"/><Relationship Id="rId2" Type="http://schemas.openxmlformats.org/officeDocument/2006/relationships/slideLayout" Target="../slideLayouts/slideLayout1.xml"/><Relationship Id="rId1" Type="http://schemas.openxmlformats.org/officeDocument/2006/relationships/tags" Target="../tags/tag58.xml"/><Relationship Id="rId6" Type="http://schemas.openxmlformats.org/officeDocument/2006/relationships/image" Target="../media/image43.jpeg"/><Relationship Id="rId11" Type="http://schemas.openxmlformats.org/officeDocument/2006/relationships/image" Target="../media/image48.jpeg"/><Relationship Id="rId5" Type="http://schemas.microsoft.com/office/2007/relationships/hdphoto" Target="../media/hdphoto3.wdp"/><Relationship Id="rId10" Type="http://schemas.openxmlformats.org/officeDocument/2006/relationships/image" Target="../media/image47.jpeg"/><Relationship Id="rId4" Type="http://schemas.openxmlformats.org/officeDocument/2006/relationships/image" Target="../media/image2.png"/><Relationship Id="rId9" Type="http://schemas.openxmlformats.org/officeDocument/2006/relationships/image" Target="../media/image46.jpeg"/></Relationships>
</file>

<file path=ppt/slides/_rels/slide33.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image" Target="../media/image1.png"/><Relationship Id="rId7" Type="http://schemas.openxmlformats.org/officeDocument/2006/relationships/image" Target="../media/image51.jpeg"/><Relationship Id="rId12" Type="http://schemas.openxmlformats.org/officeDocument/2006/relationships/image" Target="../media/image56.jpeg"/><Relationship Id="rId2" Type="http://schemas.openxmlformats.org/officeDocument/2006/relationships/slideLayout" Target="../slideLayouts/slideLayout1.xml"/><Relationship Id="rId1" Type="http://schemas.openxmlformats.org/officeDocument/2006/relationships/tags" Target="../tags/tag59.xml"/><Relationship Id="rId6" Type="http://schemas.openxmlformats.org/officeDocument/2006/relationships/image" Target="../media/image50.jpeg"/><Relationship Id="rId11" Type="http://schemas.openxmlformats.org/officeDocument/2006/relationships/image" Target="../media/image55.jpeg"/><Relationship Id="rId5" Type="http://schemas.microsoft.com/office/2007/relationships/hdphoto" Target="../media/hdphoto3.wdp"/><Relationship Id="rId10" Type="http://schemas.openxmlformats.org/officeDocument/2006/relationships/image" Target="../media/image54.jpeg"/><Relationship Id="rId4" Type="http://schemas.openxmlformats.org/officeDocument/2006/relationships/image" Target="../media/image2.png"/><Relationship Id="rId9" Type="http://schemas.openxmlformats.org/officeDocument/2006/relationships/image" Target="../media/image53.jpeg"/></Relationships>
</file>

<file path=ppt/slides/_rels/slide34.xml.rels><?xml version="1.0" encoding="UTF-8" standalone="yes"?>
<Relationships xmlns="http://schemas.openxmlformats.org/package/2006/relationships"><Relationship Id="rId8" Type="http://schemas.openxmlformats.org/officeDocument/2006/relationships/image" Target="../media/image58.jpeg"/><Relationship Id="rId13" Type="http://schemas.openxmlformats.org/officeDocument/2006/relationships/image" Target="../media/image63.jpeg"/><Relationship Id="rId3" Type="http://schemas.openxmlformats.org/officeDocument/2006/relationships/image" Target="../media/image1.png"/><Relationship Id="rId7" Type="http://schemas.openxmlformats.org/officeDocument/2006/relationships/image" Target="../media/image57.jpeg"/><Relationship Id="rId12" Type="http://schemas.openxmlformats.org/officeDocument/2006/relationships/image" Target="../media/image62.jpeg"/><Relationship Id="rId2" Type="http://schemas.openxmlformats.org/officeDocument/2006/relationships/slideLayout" Target="../slideLayouts/slideLayout1.xml"/><Relationship Id="rId1" Type="http://schemas.openxmlformats.org/officeDocument/2006/relationships/tags" Target="../tags/tag60.xml"/><Relationship Id="rId6" Type="http://schemas.openxmlformats.org/officeDocument/2006/relationships/image" Target="../media/image50.jpeg"/><Relationship Id="rId11" Type="http://schemas.openxmlformats.org/officeDocument/2006/relationships/image" Target="../media/image61.jpeg"/><Relationship Id="rId5" Type="http://schemas.microsoft.com/office/2007/relationships/hdphoto" Target="../media/hdphoto3.wdp"/><Relationship Id="rId10" Type="http://schemas.openxmlformats.org/officeDocument/2006/relationships/image" Target="../media/image60.jpeg"/><Relationship Id="rId4" Type="http://schemas.openxmlformats.org/officeDocument/2006/relationships/image" Target="../media/image2.png"/><Relationship Id="rId9" Type="http://schemas.openxmlformats.org/officeDocument/2006/relationships/image" Target="../media/image59.jpeg"/></Relationships>
</file>

<file path=ppt/slides/_rels/slide35.xml.rels><?xml version="1.0" encoding="UTF-8" standalone="yes"?>
<Relationships xmlns="http://schemas.openxmlformats.org/package/2006/relationships"><Relationship Id="rId8" Type="http://schemas.openxmlformats.org/officeDocument/2006/relationships/image" Target="../media/image65.jpeg"/><Relationship Id="rId13" Type="http://schemas.openxmlformats.org/officeDocument/2006/relationships/image" Target="../media/image70.jpeg"/><Relationship Id="rId3" Type="http://schemas.openxmlformats.org/officeDocument/2006/relationships/image" Target="../media/image1.png"/><Relationship Id="rId7" Type="http://schemas.openxmlformats.org/officeDocument/2006/relationships/image" Target="../media/image64.jpeg"/><Relationship Id="rId12" Type="http://schemas.openxmlformats.org/officeDocument/2006/relationships/image" Target="../media/image69.jpeg"/><Relationship Id="rId2" Type="http://schemas.openxmlformats.org/officeDocument/2006/relationships/slideLayout" Target="../slideLayouts/slideLayout1.xml"/><Relationship Id="rId1" Type="http://schemas.openxmlformats.org/officeDocument/2006/relationships/tags" Target="../tags/tag61.xml"/><Relationship Id="rId6" Type="http://schemas.openxmlformats.org/officeDocument/2006/relationships/image" Target="../media/image50.jpeg"/><Relationship Id="rId11" Type="http://schemas.openxmlformats.org/officeDocument/2006/relationships/image" Target="../media/image68.jpeg"/><Relationship Id="rId5" Type="http://schemas.microsoft.com/office/2007/relationships/hdphoto" Target="../media/hdphoto3.wdp"/><Relationship Id="rId10" Type="http://schemas.openxmlformats.org/officeDocument/2006/relationships/image" Target="../media/image67.jpeg"/><Relationship Id="rId4" Type="http://schemas.openxmlformats.org/officeDocument/2006/relationships/image" Target="../media/image2.png"/><Relationship Id="rId9" Type="http://schemas.openxmlformats.org/officeDocument/2006/relationships/image" Target="../media/image66.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tags" Target="../tags/tag62.xml"/><Relationship Id="rId6" Type="http://schemas.microsoft.com/office/2007/relationships/hdphoto" Target="../media/hdphoto3.wdp"/><Relationship Id="rId5" Type="http://schemas.openxmlformats.org/officeDocument/2006/relationships/image" Target="../media/image2.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4289366"/>
            <a:ext cx="12192000" cy="2587683"/>
            <a:chOff x="0" y="3886200"/>
            <a:chExt cx="10740496" cy="2990850"/>
          </a:xfrm>
        </p:grpSpPr>
        <p:sp>
          <p:nvSpPr>
            <p:cNvPr id="4" name="任意形状 3"/>
            <p:cNvSpPr/>
            <p:nvPr/>
          </p:nvSpPr>
          <p:spPr>
            <a:xfrm>
              <a:off x="0" y="3886200"/>
              <a:ext cx="5370248" cy="2990850"/>
            </a:xfrm>
            <a:custGeom>
              <a:avLst/>
              <a:gdLst>
                <a:gd name="connsiteX0" fmla="*/ 0 w 5370248"/>
                <a:gd name="connsiteY0" fmla="*/ 0 h 2990850"/>
                <a:gd name="connsiteX1" fmla="*/ 1447 w 5370248"/>
                <a:gd name="connsiteY1" fmla="*/ 0 h 2990850"/>
                <a:gd name="connsiteX2" fmla="*/ 15736 w 5370248"/>
                <a:gd name="connsiteY2" fmla="*/ 206637 h 2990850"/>
                <a:gd name="connsiteX3" fmla="*/ 3048000 w 5370248"/>
                <a:gd name="connsiteY3" fmla="*/ 2204789 h 2990850"/>
                <a:gd name="connsiteX4" fmla="*/ 5203262 w 5370248"/>
                <a:gd name="connsiteY4" fmla="*/ 2856687 h 2990850"/>
                <a:gd name="connsiteX5" fmla="*/ 5370248 w 5370248"/>
                <a:gd name="connsiteY5" fmla="*/ 2990850 h 2990850"/>
                <a:gd name="connsiteX6" fmla="*/ 0 w 5370248"/>
                <a:gd name="connsiteY6" fmla="*/ 2990850 h 2990850"/>
                <a:gd name="connsiteX7" fmla="*/ 0 w 5370248"/>
                <a:gd name="connsiteY7" fmla="*/ 0 h 299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0248" h="2990850">
                  <a:moveTo>
                    <a:pt x="0" y="0"/>
                  </a:moveTo>
                  <a:lnTo>
                    <a:pt x="1447" y="0"/>
                  </a:lnTo>
                  <a:lnTo>
                    <a:pt x="15736" y="206637"/>
                  </a:lnTo>
                  <a:cubicBezTo>
                    <a:pt x="171824" y="1328969"/>
                    <a:pt x="1469846" y="2204789"/>
                    <a:pt x="3048000" y="2204789"/>
                  </a:cubicBezTo>
                  <a:cubicBezTo>
                    <a:pt x="3889682" y="2204789"/>
                    <a:pt x="4651682" y="2453911"/>
                    <a:pt x="5203262" y="2856687"/>
                  </a:cubicBezTo>
                  <a:lnTo>
                    <a:pt x="5370248" y="2990850"/>
                  </a:lnTo>
                  <a:lnTo>
                    <a:pt x="0" y="299085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7" name="任意形状 6"/>
            <p:cNvSpPr/>
            <p:nvPr/>
          </p:nvSpPr>
          <p:spPr>
            <a:xfrm flipH="1">
              <a:off x="5370248" y="3886200"/>
              <a:ext cx="5370248" cy="2990850"/>
            </a:xfrm>
            <a:custGeom>
              <a:avLst/>
              <a:gdLst>
                <a:gd name="connsiteX0" fmla="*/ 0 w 5370248"/>
                <a:gd name="connsiteY0" fmla="*/ 0 h 2990850"/>
                <a:gd name="connsiteX1" fmla="*/ 1447 w 5370248"/>
                <a:gd name="connsiteY1" fmla="*/ 0 h 2990850"/>
                <a:gd name="connsiteX2" fmla="*/ 15736 w 5370248"/>
                <a:gd name="connsiteY2" fmla="*/ 206637 h 2990850"/>
                <a:gd name="connsiteX3" fmla="*/ 3048000 w 5370248"/>
                <a:gd name="connsiteY3" fmla="*/ 2204789 h 2990850"/>
                <a:gd name="connsiteX4" fmla="*/ 5203262 w 5370248"/>
                <a:gd name="connsiteY4" fmla="*/ 2856687 h 2990850"/>
                <a:gd name="connsiteX5" fmla="*/ 5370248 w 5370248"/>
                <a:gd name="connsiteY5" fmla="*/ 2990850 h 2990850"/>
                <a:gd name="connsiteX6" fmla="*/ 0 w 5370248"/>
                <a:gd name="connsiteY6" fmla="*/ 2990850 h 2990850"/>
                <a:gd name="connsiteX7" fmla="*/ 0 w 5370248"/>
                <a:gd name="connsiteY7" fmla="*/ 0 h 299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0248" h="2990850">
                  <a:moveTo>
                    <a:pt x="0" y="0"/>
                  </a:moveTo>
                  <a:lnTo>
                    <a:pt x="1447" y="0"/>
                  </a:lnTo>
                  <a:lnTo>
                    <a:pt x="15736" y="206637"/>
                  </a:lnTo>
                  <a:cubicBezTo>
                    <a:pt x="171824" y="1328969"/>
                    <a:pt x="1469846" y="2204789"/>
                    <a:pt x="3048000" y="2204789"/>
                  </a:cubicBezTo>
                  <a:cubicBezTo>
                    <a:pt x="3889682" y="2204789"/>
                    <a:pt x="4651682" y="2453911"/>
                    <a:pt x="5203262" y="2856687"/>
                  </a:cubicBezTo>
                  <a:lnTo>
                    <a:pt x="5370248" y="2990850"/>
                  </a:lnTo>
                  <a:lnTo>
                    <a:pt x="0" y="299085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grpSp>
        <p:nvGrpSpPr>
          <p:cNvPr id="9" name="组合 8"/>
          <p:cNvGrpSpPr/>
          <p:nvPr/>
        </p:nvGrpSpPr>
        <p:grpSpPr>
          <a:xfrm>
            <a:off x="0" y="3291840"/>
            <a:ext cx="12192000" cy="3585209"/>
            <a:chOff x="0" y="3886200"/>
            <a:chExt cx="10740496" cy="2990850"/>
          </a:xfrm>
          <a:solidFill>
            <a:schemeClr val="accent1">
              <a:alpha val="14408"/>
            </a:schemeClr>
          </a:solidFill>
        </p:grpSpPr>
        <p:sp>
          <p:nvSpPr>
            <p:cNvPr id="10" name="任意形状 9"/>
            <p:cNvSpPr/>
            <p:nvPr/>
          </p:nvSpPr>
          <p:spPr>
            <a:xfrm>
              <a:off x="0" y="3886200"/>
              <a:ext cx="5370248" cy="2990850"/>
            </a:xfrm>
            <a:custGeom>
              <a:avLst/>
              <a:gdLst>
                <a:gd name="connsiteX0" fmla="*/ 0 w 5370248"/>
                <a:gd name="connsiteY0" fmla="*/ 0 h 2990850"/>
                <a:gd name="connsiteX1" fmla="*/ 1447 w 5370248"/>
                <a:gd name="connsiteY1" fmla="*/ 0 h 2990850"/>
                <a:gd name="connsiteX2" fmla="*/ 15736 w 5370248"/>
                <a:gd name="connsiteY2" fmla="*/ 206637 h 2990850"/>
                <a:gd name="connsiteX3" fmla="*/ 3048000 w 5370248"/>
                <a:gd name="connsiteY3" fmla="*/ 2204789 h 2990850"/>
                <a:gd name="connsiteX4" fmla="*/ 5203262 w 5370248"/>
                <a:gd name="connsiteY4" fmla="*/ 2856687 h 2990850"/>
                <a:gd name="connsiteX5" fmla="*/ 5370248 w 5370248"/>
                <a:gd name="connsiteY5" fmla="*/ 2990850 h 2990850"/>
                <a:gd name="connsiteX6" fmla="*/ 0 w 5370248"/>
                <a:gd name="connsiteY6" fmla="*/ 2990850 h 2990850"/>
                <a:gd name="connsiteX7" fmla="*/ 0 w 5370248"/>
                <a:gd name="connsiteY7" fmla="*/ 0 h 299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0248" h="2990850">
                  <a:moveTo>
                    <a:pt x="0" y="0"/>
                  </a:moveTo>
                  <a:lnTo>
                    <a:pt x="1447" y="0"/>
                  </a:lnTo>
                  <a:lnTo>
                    <a:pt x="15736" y="206637"/>
                  </a:lnTo>
                  <a:cubicBezTo>
                    <a:pt x="171824" y="1328969"/>
                    <a:pt x="1469846" y="2204789"/>
                    <a:pt x="3048000" y="2204789"/>
                  </a:cubicBezTo>
                  <a:cubicBezTo>
                    <a:pt x="3889682" y="2204789"/>
                    <a:pt x="4651682" y="2453911"/>
                    <a:pt x="5203262" y="2856687"/>
                  </a:cubicBezTo>
                  <a:lnTo>
                    <a:pt x="5370248" y="2990850"/>
                  </a:lnTo>
                  <a:lnTo>
                    <a:pt x="0" y="299085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1" name="任意形状 10"/>
            <p:cNvSpPr/>
            <p:nvPr/>
          </p:nvSpPr>
          <p:spPr>
            <a:xfrm flipH="1">
              <a:off x="5370248" y="3886200"/>
              <a:ext cx="5370248" cy="2990850"/>
            </a:xfrm>
            <a:custGeom>
              <a:avLst/>
              <a:gdLst>
                <a:gd name="connsiteX0" fmla="*/ 0 w 5370248"/>
                <a:gd name="connsiteY0" fmla="*/ 0 h 2990850"/>
                <a:gd name="connsiteX1" fmla="*/ 1447 w 5370248"/>
                <a:gd name="connsiteY1" fmla="*/ 0 h 2990850"/>
                <a:gd name="connsiteX2" fmla="*/ 15736 w 5370248"/>
                <a:gd name="connsiteY2" fmla="*/ 206637 h 2990850"/>
                <a:gd name="connsiteX3" fmla="*/ 3048000 w 5370248"/>
                <a:gd name="connsiteY3" fmla="*/ 2204789 h 2990850"/>
                <a:gd name="connsiteX4" fmla="*/ 5203262 w 5370248"/>
                <a:gd name="connsiteY4" fmla="*/ 2856687 h 2990850"/>
                <a:gd name="connsiteX5" fmla="*/ 5370248 w 5370248"/>
                <a:gd name="connsiteY5" fmla="*/ 2990850 h 2990850"/>
                <a:gd name="connsiteX6" fmla="*/ 0 w 5370248"/>
                <a:gd name="connsiteY6" fmla="*/ 2990850 h 2990850"/>
                <a:gd name="connsiteX7" fmla="*/ 0 w 5370248"/>
                <a:gd name="connsiteY7" fmla="*/ 0 h 299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0248" h="2990850">
                  <a:moveTo>
                    <a:pt x="0" y="0"/>
                  </a:moveTo>
                  <a:lnTo>
                    <a:pt x="1447" y="0"/>
                  </a:lnTo>
                  <a:lnTo>
                    <a:pt x="15736" y="206637"/>
                  </a:lnTo>
                  <a:cubicBezTo>
                    <a:pt x="171824" y="1328969"/>
                    <a:pt x="1469846" y="2204789"/>
                    <a:pt x="3048000" y="2204789"/>
                  </a:cubicBezTo>
                  <a:cubicBezTo>
                    <a:pt x="3889682" y="2204789"/>
                    <a:pt x="4651682" y="2453911"/>
                    <a:pt x="5203262" y="2856687"/>
                  </a:cubicBezTo>
                  <a:lnTo>
                    <a:pt x="5370248" y="2990850"/>
                  </a:lnTo>
                  <a:lnTo>
                    <a:pt x="0" y="299085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sp>
        <p:nvSpPr>
          <p:cNvPr id="13" name="任意形状 12"/>
          <p:cNvSpPr/>
          <p:nvPr/>
        </p:nvSpPr>
        <p:spPr>
          <a:xfrm>
            <a:off x="0" y="1733343"/>
            <a:ext cx="6096000" cy="5124657"/>
          </a:xfrm>
          <a:custGeom>
            <a:avLst/>
            <a:gdLst>
              <a:gd name="connsiteX0" fmla="*/ 0 w 5370248"/>
              <a:gd name="connsiteY0" fmla="*/ 0 h 2990850"/>
              <a:gd name="connsiteX1" fmla="*/ 1447 w 5370248"/>
              <a:gd name="connsiteY1" fmla="*/ 0 h 2990850"/>
              <a:gd name="connsiteX2" fmla="*/ 15736 w 5370248"/>
              <a:gd name="connsiteY2" fmla="*/ 206637 h 2990850"/>
              <a:gd name="connsiteX3" fmla="*/ 3048000 w 5370248"/>
              <a:gd name="connsiteY3" fmla="*/ 2204789 h 2990850"/>
              <a:gd name="connsiteX4" fmla="*/ 5203262 w 5370248"/>
              <a:gd name="connsiteY4" fmla="*/ 2856687 h 2990850"/>
              <a:gd name="connsiteX5" fmla="*/ 5370248 w 5370248"/>
              <a:gd name="connsiteY5" fmla="*/ 2990850 h 2990850"/>
              <a:gd name="connsiteX6" fmla="*/ 0 w 5370248"/>
              <a:gd name="connsiteY6" fmla="*/ 2990850 h 2990850"/>
              <a:gd name="connsiteX7" fmla="*/ 0 w 5370248"/>
              <a:gd name="connsiteY7" fmla="*/ 0 h 299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0248" h="2990850">
                <a:moveTo>
                  <a:pt x="0" y="0"/>
                </a:moveTo>
                <a:lnTo>
                  <a:pt x="1447" y="0"/>
                </a:lnTo>
                <a:lnTo>
                  <a:pt x="15736" y="206637"/>
                </a:lnTo>
                <a:cubicBezTo>
                  <a:pt x="171824" y="1328969"/>
                  <a:pt x="1469846" y="2204789"/>
                  <a:pt x="3048000" y="2204789"/>
                </a:cubicBezTo>
                <a:cubicBezTo>
                  <a:pt x="3889682" y="2204789"/>
                  <a:pt x="4651682" y="2453911"/>
                  <a:pt x="5203262" y="2856687"/>
                </a:cubicBezTo>
                <a:lnTo>
                  <a:pt x="5370248" y="2990850"/>
                </a:lnTo>
                <a:lnTo>
                  <a:pt x="0" y="2990850"/>
                </a:lnTo>
                <a:lnTo>
                  <a:pt x="0" y="0"/>
                </a:lnTo>
                <a:close/>
              </a:path>
            </a:pathLst>
          </a:custGeom>
          <a:solidFill>
            <a:schemeClr val="accent1">
              <a:alpha val="1440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4" name="任意形状 13"/>
          <p:cNvSpPr/>
          <p:nvPr/>
        </p:nvSpPr>
        <p:spPr>
          <a:xfrm flipH="1">
            <a:off x="6096000" y="1714294"/>
            <a:ext cx="6096000" cy="5124657"/>
          </a:xfrm>
          <a:custGeom>
            <a:avLst/>
            <a:gdLst>
              <a:gd name="connsiteX0" fmla="*/ 0 w 5370248"/>
              <a:gd name="connsiteY0" fmla="*/ 0 h 2990850"/>
              <a:gd name="connsiteX1" fmla="*/ 1447 w 5370248"/>
              <a:gd name="connsiteY1" fmla="*/ 0 h 2990850"/>
              <a:gd name="connsiteX2" fmla="*/ 15736 w 5370248"/>
              <a:gd name="connsiteY2" fmla="*/ 206637 h 2990850"/>
              <a:gd name="connsiteX3" fmla="*/ 3048000 w 5370248"/>
              <a:gd name="connsiteY3" fmla="*/ 2204789 h 2990850"/>
              <a:gd name="connsiteX4" fmla="*/ 5203262 w 5370248"/>
              <a:gd name="connsiteY4" fmla="*/ 2856687 h 2990850"/>
              <a:gd name="connsiteX5" fmla="*/ 5370248 w 5370248"/>
              <a:gd name="connsiteY5" fmla="*/ 2990850 h 2990850"/>
              <a:gd name="connsiteX6" fmla="*/ 0 w 5370248"/>
              <a:gd name="connsiteY6" fmla="*/ 2990850 h 2990850"/>
              <a:gd name="connsiteX7" fmla="*/ 0 w 5370248"/>
              <a:gd name="connsiteY7" fmla="*/ 0 h 299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0248" h="2990850">
                <a:moveTo>
                  <a:pt x="0" y="0"/>
                </a:moveTo>
                <a:lnTo>
                  <a:pt x="1447" y="0"/>
                </a:lnTo>
                <a:lnTo>
                  <a:pt x="15736" y="206637"/>
                </a:lnTo>
                <a:cubicBezTo>
                  <a:pt x="171824" y="1328969"/>
                  <a:pt x="1469846" y="2204789"/>
                  <a:pt x="3048000" y="2204789"/>
                </a:cubicBezTo>
                <a:cubicBezTo>
                  <a:pt x="3889682" y="2204789"/>
                  <a:pt x="4651682" y="2453911"/>
                  <a:pt x="5203262" y="2856687"/>
                </a:cubicBezTo>
                <a:lnTo>
                  <a:pt x="5370248" y="2990850"/>
                </a:lnTo>
                <a:lnTo>
                  <a:pt x="0" y="2990850"/>
                </a:lnTo>
                <a:lnTo>
                  <a:pt x="0" y="0"/>
                </a:lnTo>
                <a:close/>
              </a:path>
            </a:pathLst>
          </a:custGeom>
          <a:solidFill>
            <a:schemeClr val="accent1">
              <a:alpha val="1440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5" name="文本框 14"/>
          <p:cNvSpPr txBox="1"/>
          <p:nvPr/>
        </p:nvSpPr>
        <p:spPr>
          <a:xfrm>
            <a:off x="985567" y="2108143"/>
            <a:ext cx="10473130" cy="1631216"/>
          </a:xfrm>
          <a:prstGeom prst="rect">
            <a:avLst/>
          </a:prstGeom>
          <a:noFill/>
        </p:spPr>
        <p:txBody>
          <a:bodyPr wrap="square" rtlCol="0">
            <a:spAutoFit/>
          </a:bodyPr>
          <a:lstStyle/>
          <a:p>
            <a:pPr algn="ctr">
              <a:lnSpc>
                <a:spcPts val="4000"/>
              </a:lnSpc>
            </a:pPr>
            <a:r>
              <a:rPr kumimoji="1" lang="en-US" altLang="zh-CN" sz="3600" b="1" spc="300" dirty="0">
                <a:solidFill>
                  <a:schemeClr val="accent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Text-driven Image Style Transfer:</a:t>
            </a:r>
          </a:p>
          <a:p>
            <a:pPr algn="ctr">
              <a:lnSpc>
                <a:spcPts val="4000"/>
              </a:lnSpc>
            </a:pPr>
            <a:r>
              <a:rPr kumimoji="1" lang="en-US" altLang="zh-CN" sz="3600" b="1" spc="300" dirty="0">
                <a:solidFill>
                  <a:schemeClr val="accent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Achieving Visual Manipulation through Stable diffusion, PTP, and NTI</a:t>
            </a:r>
          </a:p>
        </p:txBody>
      </p:sp>
      <p:sp>
        <p:nvSpPr>
          <p:cNvPr id="18" name="文本框 17"/>
          <p:cNvSpPr txBox="1"/>
          <p:nvPr/>
        </p:nvSpPr>
        <p:spPr>
          <a:xfrm>
            <a:off x="3848100" y="4574760"/>
            <a:ext cx="4495800" cy="707886"/>
          </a:xfrm>
          <a:prstGeom prst="rect">
            <a:avLst/>
          </a:prstGeom>
          <a:noFill/>
        </p:spPr>
        <p:txBody>
          <a:bodyPr wrap="square" rtlCol="0">
            <a:spAutoFit/>
          </a:bodyPr>
          <a:lstStyle/>
          <a:p>
            <a:pPr algn="ctr"/>
            <a:r>
              <a:rPr lang="en-US" altLang="zh-CN" sz="2000" dirty="0">
                <a:solidFill>
                  <a:schemeClr val="accent3">
                    <a:lumMod val="50000"/>
                  </a:schemeClr>
                </a:solidFill>
                <a:latin typeface="Times New Roman" panose="02020603050405020304" pitchFamily="18" charset="0"/>
                <a:cs typeface="Times New Roman" panose="02020603050405020304" pitchFamily="18" charset="0"/>
              </a:rPr>
              <a:t>Zhang Xiting, Guo Jiawei, </a:t>
            </a:r>
          </a:p>
          <a:p>
            <a:pPr algn="ctr"/>
            <a:r>
              <a:rPr lang="en-US" altLang="zh-CN" sz="2000" dirty="0">
                <a:solidFill>
                  <a:schemeClr val="accent3">
                    <a:lumMod val="50000"/>
                  </a:schemeClr>
                </a:solidFill>
                <a:latin typeface="Times New Roman" panose="02020603050405020304" pitchFamily="18" charset="0"/>
                <a:cs typeface="Times New Roman" panose="02020603050405020304" pitchFamily="18" charset="0"/>
              </a:rPr>
              <a:t>Wang Xiaoye, Lu Siyuan</a:t>
            </a:r>
            <a:endParaRPr kumimoji="1" lang="en-US" altLang="zh-CN" sz="2000" spc="120" dirty="0">
              <a:solidFill>
                <a:schemeClr val="accent3">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文本框 18"/>
          <p:cNvSpPr txBox="1"/>
          <p:nvPr/>
        </p:nvSpPr>
        <p:spPr>
          <a:xfrm>
            <a:off x="5379720" y="5419741"/>
            <a:ext cx="1432560" cy="398780"/>
          </a:xfrm>
          <a:prstGeom prst="rect">
            <a:avLst/>
          </a:prstGeom>
          <a:noFill/>
        </p:spPr>
        <p:txBody>
          <a:bodyPr wrap="square" rtlCol="0">
            <a:spAutoFit/>
          </a:bodyPr>
          <a:lstStyle/>
          <a:p>
            <a:pPr algn="ctr"/>
            <a:r>
              <a:rPr kumimoji="1" lang="en-US" sz="2000" spc="120" dirty="0">
                <a:solidFill>
                  <a:schemeClr val="accent3">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2026.5.5</a:t>
            </a:r>
          </a:p>
        </p:txBody>
      </p:sp>
      <p:pic>
        <p:nvPicPr>
          <p:cNvPr id="2" name="图片 1"/>
          <p:cNvPicPr>
            <a:picLocks noChangeAspect="1"/>
          </p:cNvPicPr>
          <p:nvPr/>
        </p:nvPicPr>
        <p:blipFill>
          <a:blip r:embed="rId2"/>
          <a:stretch>
            <a:fillRect/>
          </a:stretch>
        </p:blipFill>
        <p:spPr>
          <a:xfrm>
            <a:off x="4000878" y="671127"/>
            <a:ext cx="4190244" cy="874816"/>
          </a:xfrm>
          <a:prstGeom prst="rect">
            <a:avLst/>
          </a:prstGeom>
        </p:spPr>
      </p:pic>
      <p:sp>
        <p:nvSpPr>
          <p:cNvPr id="3" name="灯片编号占位符 2">
            <a:extLst>
              <a:ext uri="{FF2B5EF4-FFF2-40B4-BE49-F238E27FC236}">
                <a16:creationId xmlns:a16="http://schemas.microsoft.com/office/drawing/2014/main" id="{932F1A72-7CFE-858B-FB46-E37E68D10A45}"/>
              </a:ext>
            </a:extLst>
          </p:cNvPr>
          <p:cNvSpPr>
            <a:spLocks noGrp="1"/>
          </p:cNvSpPr>
          <p:nvPr>
            <p:ph type="sldNum" sz="quarter" idx="12"/>
          </p:nvPr>
        </p:nvSpPr>
        <p:spPr/>
        <p:txBody>
          <a:bodyPr/>
          <a:lstStyle/>
          <a:p>
            <a:fld id="{E6518835-16E6-9244-9C02-6BFB876E5D3C}" type="slidenum">
              <a:rPr kumimoji="1" lang="zh-CN" altLang="en-US" smtClean="0"/>
              <a:t>1</a:t>
            </a:fld>
            <a:endParaRPr kumimoji="1"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49275" y="586740"/>
            <a:ext cx="1961515" cy="5683885"/>
          </a:xfrm>
          <a:prstGeom prst="rect">
            <a:avLst/>
          </a:prstGeom>
          <a:noFill/>
          <a:ln>
            <a:noFill/>
          </a:ln>
        </p:spPr>
        <p:txBody>
          <a:bodyPr vert="eaVert" wrap="square" rtlCol="0">
            <a:noAutofit/>
          </a:bodyPr>
          <a:lstStyle/>
          <a:p>
            <a:pPr algn="ctr"/>
            <a:r>
              <a:rPr lang="en-US" altLang="zh-CN" sz="8800" kern="1900" spc="250" dirty="0">
                <a:solidFill>
                  <a:srgbClr val="006BC0">
                    <a:alpha val="61000"/>
                  </a:srgbClr>
                </a:solidFill>
                <a:latin typeface="Times New Roman Regular" panose="02020503050405090304" charset="0"/>
                <a:ea typeface="微软雅黑" panose="020B0503020204020204" pitchFamily="34" charset="-122"/>
                <a:cs typeface="Times New Roman Regular" panose="02020503050405090304" charset="0"/>
              </a:rPr>
              <a:t>CONTENT</a:t>
            </a:r>
          </a:p>
        </p:txBody>
      </p:sp>
      <p:cxnSp>
        <p:nvCxnSpPr>
          <p:cNvPr id="4" name="Straight Connector 3"/>
          <p:cNvCxnSpPr/>
          <p:nvPr/>
        </p:nvCxnSpPr>
        <p:spPr>
          <a:xfrm>
            <a:off x="4019269" y="668286"/>
            <a:ext cx="0" cy="5459254"/>
          </a:xfrm>
          <a:prstGeom prst="line">
            <a:avLst/>
          </a:prstGeom>
          <a:noFill/>
          <a:ln w="28575" cap="flat" cmpd="sng" algn="ctr">
            <a:solidFill>
              <a:schemeClr val="accent1"/>
            </a:solidFill>
            <a:prstDash val="dash"/>
          </a:ln>
          <a:effectLst/>
        </p:spPr>
      </p:cxnSp>
      <p:grpSp>
        <p:nvGrpSpPr>
          <p:cNvPr id="9" name="组合 8"/>
          <p:cNvGrpSpPr/>
          <p:nvPr/>
        </p:nvGrpSpPr>
        <p:grpSpPr>
          <a:xfrm>
            <a:off x="5151755" y="1253490"/>
            <a:ext cx="6560185" cy="4190365"/>
            <a:chOff x="8113" y="1259"/>
            <a:chExt cx="10331" cy="6599"/>
          </a:xfrm>
        </p:grpSpPr>
        <p:sp>
          <p:nvSpPr>
            <p:cNvPr id="29" name="矩形 28"/>
            <p:cNvSpPr/>
            <p:nvPr/>
          </p:nvSpPr>
          <p:spPr>
            <a:xfrm>
              <a:off x="8113" y="6706"/>
              <a:ext cx="1317" cy="1152"/>
            </a:xfrm>
            <a:prstGeom prst="rect">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a:t>
              </a:r>
              <a:r>
                <a:rPr lang="en-US" altLang="zh-CN" sz="3600" b="1" kern="0" dirty="0">
                  <a:solidFill>
                    <a:prstClr val="white"/>
                  </a:solidFill>
                  <a:latin typeface="微软雅黑" panose="020B0503020204020204" pitchFamily="34" charset="-122"/>
                  <a:ea typeface="微软雅黑" panose="020B0503020204020204" pitchFamily="34" charset="-122"/>
                </a:rPr>
                <a:t>4</a:t>
              </a:r>
              <a:endParaRPr kumimoji="0" lang="zh-CN" altLang="en-US"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p:nvGrpSpPr>
          <p:grpSpPr>
            <a:xfrm>
              <a:off x="8113" y="1259"/>
              <a:ext cx="10331" cy="6366"/>
              <a:chOff x="8113" y="1259"/>
              <a:chExt cx="10331" cy="6366"/>
            </a:xfrm>
          </p:grpSpPr>
          <p:sp>
            <p:nvSpPr>
              <p:cNvPr id="30" name="文本框 29"/>
              <p:cNvSpPr txBox="1"/>
              <p:nvPr/>
            </p:nvSpPr>
            <p:spPr>
              <a:xfrm>
                <a:off x="9687" y="1352"/>
                <a:ext cx="8757" cy="91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1" i="0" u="none" strike="noStrike" kern="0" cap="none"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Background &amp; Significance</a:t>
                </a:r>
              </a:p>
            </p:txBody>
          </p:sp>
          <p:sp>
            <p:nvSpPr>
              <p:cNvPr id="31" name="矩形 30"/>
              <p:cNvSpPr/>
              <p:nvPr/>
            </p:nvSpPr>
            <p:spPr>
              <a:xfrm>
                <a:off x="8113" y="1259"/>
                <a:ext cx="1317" cy="1152"/>
              </a:xfrm>
              <a:prstGeom prst="rect">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zh-CN" altLang="en-US"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7" name="组合 6"/>
              <p:cNvGrpSpPr/>
              <p:nvPr/>
            </p:nvGrpSpPr>
            <p:grpSpPr>
              <a:xfrm>
                <a:off x="8113" y="3075"/>
                <a:ext cx="9299" cy="4550"/>
                <a:chOff x="8113" y="3075"/>
                <a:chExt cx="9299" cy="4550"/>
              </a:xfrm>
            </p:grpSpPr>
            <p:sp>
              <p:nvSpPr>
                <p:cNvPr id="26" name="文本框 25"/>
                <p:cNvSpPr txBox="1"/>
                <p:nvPr/>
              </p:nvSpPr>
              <p:spPr>
                <a:xfrm>
                  <a:off x="9687" y="4890"/>
                  <a:ext cx="5735" cy="91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1" i="0" u="none" strike="noStrike" kern="0" cap="none"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Methods</a:t>
                  </a:r>
                </a:p>
              </p:txBody>
            </p:sp>
            <p:sp>
              <p:nvSpPr>
                <p:cNvPr id="27" name="矩形 26"/>
                <p:cNvSpPr/>
                <p:nvPr/>
              </p:nvSpPr>
              <p:spPr>
                <a:xfrm>
                  <a:off x="8113" y="3075"/>
                  <a:ext cx="1317" cy="1152"/>
                </a:xfrm>
                <a:prstGeom prst="rect">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6" name="组合 5"/>
                <p:cNvGrpSpPr/>
                <p:nvPr/>
              </p:nvGrpSpPr>
              <p:grpSpPr>
                <a:xfrm>
                  <a:off x="8113" y="4890"/>
                  <a:ext cx="9299" cy="2735"/>
                  <a:chOff x="8113" y="4890"/>
                  <a:chExt cx="9299" cy="2735"/>
                </a:xfrm>
              </p:grpSpPr>
              <p:sp>
                <p:nvSpPr>
                  <p:cNvPr id="22" name="文本框 21"/>
                  <p:cNvSpPr txBox="1"/>
                  <p:nvPr/>
                </p:nvSpPr>
                <p:spPr>
                  <a:xfrm>
                    <a:off x="9687" y="6706"/>
                    <a:ext cx="7725" cy="91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1" i="0" u="none" strike="noStrike" kern="0" cap="none"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Results</a:t>
                    </a:r>
                  </a:p>
                </p:txBody>
              </p:sp>
              <p:sp>
                <p:nvSpPr>
                  <p:cNvPr id="23" name="矩形 22"/>
                  <p:cNvSpPr/>
                  <p:nvPr/>
                </p:nvSpPr>
                <p:spPr>
                  <a:xfrm>
                    <a:off x="8113" y="4890"/>
                    <a:ext cx="1317" cy="1152"/>
                  </a:xfrm>
                  <a:prstGeom prst="rect">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grpSp>
      <p:sp>
        <p:nvSpPr>
          <p:cNvPr id="21" name="标题 1"/>
          <p:cNvSpPr txBox="1"/>
          <p:nvPr/>
        </p:nvSpPr>
        <p:spPr>
          <a:xfrm>
            <a:off x="2074413" y="2237372"/>
            <a:ext cx="1084799" cy="2103956"/>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zh-CN" altLang="en-US" sz="66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2"/>
          <a:stretch>
            <a:fillRect/>
          </a:stretch>
        </p:blipFill>
        <p:spPr>
          <a:xfrm>
            <a:off x="9763408" y="246211"/>
            <a:ext cx="2140889" cy="446963"/>
          </a:xfrm>
          <a:prstGeom prst="rect">
            <a:avLst/>
          </a:prstGeom>
        </p:spPr>
      </p:pic>
      <p:sp>
        <p:nvSpPr>
          <p:cNvPr id="10" name="文本框 9"/>
          <p:cNvSpPr txBox="1"/>
          <p:nvPr/>
        </p:nvSpPr>
        <p:spPr>
          <a:xfrm>
            <a:off x="6151245" y="2499360"/>
            <a:ext cx="3641725" cy="5835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1" i="0" u="none" strike="noStrike" kern="0" cap="none"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Framework</a:t>
            </a:r>
          </a:p>
        </p:txBody>
      </p:sp>
      <p:sp>
        <p:nvSpPr>
          <p:cNvPr id="5" name="灯片编号占位符 4">
            <a:extLst>
              <a:ext uri="{FF2B5EF4-FFF2-40B4-BE49-F238E27FC236}">
                <a16:creationId xmlns:a16="http://schemas.microsoft.com/office/drawing/2014/main" id="{F3D3D382-505A-9FC2-EC92-E261AD66C163}"/>
              </a:ext>
            </a:extLst>
          </p:cNvPr>
          <p:cNvSpPr>
            <a:spLocks noGrp="1"/>
          </p:cNvSpPr>
          <p:nvPr>
            <p:ph type="sldNum" sz="quarter" idx="12"/>
          </p:nvPr>
        </p:nvSpPr>
        <p:spPr/>
        <p:txBody>
          <a:bodyPr/>
          <a:lstStyle/>
          <a:p>
            <a:fld id="{E6518835-16E6-9244-9C02-6BFB876E5D3C}" type="slidenum">
              <a:rPr kumimoji="1" lang="zh-CN" altLang="en-US" smtClean="0"/>
              <a:t>2</a:t>
            </a:fld>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p:cNvSpPr/>
          <p:nvPr/>
        </p:nvSpPr>
        <p:spPr>
          <a:xfrm>
            <a:off x="2559050" y="0"/>
            <a:ext cx="2011680"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3" name="组合 12"/>
          <p:cNvGrpSpPr/>
          <p:nvPr/>
        </p:nvGrpSpPr>
        <p:grpSpPr>
          <a:xfrm>
            <a:off x="370072" y="219176"/>
            <a:ext cx="2150839" cy="449040"/>
            <a:chOff x="2085654" y="644950"/>
            <a:chExt cx="7772400" cy="1622679"/>
          </a:xfrm>
        </p:grpSpPr>
        <p:pic>
          <p:nvPicPr>
            <p:cNvPr id="41" name="图片 40"/>
            <p:cNvPicPr>
              <a:picLocks noChangeAspect="1"/>
            </p:cNvPicPr>
            <p:nvPr/>
          </p:nvPicPr>
          <p:blipFill rotWithShape="1">
            <a:blip r:embed="rId3"/>
            <a:srcRect r="78982"/>
            <a:stretch>
              <a:fillRect/>
            </a:stretch>
          </p:blipFill>
          <p:spPr>
            <a:xfrm>
              <a:off x="2085654" y="644950"/>
              <a:ext cx="1633591" cy="1622679"/>
            </a:xfrm>
            <a:prstGeom prst="rect">
              <a:avLst/>
            </a:prstGeom>
          </p:spPr>
        </p:pic>
        <p:pic>
          <p:nvPicPr>
            <p:cNvPr id="42" name="图片 41"/>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Lst>
            </a:blip>
            <a:srcRect l="23530"/>
            <a:stretch>
              <a:fillRect/>
            </a:stretch>
          </p:blipFill>
          <p:spPr>
            <a:xfrm>
              <a:off x="3914454" y="644950"/>
              <a:ext cx="5943600" cy="1622679"/>
            </a:xfrm>
            <a:prstGeom prst="rect">
              <a:avLst/>
            </a:prstGeom>
          </p:spPr>
        </p:pic>
      </p:grpSp>
      <p:cxnSp>
        <p:nvCxnSpPr>
          <p:cNvPr id="8" name="PA-直接连接符 17"/>
          <p:cNvCxnSpPr/>
          <p:nvPr>
            <p:custDataLst>
              <p:tags r:id="rId1"/>
            </p:custDataLst>
          </p:nvPr>
        </p:nvCxnSpPr>
        <p:spPr>
          <a:xfrm flipV="1">
            <a:off x="6095893" y="844006"/>
            <a:ext cx="0" cy="308356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48" name="文本框 47"/>
          <p:cNvSpPr txBox="1"/>
          <p:nvPr/>
        </p:nvSpPr>
        <p:spPr>
          <a:xfrm>
            <a:off x="314960" y="1275715"/>
            <a:ext cx="5262880" cy="2216150"/>
          </a:xfrm>
          <a:prstGeom prst="rect">
            <a:avLst/>
          </a:prstGeom>
          <a:noFill/>
        </p:spPr>
        <p:txBody>
          <a:bodyPr wrap="square" rtlCol="0">
            <a:noAutofit/>
          </a:bodyPr>
          <a:lstStyle/>
          <a:p>
            <a:r>
              <a:rPr lang="en-US" altLang="zh-CN" dirty="0">
                <a:latin typeface="Times New Roman" panose="02020603050405020304" pitchFamily="18" charset="0"/>
                <a:cs typeface="Times New Roman" panose="02020603050405020304" pitchFamily="18" charset="0"/>
                <a:sym typeface="+mn-ea"/>
              </a:rPr>
              <a:t>In recent years, the advancements in generative models like Stable Diffusion have revolutionized how we create images based on textual descriptions. </a:t>
            </a:r>
            <a:endParaRPr lang="en-US" altLang="zh-CN" dirty="0">
              <a:latin typeface="Times New Roman" panose="02020603050405020304" pitchFamily="18" charset="0"/>
              <a:cs typeface="Times New Roman" panose="02020603050405020304" pitchFamily="18" charset="0"/>
            </a:endParaRPr>
          </a:p>
          <a:p>
            <a:endParaRPr lang="en-US" altLang="zh-CN" sz="24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Current Limitations: </a:t>
            </a:r>
          </a:p>
          <a:p>
            <a:r>
              <a:rPr lang="en-US" altLang="zh-CN" dirty="0">
                <a:latin typeface="Times New Roman" panose="02020603050405020304" pitchFamily="18" charset="0"/>
                <a:cs typeface="Times New Roman" panose="02020603050405020304" pitchFamily="18" charset="0"/>
              </a:rPr>
              <a:t>Fail to maintain the original structure and details.</a:t>
            </a:r>
          </a:p>
        </p:txBody>
      </p:sp>
      <p:sp>
        <p:nvSpPr>
          <p:cNvPr id="49" name="文本框 48"/>
          <p:cNvSpPr txBox="1"/>
          <p:nvPr/>
        </p:nvSpPr>
        <p:spPr>
          <a:xfrm>
            <a:off x="6431915" y="1106805"/>
            <a:ext cx="5141595" cy="233807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sym typeface="+mn-ea"/>
              </a:rPr>
              <a:t>Significance:</a:t>
            </a:r>
            <a:endParaRPr lang="en-US" altLang="zh-CN" sz="2000" b="1"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sym typeface="+mn-ea"/>
              </a:rPr>
              <a:t>This research contributes significantly by:</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sym typeface="+mn-ea"/>
              </a:rPr>
              <a:t>1. Offering a novel solution for controlled image editing, which can be applied in various fields including digital art, advertising, and personalized content creation.</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sym typeface="+mn-ea"/>
              </a:rPr>
              <a:t>2. Providing a robust framework for future innovations in text-driven image editing.</a:t>
            </a:r>
          </a:p>
        </p:txBody>
      </p:sp>
      <p:grpSp>
        <p:nvGrpSpPr>
          <p:cNvPr id="16" name="组合 15"/>
          <p:cNvGrpSpPr/>
          <p:nvPr/>
        </p:nvGrpSpPr>
        <p:grpSpPr>
          <a:xfrm>
            <a:off x="1992630" y="104140"/>
            <a:ext cx="9679940" cy="891540"/>
            <a:chOff x="3138" y="164"/>
            <a:chExt cx="15244" cy="1404"/>
          </a:xfrm>
        </p:grpSpPr>
        <p:grpSp>
          <p:nvGrpSpPr>
            <p:cNvPr id="12" name="组合 11"/>
            <p:cNvGrpSpPr/>
            <p:nvPr/>
          </p:nvGrpSpPr>
          <p:grpSpPr>
            <a:xfrm>
              <a:off x="3138" y="164"/>
              <a:ext cx="15244" cy="1404"/>
              <a:chOff x="3126" y="180"/>
              <a:chExt cx="15244" cy="1404"/>
            </a:xfrm>
          </p:grpSpPr>
          <p:sp>
            <p:nvSpPr>
              <p:cNvPr id="44" name="文本框 43"/>
              <p:cNvSpPr txBox="1"/>
              <p:nvPr/>
            </p:nvSpPr>
            <p:spPr>
              <a:xfrm>
                <a:off x="12210" y="345"/>
                <a:ext cx="2734" cy="825"/>
              </a:xfrm>
              <a:prstGeom prst="rect">
                <a:avLst/>
              </a:prstGeom>
              <a:noFill/>
            </p:spPr>
            <p:txBody>
              <a:bodyPr vert="horz" wrap="none" rtlCol="0">
                <a:noAutofit/>
              </a:bodyPr>
              <a:lstStyle/>
              <a:p>
                <a:pPr algn="ctr"/>
                <a:r>
                  <a:rPr kumimoji="1" lang="en-US" altLang="zh-CN" sz="2000" b="1" spc="300" dirty="0">
                    <a:solidFill>
                      <a:schemeClr val="bg1"/>
                    </a:solidFill>
                    <a:latin typeface="Times New Roman Regular" panose="02020503050405090304" charset="0"/>
                    <a:ea typeface="微软雅黑" panose="020B0503020204020204" pitchFamily="34" charset="-122"/>
                    <a:cs typeface="Times New Roman Regular" panose="02020503050405090304" charset="0"/>
                  </a:rPr>
                  <a:t>Methods</a:t>
                </a:r>
              </a:p>
            </p:txBody>
          </p:sp>
          <p:sp>
            <p:nvSpPr>
              <p:cNvPr id="45" name="文本框 44"/>
              <p:cNvSpPr txBox="1"/>
              <p:nvPr/>
            </p:nvSpPr>
            <p:spPr>
              <a:xfrm>
                <a:off x="16222" y="350"/>
                <a:ext cx="2148" cy="630"/>
              </a:xfrm>
              <a:prstGeom prst="rect">
                <a:avLst/>
              </a:prstGeom>
              <a:noFill/>
            </p:spPr>
            <p:txBody>
              <a:bodyPr vert="horz" wrap="square" rtlCol="0">
                <a:spAutoFit/>
              </a:bodyPr>
              <a:lstStyle/>
              <a:p>
                <a:pPr algn="ctr"/>
                <a:r>
                  <a:rPr kumimoji="1" lang="en-US" altLang="zh-CN" sz="2000" b="1" spc="300" dirty="0">
                    <a:solidFill>
                      <a:schemeClr val="bg1"/>
                    </a:solidFill>
                    <a:latin typeface="Times New Roman Regular" panose="02020503050405090304" charset="0"/>
                    <a:ea typeface="微软雅黑" panose="020B0503020204020204" pitchFamily="34" charset="-122"/>
                    <a:cs typeface="Times New Roman Regular" panose="02020503050405090304" charset="0"/>
                  </a:rPr>
                  <a:t>Results</a:t>
                </a:r>
              </a:p>
            </p:txBody>
          </p:sp>
          <p:sp>
            <p:nvSpPr>
              <p:cNvPr id="46" name="文本框 45"/>
              <p:cNvSpPr txBox="1"/>
              <p:nvPr/>
            </p:nvSpPr>
            <p:spPr>
              <a:xfrm>
                <a:off x="3126" y="180"/>
                <a:ext cx="4785" cy="1404"/>
              </a:xfrm>
              <a:prstGeom prst="rect">
                <a:avLst/>
              </a:prstGeom>
              <a:noFill/>
            </p:spPr>
            <p:txBody>
              <a:bodyPr vert="horz" wrap="square" rtlCol="0">
                <a:spAutoFit/>
              </a:bodyPr>
              <a:lstStyle/>
              <a:p>
                <a:pPr algn="ctr"/>
                <a:r>
                  <a:rPr kumimoji="1" lang="en-US" altLang="zh-CN" b="1" spc="300" dirty="0">
                    <a:solidFill>
                      <a:srgbClr val="006BC0"/>
                    </a:solidFill>
                    <a:latin typeface="Times New Roman Bold" panose="02020503050405090304" charset="0"/>
                    <a:ea typeface="微软雅黑" panose="020B0503020204020204" pitchFamily="34" charset="-122"/>
                    <a:cs typeface="Times New Roman Bold" panose="02020503050405090304" charset="0"/>
                  </a:rPr>
                  <a:t>Background </a:t>
                </a:r>
              </a:p>
              <a:p>
                <a:pPr algn="ctr"/>
                <a:r>
                  <a:rPr kumimoji="1" lang="en-US" altLang="zh-CN" b="1" spc="300" dirty="0">
                    <a:solidFill>
                      <a:srgbClr val="006BC0"/>
                    </a:solidFill>
                    <a:latin typeface="Times New Roman Bold" panose="02020503050405090304" charset="0"/>
                    <a:ea typeface="微软雅黑" panose="020B0503020204020204" pitchFamily="34" charset="-122"/>
                    <a:cs typeface="Times New Roman Bold" panose="02020503050405090304" charset="0"/>
                  </a:rPr>
                  <a:t>&amp; Significance</a:t>
                </a:r>
                <a:endParaRPr kumimoji="1" lang="en-US" altLang="zh-CN" sz="1600" b="1" spc="300" dirty="0">
                  <a:solidFill>
                    <a:srgbClr val="006BC0"/>
                  </a:solidFill>
                  <a:latin typeface="Times New Roman Bold" panose="02020503050405090304" charset="0"/>
                  <a:ea typeface="微软雅黑" panose="020B0503020204020204" pitchFamily="34" charset="-122"/>
                  <a:cs typeface="Times New Roman Bold" panose="02020503050405090304" charset="0"/>
                </a:endParaRPr>
              </a:p>
              <a:p>
                <a:pPr algn="ctr"/>
                <a:endParaRPr kumimoji="1" lang="en-US" altLang="zh-CN" sz="1600" b="1" spc="300" dirty="0">
                  <a:solidFill>
                    <a:srgbClr val="006BC0"/>
                  </a:solidFill>
                  <a:latin typeface="Times New Roman Bold" panose="02020503050405090304" charset="0"/>
                  <a:ea typeface="微软雅黑" panose="020B0503020204020204" pitchFamily="34" charset="-122"/>
                  <a:cs typeface="Times New Roman Bold" panose="02020503050405090304" charset="0"/>
                </a:endParaRPr>
              </a:p>
            </p:txBody>
          </p:sp>
        </p:grpSp>
        <p:sp>
          <p:nvSpPr>
            <p:cNvPr id="2" name="文本框 1"/>
            <p:cNvSpPr txBox="1"/>
            <p:nvPr/>
          </p:nvSpPr>
          <p:spPr>
            <a:xfrm>
              <a:off x="8242" y="324"/>
              <a:ext cx="2878" cy="630"/>
            </a:xfrm>
            <a:prstGeom prst="rect">
              <a:avLst/>
            </a:prstGeom>
            <a:noFill/>
          </p:spPr>
          <p:txBody>
            <a:bodyPr vert="horz" wrap="none" rtlCol="0">
              <a:spAutoFit/>
            </a:bodyPr>
            <a:lstStyle/>
            <a:p>
              <a:pPr algn="ctr"/>
              <a:r>
                <a:rPr kumimoji="1" lang="en-US" altLang="zh-CN" sz="2000" b="1" spc="300" dirty="0">
                  <a:solidFill>
                    <a:schemeClr val="bg1"/>
                  </a:solidFill>
                  <a:latin typeface="Times New Roman" panose="02020503050405090304" charset="0"/>
                  <a:ea typeface="微软雅黑" panose="020B0503020204020204" pitchFamily="34" charset="-122"/>
                  <a:cs typeface="Times New Roman" panose="02020503050405090304" charset="0"/>
                </a:rPr>
                <a:t>Framework</a:t>
              </a:r>
            </a:p>
          </p:txBody>
        </p:sp>
      </p:grpSp>
      <p:pic>
        <p:nvPicPr>
          <p:cNvPr id="9" name="图片 8" descr="b8612abbd51c48"/>
          <p:cNvPicPr>
            <a:picLocks noChangeAspect="1"/>
          </p:cNvPicPr>
          <p:nvPr/>
        </p:nvPicPr>
        <p:blipFill>
          <a:blip r:embed="rId6"/>
          <a:stretch>
            <a:fillRect/>
          </a:stretch>
        </p:blipFill>
        <p:spPr>
          <a:xfrm>
            <a:off x="3197225" y="4578985"/>
            <a:ext cx="2085975" cy="2085975"/>
          </a:xfrm>
          <a:prstGeom prst="rect">
            <a:avLst/>
          </a:prstGeom>
        </p:spPr>
      </p:pic>
      <p:pic>
        <p:nvPicPr>
          <p:cNvPr id="3" name="图片 2" descr="/Users/lusiyuan/Library/Containers/com.kingsoft.wpsoffice.mac/Data/tmp/picturecompress_20260302232500/output_1.pngoutput_1"/>
          <p:cNvPicPr>
            <a:picLocks noChangeAspect="1"/>
          </p:cNvPicPr>
          <p:nvPr/>
        </p:nvPicPr>
        <p:blipFill>
          <a:blip r:embed="rId7"/>
          <a:stretch>
            <a:fillRect/>
          </a:stretch>
        </p:blipFill>
        <p:spPr>
          <a:xfrm>
            <a:off x="7223760" y="4554220"/>
            <a:ext cx="2099310" cy="2099310"/>
          </a:xfrm>
          <a:prstGeom prst="rect">
            <a:avLst/>
          </a:prstGeom>
        </p:spPr>
      </p:pic>
      <p:grpSp>
        <p:nvGrpSpPr>
          <p:cNvPr id="15" name="组合 14"/>
          <p:cNvGrpSpPr/>
          <p:nvPr/>
        </p:nvGrpSpPr>
        <p:grpSpPr>
          <a:xfrm>
            <a:off x="3392170" y="3923030"/>
            <a:ext cx="5745480" cy="523240"/>
            <a:chOff x="1380" y="1921"/>
            <a:chExt cx="9048" cy="824"/>
          </a:xfrm>
        </p:grpSpPr>
        <p:sp>
          <p:nvSpPr>
            <p:cNvPr id="5" name="文本框 4"/>
            <p:cNvSpPr txBox="1"/>
            <p:nvPr/>
          </p:nvSpPr>
          <p:spPr>
            <a:xfrm>
              <a:off x="2139" y="2117"/>
              <a:ext cx="8289" cy="628"/>
            </a:xfrm>
            <a:prstGeom prst="rect">
              <a:avLst/>
            </a:prstGeom>
            <a:noFill/>
          </p:spPr>
          <p:txBody>
            <a:bodyPr wrap="square" rtlCol="0">
              <a:spAutoFit/>
            </a:bodyPr>
            <a:lstStyle/>
            <a:p>
              <a:r>
                <a:rPr lang="en-US" altLang="zh-CN" sz="2000">
                  <a:latin typeface="Times New Roman" panose="02020503050405090304" charset="0"/>
                  <a:cs typeface="Times New Roman" panose="02020503050405090304" charset="0"/>
                </a:rPr>
                <a:t> “Turn this picture into an oil painting style.”</a:t>
              </a:r>
            </a:p>
          </p:txBody>
        </p:sp>
        <p:sp>
          <p:nvSpPr>
            <p:cNvPr id="11" name="文本框 10"/>
            <p:cNvSpPr txBox="1"/>
            <p:nvPr/>
          </p:nvSpPr>
          <p:spPr>
            <a:xfrm>
              <a:off x="1380" y="1921"/>
              <a:ext cx="1285" cy="824"/>
            </a:xfrm>
            <a:prstGeom prst="rect">
              <a:avLst/>
            </a:prstGeom>
            <a:noFill/>
          </p:spPr>
          <p:txBody>
            <a:bodyPr wrap="square" rtlCol="0">
              <a:noAutofit/>
            </a:bodyPr>
            <a:lstStyle/>
            <a:p>
              <a:r>
                <a:rPr lang="zh-CN" altLang="en-US" sz="3600">
                  <a:latin typeface="Times New Roman" panose="02020503050405090304" charset="0"/>
                  <a:cs typeface="Times New Roman" panose="02020503050405090304" charset="0"/>
                  <a:sym typeface="+mn-ea"/>
                </a:rPr>
                <a:t>💬</a:t>
              </a:r>
            </a:p>
          </p:txBody>
        </p:sp>
      </p:grpSp>
      <p:sp>
        <p:nvSpPr>
          <p:cNvPr id="6" name="右箭头 5"/>
          <p:cNvSpPr/>
          <p:nvPr/>
        </p:nvSpPr>
        <p:spPr>
          <a:xfrm>
            <a:off x="5847715" y="5288915"/>
            <a:ext cx="777875" cy="337185"/>
          </a:xfrm>
          <a:prstGeom prst="rightArrow">
            <a:avLst/>
          </a:prstGeom>
          <a:ln>
            <a:solidFill>
              <a:srgbClr val="006BC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文本框 6"/>
          <p:cNvSpPr txBox="1"/>
          <p:nvPr/>
        </p:nvSpPr>
        <p:spPr>
          <a:xfrm>
            <a:off x="1866265" y="5438140"/>
            <a:ext cx="927100" cy="368300"/>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Input</a:t>
            </a:r>
          </a:p>
        </p:txBody>
      </p:sp>
      <p:sp>
        <p:nvSpPr>
          <p:cNvPr id="14" name="文本框 13"/>
          <p:cNvSpPr txBox="1"/>
          <p:nvPr/>
        </p:nvSpPr>
        <p:spPr>
          <a:xfrm>
            <a:off x="10127615" y="5438140"/>
            <a:ext cx="927100" cy="368300"/>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Output</a:t>
            </a:r>
          </a:p>
        </p:txBody>
      </p:sp>
      <p:sp>
        <p:nvSpPr>
          <p:cNvPr id="17" name="灯片编号占位符 16">
            <a:extLst>
              <a:ext uri="{FF2B5EF4-FFF2-40B4-BE49-F238E27FC236}">
                <a16:creationId xmlns:a16="http://schemas.microsoft.com/office/drawing/2014/main" id="{403A55D7-EAB5-2865-9C67-71B8B1D54A88}"/>
              </a:ext>
            </a:extLst>
          </p:cNvPr>
          <p:cNvSpPr>
            <a:spLocks noGrp="1"/>
          </p:cNvSpPr>
          <p:nvPr>
            <p:ph type="sldNum" sz="quarter" idx="12"/>
          </p:nvPr>
        </p:nvSpPr>
        <p:spPr/>
        <p:txBody>
          <a:bodyPr/>
          <a:lstStyle/>
          <a:p>
            <a:fld id="{E6518835-16E6-9244-9C02-6BFB876E5D3C}" type="slidenum">
              <a:rPr kumimoji="1" lang="zh-CN" altLang="en-US" smtClean="0"/>
              <a:t>3</a:t>
            </a:fld>
            <a:endParaRPr kumimoji="1"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p:cNvSpPr/>
          <p:nvPr/>
        </p:nvSpPr>
        <p:spPr>
          <a:xfrm>
            <a:off x="5520055" y="-635"/>
            <a:ext cx="1644015"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文本框 20"/>
          <p:cNvSpPr txBox="1"/>
          <p:nvPr/>
        </p:nvSpPr>
        <p:spPr>
          <a:xfrm>
            <a:off x="1428044" y="2777884"/>
            <a:ext cx="1899291" cy="400110"/>
          </a:xfrm>
          <a:prstGeom prst="rect">
            <a:avLst/>
          </a:prstGeom>
          <a:noFill/>
        </p:spPr>
        <p:txBody>
          <a:bodyPr wrap="square" rtlCol="0">
            <a:spAutoFit/>
          </a:bodyPr>
          <a:lstStyle/>
          <a:p>
            <a:pPr algn="ctr"/>
            <a:r>
              <a:rPr kumimoji="1" lang="zh-CN" altLang="en-US" sz="2000" b="1" spc="110" dirty="0">
                <a:solidFill>
                  <a:schemeClr val="bg1"/>
                </a:solidFill>
                <a:latin typeface="微软雅黑" panose="020B0503020204020204" pitchFamily="34" charset="-122"/>
                <a:ea typeface="微软雅黑" panose="020B0503020204020204" pitchFamily="34" charset="-122"/>
              </a:rPr>
              <a:t>点击输入内容</a:t>
            </a:r>
          </a:p>
        </p:txBody>
      </p:sp>
      <p:sp>
        <p:nvSpPr>
          <p:cNvPr id="22" name="文本框 21"/>
          <p:cNvSpPr txBox="1"/>
          <p:nvPr/>
        </p:nvSpPr>
        <p:spPr>
          <a:xfrm>
            <a:off x="3892786" y="2777884"/>
            <a:ext cx="1899291" cy="400110"/>
          </a:xfrm>
          <a:prstGeom prst="rect">
            <a:avLst/>
          </a:prstGeom>
          <a:noFill/>
        </p:spPr>
        <p:txBody>
          <a:bodyPr wrap="square" rtlCol="0">
            <a:spAutoFit/>
          </a:bodyPr>
          <a:lstStyle/>
          <a:p>
            <a:pPr algn="ctr"/>
            <a:r>
              <a:rPr kumimoji="1" lang="zh-CN" altLang="en-US" sz="2000" b="1" spc="110" dirty="0">
                <a:solidFill>
                  <a:schemeClr val="bg1"/>
                </a:solidFill>
                <a:latin typeface="微软雅黑" panose="020B0503020204020204" pitchFamily="34" charset="-122"/>
                <a:ea typeface="微软雅黑" panose="020B0503020204020204" pitchFamily="34" charset="-122"/>
              </a:rPr>
              <a:t>点击输入内容</a:t>
            </a:r>
          </a:p>
        </p:txBody>
      </p:sp>
      <p:grpSp>
        <p:nvGrpSpPr>
          <p:cNvPr id="13" name="组合 12"/>
          <p:cNvGrpSpPr/>
          <p:nvPr/>
        </p:nvGrpSpPr>
        <p:grpSpPr>
          <a:xfrm>
            <a:off x="370072" y="219176"/>
            <a:ext cx="2150839" cy="449040"/>
            <a:chOff x="2085654" y="644950"/>
            <a:chExt cx="7772400" cy="1622679"/>
          </a:xfrm>
        </p:grpSpPr>
        <p:pic>
          <p:nvPicPr>
            <p:cNvPr id="41" name="图片 40"/>
            <p:cNvPicPr>
              <a:picLocks noChangeAspect="1"/>
            </p:cNvPicPr>
            <p:nvPr/>
          </p:nvPicPr>
          <p:blipFill rotWithShape="1">
            <a:blip r:embed="rId2"/>
            <a:srcRect r="78982"/>
            <a:stretch>
              <a:fillRect/>
            </a:stretch>
          </p:blipFill>
          <p:spPr>
            <a:xfrm>
              <a:off x="2085654" y="644950"/>
              <a:ext cx="1633591" cy="1622679"/>
            </a:xfrm>
            <a:prstGeom prst="rect">
              <a:avLst/>
            </a:prstGeom>
          </p:spPr>
        </p:pic>
        <p:pic>
          <p:nvPicPr>
            <p:cNvPr id="42" name="图片 41"/>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Lst>
            </a:blip>
            <a:srcRect l="23530"/>
            <a:stretch>
              <a:fillRect/>
            </a:stretch>
          </p:blipFill>
          <p:spPr>
            <a:xfrm>
              <a:off x="3914454" y="644950"/>
              <a:ext cx="5943600" cy="1622679"/>
            </a:xfrm>
            <a:prstGeom prst="rect">
              <a:avLst/>
            </a:prstGeom>
          </p:spPr>
        </p:pic>
      </p:grpSp>
      <p:grpSp>
        <p:nvGrpSpPr>
          <p:cNvPr id="16" name="组合 15"/>
          <p:cNvGrpSpPr/>
          <p:nvPr/>
        </p:nvGrpSpPr>
        <p:grpSpPr>
          <a:xfrm>
            <a:off x="2045970" y="157480"/>
            <a:ext cx="9626600" cy="891540"/>
            <a:chOff x="3222" y="248"/>
            <a:chExt cx="15160" cy="1404"/>
          </a:xfrm>
        </p:grpSpPr>
        <p:grpSp>
          <p:nvGrpSpPr>
            <p:cNvPr id="2" name="组合 1"/>
            <p:cNvGrpSpPr/>
            <p:nvPr/>
          </p:nvGrpSpPr>
          <p:grpSpPr>
            <a:xfrm>
              <a:off x="3222" y="248"/>
              <a:ext cx="15160" cy="1404"/>
              <a:chOff x="3210" y="264"/>
              <a:chExt cx="15160" cy="1404"/>
            </a:xfrm>
          </p:grpSpPr>
          <p:sp>
            <p:nvSpPr>
              <p:cNvPr id="44" name="文本框 43"/>
              <p:cNvSpPr txBox="1"/>
              <p:nvPr/>
            </p:nvSpPr>
            <p:spPr>
              <a:xfrm>
                <a:off x="12799" y="361"/>
                <a:ext cx="2734" cy="825"/>
              </a:xfrm>
              <a:prstGeom prst="rect">
                <a:avLst/>
              </a:prstGeom>
              <a:noFill/>
            </p:spPr>
            <p:txBody>
              <a:bodyPr vert="horz" wrap="none" rtlCol="0">
                <a:noAutofit/>
              </a:bodyPr>
              <a:lstStyle/>
              <a:p>
                <a:pPr algn="ctr"/>
                <a:r>
                  <a:rPr kumimoji="1" lang="en-US" altLang="zh-CN" sz="2000" b="1" spc="300" dirty="0">
                    <a:solidFill>
                      <a:schemeClr val="bg1"/>
                    </a:solidFill>
                    <a:latin typeface="Times New Roman Regular" panose="02020503050405090304" charset="0"/>
                    <a:ea typeface="微软雅黑" panose="020B0503020204020204" pitchFamily="34" charset="-122"/>
                    <a:cs typeface="Times New Roman Regular" panose="02020503050405090304" charset="0"/>
                  </a:rPr>
                  <a:t>Methods</a:t>
                </a:r>
              </a:p>
            </p:txBody>
          </p:sp>
          <p:sp>
            <p:nvSpPr>
              <p:cNvPr id="7" name="文本框 6"/>
              <p:cNvSpPr txBox="1"/>
              <p:nvPr/>
            </p:nvSpPr>
            <p:spPr>
              <a:xfrm>
                <a:off x="16222" y="350"/>
                <a:ext cx="2148" cy="580"/>
              </a:xfrm>
              <a:prstGeom prst="rect">
                <a:avLst/>
              </a:prstGeom>
              <a:noFill/>
            </p:spPr>
            <p:txBody>
              <a:bodyPr vert="horz" wrap="square" rtlCol="0">
                <a:spAutoFit/>
              </a:bodyPr>
              <a:lstStyle/>
              <a:p>
                <a:pPr algn="ctr"/>
                <a:r>
                  <a:rPr kumimoji="1" lang="en-US" altLang="zh-CN" b="1" spc="300" dirty="0">
                    <a:solidFill>
                      <a:schemeClr val="bg1"/>
                    </a:solidFill>
                    <a:latin typeface="Times New Roman Regular" panose="02020503050405090304" charset="0"/>
                    <a:ea typeface="微软雅黑" panose="020B0503020204020204" pitchFamily="34" charset="-122"/>
                    <a:cs typeface="Times New Roman Regular" panose="02020503050405090304" charset="0"/>
                  </a:rPr>
                  <a:t>Results</a:t>
                </a:r>
              </a:p>
            </p:txBody>
          </p:sp>
          <p:sp>
            <p:nvSpPr>
              <p:cNvPr id="9" name="文本框 8"/>
              <p:cNvSpPr txBox="1"/>
              <p:nvPr/>
            </p:nvSpPr>
            <p:spPr>
              <a:xfrm>
                <a:off x="3210" y="264"/>
                <a:ext cx="4785" cy="1404"/>
              </a:xfrm>
              <a:prstGeom prst="rect">
                <a:avLst/>
              </a:prstGeom>
              <a:noFill/>
            </p:spPr>
            <p:txBody>
              <a:bodyPr vert="horz" wrap="square" rtlCol="0">
                <a:spAutoFit/>
              </a:bodyPr>
              <a:lstStyle/>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Background </a:t>
                </a:r>
              </a:p>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&amp; Significance</a:t>
                </a: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a:p>
                <a:pPr algn="ct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p:txBody>
          </p:sp>
        </p:grpSp>
        <p:sp>
          <p:nvSpPr>
            <p:cNvPr id="14" name="文本框 13"/>
            <p:cNvSpPr txBox="1"/>
            <p:nvPr/>
          </p:nvSpPr>
          <p:spPr>
            <a:xfrm>
              <a:off x="8599" y="311"/>
              <a:ext cx="2850" cy="628"/>
            </a:xfrm>
            <a:prstGeom prst="rect">
              <a:avLst/>
            </a:prstGeom>
            <a:noFill/>
          </p:spPr>
          <p:txBody>
            <a:bodyPr vert="horz" wrap="none" rtlCol="0">
              <a:spAutoFit/>
            </a:bodyPr>
            <a:lstStyle/>
            <a:p>
              <a:pPr algn="ctr"/>
              <a:r>
                <a:rPr kumimoji="1" lang="en-US" altLang="zh-CN" sz="2000" b="1" spc="300" dirty="0">
                  <a:solidFill>
                    <a:srgbClr val="006BC0"/>
                  </a:solidFill>
                  <a:latin typeface="Times New Roman" panose="02020503050405090304" charset="0"/>
                  <a:ea typeface="微软雅黑" panose="020B0503020204020204" pitchFamily="34" charset="-122"/>
                  <a:cs typeface="Times New Roman" panose="02020503050405090304" charset="0"/>
                </a:rPr>
                <a:t>Framework</a:t>
              </a:r>
            </a:p>
          </p:txBody>
        </p:sp>
      </p:grpSp>
      <p:grpSp>
        <p:nvGrpSpPr>
          <p:cNvPr id="23" name="组合 22"/>
          <p:cNvGrpSpPr/>
          <p:nvPr/>
        </p:nvGrpSpPr>
        <p:grpSpPr>
          <a:xfrm>
            <a:off x="474345" y="2005330"/>
            <a:ext cx="1755140" cy="1503680"/>
            <a:chOff x="747" y="2863"/>
            <a:chExt cx="2888" cy="2474"/>
          </a:xfrm>
        </p:grpSpPr>
        <p:sp>
          <p:nvSpPr>
            <p:cNvPr id="17" name="矩形 16"/>
            <p:cNvSpPr/>
            <p:nvPr/>
          </p:nvSpPr>
          <p:spPr>
            <a:xfrm>
              <a:off x="747" y="2863"/>
              <a:ext cx="2888" cy="247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文本框 18"/>
            <p:cNvSpPr txBox="1"/>
            <p:nvPr/>
          </p:nvSpPr>
          <p:spPr>
            <a:xfrm>
              <a:off x="747" y="3676"/>
              <a:ext cx="2889" cy="1329"/>
            </a:xfrm>
            <a:prstGeom prst="rect">
              <a:avLst/>
            </a:prstGeom>
            <a:noFill/>
          </p:spPr>
          <p:txBody>
            <a:bodyPr wrap="square" rtlCol="0">
              <a:noAutofit/>
            </a:bodyPr>
            <a:lstStyle/>
            <a:p>
              <a:pPr algn="ctr"/>
              <a:r>
                <a:rPr lang="en-US" altLang="zh-CN" sz="2400">
                  <a:latin typeface="Times New Roman" panose="02020503050405090304" charset="0"/>
                  <a:cs typeface="Times New Roman" panose="02020503050405090304" charset="0"/>
                </a:rPr>
                <a:t>Input image</a:t>
              </a:r>
            </a:p>
          </p:txBody>
        </p:sp>
      </p:grpSp>
      <p:grpSp>
        <p:nvGrpSpPr>
          <p:cNvPr id="24" name="组合 23"/>
          <p:cNvGrpSpPr/>
          <p:nvPr/>
        </p:nvGrpSpPr>
        <p:grpSpPr>
          <a:xfrm>
            <a:off x="474980" y="3810635"/>
            <a:ext cx="1755140" cy="1503680"/>
            <a:chOff x="747" y="6549"/>
            <a:chExt cx="2888" cy="2474"/>
          </a:xfrm>
        </p:grpSpPr>
        <p:sp>
          <p:nvSpPr>
            <p:cNvPr id="18" name="矩形 17"/>
            <p:cNvSpPr/>
            <p:nvPr/>
          </p:nvSpPr>
          <p:spPr>
            <a:xfrm>
              <a:off x="747" y="6549"/>
              <a:ext cx="2888" cy="247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p>
          </p:txBody>
        </p:sp>
        <p:sp>
          <p:nvSpPr>
            <p:cNvPr id="20" name="文本框 19"/>
            <p:cNvSpPr txBox="1"/>
            <p:nvPr/>
          </p:nvSpPr>
          <p:spPr>
            <a:xfrm>
              <a:off x="747" y="7352"/>
              <a:ext cx="2849" cy="1329"/>
            </a:xfrm>
            <a:prstGeom prst="rect">
              <a:avLst/>
            </a:prstGeom>
            <a:noFill/>
          </p:spPr>
          <p:txBody>
            <a:bodyPr wrap="square" rtlCol="0">
              <a:noAutofit/>
            </a:bodyPr>
            <a:lstStyle/>
            <a:p>
              <a:pPr algn="ctr"/>
              <a:r>
                <a:rPr lang="en-US" altLang="zh-CN" sz="2400" dirty="0">
                  <a:latin typeface="Times New Roman" panose="02020503050405090304" charset="0"/>
                  <a:cs typeface="Times New Roman" panose="02020503050405090304" charset="0"/>
                </a:rPr>
                <a:t>Text Prompt</a:t>
              </a:r>
            </a:p>
          </p:txBody>
        </p:sp>
      </p:grpSp>
      <p:grpSp>
        <p:nvGrpSpPr>
          <p:cNvPr id="26" name="组合 25"/>
          <p:cNvGrpSpPr/>
          <p:nvPr/>
        </p:nvGrpSpPr>
        <p:grpSpPr>
          <a:xfrm>
            <a:off x="4618355" y="1957705"/>
            <a:ext cx="1048385" cy="3645535"/>
            <a:chOff x="747" y="2863"/>
            <a:chExt cx="2889" cy="2475"/>
          </a:xfrm>
        </p:grpSpPr>
        <p:sp>
          <p:nvSpPr>
            <p:cNvPr id="27" name="矩形 26"/>
            <p:cNvSpPr/>
            <p:nvPr/>
          </p:nvSpPr>
          <p:spPr>
            <a:xfrm>
              <a:off x="747" y="2863"/>
              <a:ext cx="2888" cy="247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文本框 27"/>
            <p:cNvSpPr txBox="1"/>
            <p:nvPr/>
          </p:nvSpPr>
          <p:spPr>
            <a:xfrm>
              <a:off x="747" y="3971"/>
              <a:ext cx="2889" cy="714"/>
            </a:xfrm>
            <a:prstGeom prst="rect">
              <a:avLst/>
            </a:prstGeom>
            <a:noFill/>
          </p:spPr>
          <p:txBody>
            <a:bodyPr wrap="square" rtlCol="0">
              <a:noAutofit/>
            </a:bodyPr>
            <a:lstStyle/>
            <a:p>
              <a:pPr algn="ctr"/>
              <a:r>
                <a:rPr lang="en-US" altLang="zh-CN" sz="2400">
                  <a:latin typeface="Times New Roman" panose="02020503050405090304" charset="0"/>
                  <a:cs typeface="Times New Roman" panose="02020503050405090304" charset="0"/>
                </a:rPr>
                <a:t>Latent Code</a:t>
              </a:r>
            </a:p>
          </p:txBody>
        </p:sp>
      </p:grpSp>
      <p:grpSp>
        <p:nvGrpSpPr>
          <p:cNvPr id="56" name="组合 55"/>
          <p:cNvGrpSpPr/>
          <p:nvPr/>
        </p:nvGrpSpPr>
        <p:grpSpPr>
          <a:xfrm>
            <a:off x="2544445" y="2212975"/>
            <a:ext cx="1833880" cy="2599055"/>
            <a:chOff x="3977" y="3083"/>
            <a:chExt cx="2888" cy="4093"/>
          </a:xfrm>
        </p:grpSpPr>
        <p:grpSp>
          <p:nvGrpSpPr>
            <p:cNvPr id="29" name="组合 28"/>
            <p:cNvGrpSpPr/>
            <p:nvPr/>
          </p:nvGrpSpPr>
          <p:grpSpPr>
            <a:xfrm>
              <a:off x="4253" y="5652"/>
              <a:ext cx="2336" cy="1525"/>
              <a:chOff x="747" y="2863"/>
              <a:chExt cx="2889" cy="2475"/>
            </a:xfrm>
          </p:grpSpPr>
          <p:sp>
            <p:nvSpPr>
              <p:cNvPr id="30" name="矩形 29"/>
              <p:cNvSpPr/>
              <p:nvPr/>
            </p:nvSpPr>
            <p:spPr>
              <a:xfrm>
                <a:off x="747" y="2863"/>
                <a:ext cx="2888" cy="247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1" name="文本框 30"/>
              <p:cNvSpPr txBox="1"/>
              <p:nvPr/>
            </p:nvSpPr>
            <p:spPr>
              <a:xfrm>
                <a:off x="747" y="3123"/>
                <a:ext cx="2889" cy="1329"/>
              </a:xfrm>
              <a:prstGeom prst="rect">
                <a:avLst/>
              </a:prstGeom>
              <a:noFill/>
            </p:spPr>
            <p:txBody>
              <a:bodyPr wrap="square" rtlCol="0">
                <a:noAutofit/>
              </a:bodyPr>
              <a:lstStyle/>
              <a:p>
                <a:pPr algn="ctr"/>
                <a:r>
                  <a:rPr lang="en-US" altLang="zh-CN" sz="2400">
                    <a:latin typeface="Times New Roman" panose="02020503050405090304" charset="0"/>
                    <a:cs typeface="Times New Roman" panose="02020503050405090304" charset="0"/>
                  </a:rPr>
                  <a:t>Null-text Inversion</a:t>
                </a:r>
              </a:p>
            </p:txBody>
          </p:sp>
        </p:grpSp>
        <p:grpSp>
          <p:nvGrpSpPr>
            <p:cNvPr id="33" name="组合 32"/>
            <p:cNvGrpSpPr/>
            <p:nvPr/>
          </p:nvGrpSpPr>
          <p:grpSpPr>
            <a:xfrm>
              <a:off x="3977" y="3083"/>
              <a:ext cx="2889" cy="2168"/>
              <a:chOff x="553" y="2863"/>
              <a:chExt cx="2889" cy="2168"/>
            </a:xfrm>
          </p:grpSpPr>
          <p:sp>
            <p:nvSpPr>
              <p:cNvPr id="34" name="矩形 33"/>
              <p:cNvSpPr/>
              <p:nvPr/>
            </p:nvSpPr>
            <p:spPr>
              <a:xfrm>
                <a:off x="747" y="2863"/>
                <a:ext cx="2530" cy="2168"/>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 name="文本框 34"/>
              <p:cNvSpPr txBox="1"/>
              <p:nvPr/>
            </p:nvSpPr>
            <p:spPr>
              <a:xfrm>
                <a:off x="553" y="3356"/>
                <a:ext cx="2889" cy="1329"/>
              </a:xfrm>
              <a:prstGeom prst="rect">
                <a:avLst/>
              </a:prstGeom>
              <a:noFill/>
            </p:spPr>
            <p:txBody>
              <a:bodyPr wrap="square" rtlCol="0">
                <a:noAutofit/>
              </a:bodyPr>
              <a:lstStyle/>
              <a:p>
                <a:pPr algn="ctr"/>
                <a:r>
                  <a:rPr lang="en-US" altLang="zh-CN" sz="2400">
                    <a:latin typeface="Times New Roman" panose="02020503050405090304" charset="0"/>
                    <a:cs typeface="Times New Roman" panose="02020503050405090304" charset="0"/>
                  </a:rPr>
                  <a:t>DDIM Inversion</a:t>
                </a:r>
              </a:p>
              <a:p>
                <a:pPr algn="ctr"/>
                <a:endParaRPr lang="en-US" altLang="zh-CN" sz="2400">
                  <a:latin typeface="Times New Roman" panose="02020503050405090304" charset="0"/>
                  <a:cs typeface="Times New Roman" panose="02020503050405090304" charset="0"/>
                </a:endParaRPr>
              </a:p>
            </p:txBody>
          </p:sp>
        </p:grpSp>
      </p:grpSp>
      <p:grpSp>
        <p:nvGrpSpPr>
          <p:cNvPr id="47" name="组合 46"/>
          <p:cNvGrpSpPr/>
          <p:nvPr/>
        </p:nvGrpSpPr>
        <p:grpSpPr>
          <a:xfrm>
            <a:off x="6101080" y="1841505"/>
            <a:ext cx="1606397" cy="3761735"/>
            <a:chOff x="10416" y="2864"/>
            <a:chExt cx="3333" cy="5960"/>
          </a:xfrm>
        </p:grpSpPr>
        <p:grpSp>
          <p:nvGrpSpPr>
            <p:cNvPr id="36" name="组合 35"/>
            <p:cNvGrpSpPr/>
            <p:nvPr/>
          </p:nvGrpSpPr>
          <p:grpSpPr>
            <a:xfrm>
              <a:off x="10568" y="2864"/>
              <a:ext cx="2979" cy="5960"/>
              <a:chOff x="656" y="2785"/>
              <a:chExt cx="2979" cy="2553"/>
            </a:xfrm>
          </p:grpSpPr>
          <p:sp>
            <p:nvSpPr>
              <p:cNvPr id="37" name="矩形 36"/>
              <p:cNvSpPr/>
              <p:nvPr/>
            </p:nvSpPr>
            <p:spPr>
              <a:xfrm>
                <a:off x="656" y="2785"/>
                <a:ext cx="2979" cy="2553"/>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8" name="文本框 37"/>
              <p:cNvSpPr txBox="1"/>
              <p:nvPr/>
            </p:nvSpPr>
            <p:spPr>
              <a:xfrm>
                <a:off x="755" y="4422"/>
                <a:ext cx="2813" cy="490"/>
              </a:xfrm>
              <a:prstGeom prst="rect">
                <a:avLst/>
              </a:prstGeom>
              <a:noFill/>
              <a:ln>
                <a:solidFill>
                  <a:schemeClr val="accent5">
                    <a:lumMod val="60000"/>
                    <a:lumOff val="40000"/>
                  </a:schemeClr>
                </a:solidFill>
              </a:ln>
            </p:spPr>
            <p:txBody>
              <a:bodyPr wrap="square" rtlCol="0">
                <a:noAutofit/>
              </a:bodyPr>
              <a:lstStyle/>
              <a:p>
                <a:pPr algn="ctr"/>
                <a:r>
                  <a:rPr lang="en-US" altLang="zh-CN" sz="2000">
                    <a:latin typeface="Times New Roman" panose="02020503050405090304" charset="0"/>
                    <a:cs typeface="Times New Roman" panose="02020503050405090304" charset="0"/>
                  </a:rPr>
                  <a:t>Prompt to Prompt</a:t>
                </a:r>
              </a:p>
              <a:p>
                <a:pPr algn="ctr"/>
                <a:endParaRPr lang="en-US" altLang="zh-CN">
                  <a:latin typeface="Times New Roman" panose="02020503050405090304" charset="0"/>
                  <a:cs typeface="Times New Roman" panose="02020503050405090304" charset="0"/>
                </a:endParaRPr>
              </a:p>
            </p:txBody>
          </p:sp>
        </p:grpSp>
        <p:sp>
          <p:nvSpPr>
            <p:cNvPr id="39" name="文本框 38"/>
            <p:cNvSpPr txBox="1"/>
            <p:nvPr/>
          </p:nvSpPr>
          <p:spPr>
            <a:xfrm>
              <a:off x="10416" y="5151"/>
              <a:ext cx="3333" cy="1534"/>
            </a:xfrm>
            <a:prstGeom prst="rect">
              <a:avLst/>
            </a:prstGeom>
            <a:noFill/>
          </p:spPr>
          <p:txBody>
            <a:bodyPr wrap="square" rtlCol="0">
              <a:noAutofit/>
            </a:bodyPr>
            <a:lstStyle/>
            <a:p>
              <a:pPr algn="ctr"/>
              <a:r>
                <a:rPr lang="en-US" altLang="zh-CN" sz="2400">
                  <a:latin typeface="Times New Roman" panose="02020503050405090304" charset="0"/>
                  <a:cs typeface="Times New Roman" panose="02020503050405090304" charset="0"/>
                </a:rPr>
                <a:t>Attention mechanism</a:t>
              </a:r>
            </a:p>
          </p:txBody>
        </p:sp>
      </p:grpSp>
      <p:grpSp>
        <p:nvGrpSpPr>
          <p:cNvPr id="43" name="组合 42"/>
          <p:cNvGrpSpPr/>
          <p:nvPr/>
        </p:nvGrpSpPr>
        <p:grpSpPr>
          <a:xfrm>
            <a:off x="9950450" y="2894330"/>
            <a:ext cx="1834515" cy="1571625"/>
            <a:chOff x="747" y="2863"/>
            <a:chExt cx="2889" cy="2475"/>
          </a:xfrm>
        </p:grpSpPr>
        <p:sp>
          <p:nvSpPr>
            <p:cNvPr id="45" name="矩形 44"/>
            <p:cNvSpPr/>
            <p:nvPr/>
          </p:nvSpPr>
          <p:spPr>
            <a:xfrm>
              <a:off x="747" y="2863"/>
              <a:ext cx="2888" cy="247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6" name="文本框 45"/>
            <p:cNvSpPr txBox="1"/>
            <p:nvPr/>
          </p:nvSpPr>
          <p:spPr>
            <a:xfrm>
              <a:off x="747" y="3356"/>
              <a:ext cx="2889" cy="1329"/>
            </a:xfrm>
            <a:prstGeom prst="rect">
              <a:avLst/>
            </a:prstGeom>
            <a:noFill/>
          </p:spPr>
          <p:txBody>
            <a:bodyPr wrap="square" rtlCol="0">
              <a:noAutofit/>
            </a:bodyPr>
            <a:lstStyle/>
            <a:p>
              <a:pPr algn="ctr"/>
              <a:r>
                <a:rPr lang="en-US" altLang="zh-CN" sz="2400">
                  <a:latin typeface="Times New Roman" panose="02020503050405090304" charset="0"/>
                  <a:cs typeface="Times New Roman" panose="02020503050405090304" charset="0"/>
                </a:rPr>
                <a:t>Stylized image results</a:t>
              </a:r>
            </a:p>
            <a:p>
              <a:pPr algn="ctr"/>
              <a:endParaRPr lang="en-US" altLang="zh-CN" sz="2400">
                <a:latin typeface="Times New Roman" panose="02020503050405090304" charset="0"/>
                <a:cs typeface="Times New Roman" panose="02020503050405090304" charset="0"/>
              </a:endParaRPr>
            </a:p>
          </p:txBody>
        </p:sp>
      </p:grpSp>
      <p:grpSp>
        <p:nvGrpSpPr>
          <p:cNvPr id="53" name="组合 52"/>
          <p:cNvGrpSpPr/>
          <p:nvPr/>
        </p:nvGrpSpPr>
        <p:grpSpPr>
          <a:xfrm>
            <a:off x="7855585" y="2894330"/>
            <a:ext cx="1834515" cy="1571625"/>
            <a:chOff x="747" y="2863"/>
            <a:chExt cx="2889" cy="2475"/>
          </a:xfrm>
        </p:grpSpPr>
        <p:sp>
          <p:nvSpPr>
            <p:cNvPr id="54" name="矩形 53"/>
            <p:cNvSpPr/>
            <p:nvPr/>
          </p:nvSpPr>
          <p:spPr>
            <a:xfrm>
              <a:off x="747" y="2863"/>
              <a:ext cx="2888" cy="247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5" name="文本框 54"/>
            <p:cNvSpPr txBox="1"/>
            <p:nvPr/>
          </p:nvSpPr>
          <p:spPr>
            <a:xfrm>
              <a:off x="747" y="3356"/>
              <a:ext cx="2889" cy="1329"/>
            </a:xfrm>
            <a:prstGeom prst="rect">
              <a:avLst/>
            </a:prstGeom>
            <a:noFill/>
          </p:spPr>
          <p:txBody>
            <a:bodyPr wrap="square" rtlCol="0">
              <a:noAutofit/>
            </a:bodyPr>
            <a:lstStyle/>
            <a:p>
              <a:pPr algn="ctr"/>
              <a:r>
                <a:rPr lang="en-US" altLang="zh-CN" sz="2400">
                  <a:latin typeface="Times New Roman" panose="02020503050405090304" charset="0"/>
                  <a:cs typeface="Times New Roman" panose="02020503050405090304" charset="0"/>
                </a:rPr>
                <a:t>Diffusion generation</a:t>
              </a:r>
            </a:p>
          </p:txBody>
        </p:sp>
      </p:grpSp>
      <p:sp>
        <p:nvSpPr>
          <p:cNvPr id="57" name="右箭头 56"/>
          <p:cNvSpPr/>
          <p:nvPr/>
        </p:nvSpPr>
        <p:spPr>
          <a:xfrm>
            <a:off x="2204720" y="3568700"/>
            <a:ext cx="478155" cy="26225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8" name="右箭头 57"/>
          <p:cNvSpPr/>
          <p:nvPr/>
        </p:nvSpPr>
        <p:spPr>
          <a:xfrm>
            <a:off x="4243705" y="3603625"/>
            <a:ext cx="374650" cy="2413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9" name="右箭头 58"/>
          <p:cNvSpPr/>
          <p:nvPr/>
        </p:nvSpPr>
        <p:spPr>
          <a:xfrm>
            <a:off x="5666105" y="3603625"/>
            <a:ext cx="512445" cy="2628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0" name="右箭头 59"/>
          <p:cNvSpPr/>
          <p:nvPr/>
        </p:nvSpPr>
        <p:spPr>
          <a:xfrm>
            <a:off x="7614920" y="3603625"/>
            <a:ext cx="240665" cy="2628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1" name="右箭头 60"/>
          <p:cNvSpPr/>
          <p:nvPr/>
        </p:nvSpPr>
        <p:spPr>
          <a:xfrm>
            <a:off x="9700260" y="3549015"/>
            <a:ext cx="245745" cy="2616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2" name="文本框 61"/>
          <p:cNvSpPr txBox="1"/>
          <p:nvPr/>
        </p:nvSpPr>
        <p:spPr>
          <a:xfrm>
            <a:off x="6010275" y="4946650"/>
            <a:ext cx="1731010" cy="368300"/>
          </a:xfrm>
          <a:prstGeom prst="rect">
            <a:avLst/>
          </a:prstGeom>
          <a:noFill/>
        </p:spPr>
        <p:txBody>
          <a:bodyPr wrap="square" rtlCol="0">
            <a:noAutofit/>
          </a:bodyPr>
          <a:lstStyle/>
          <a:p>
            <a:pPr algn="ctr"/>
            <a:r>
              <a:rPr lang="en-US" altLang="zh-CN" sz="1600">
                <a:latin typeface="Times New Roman" panose="02020503050405090304" charset="0"/>
                <a:cs typeface="Times New Roman" panose="02020503050405090304" charset="0"/>
              </a:rPr>
              <a:t>Partial editing</a:t>
            </a:r>
          </a:p>
          <a:p>
            <a:pPr algn="ctr"/>
            <a:endParaRPr lang="en-US" altLang="zh-CN" sz="1600">
              <a:latin typeface="Times New Roman" panose="02020503050405090304" charset="0"/>
              <a:cs typeface="Times New Roman" panose="02020503050405090304" charset="0"/>
            </a:endParaRPr>
          </a:p>
        </p:txBody>
      </p:sp>
      <p:sp>
        <p:nvSpPr>
          <p:cNvPr id="3" name="灯片编号占位符 2">
            <a:extLst>
              <a:ext uri="{FF2B5EF4-FFF2-40B4-BE49-F238E27FC236}">
                <a16:creationId xmlns:a16="http://schemas.microsoft.com/office/drawing/2014/main" id="{5D0AC5C2-7144-BE94-1135-645CFDB49BB5}"/>
              </a:ext>
            </a:extLst>
          </p:cNvPr>
          <p:cNvSpPr>
            <a:spLocks noGrp="1"/>
          </p:cNvSpPr>
          <p:nvPr>
            <p:ph type="sldNum" sz="quarter" idx="12"/>
          </p:nvPr>
        </p:nvSpPr>
        <p:spPr/>
        <p:txBody>
          <a:bodyPr/>
          <a:lstStyle/>
          <a:p>
            <a:fld id="{E6518835-16E6-9244-9C02-6BFB876E5D3C}" type="slidenum">
              <a:rPr kumimoji="1" lang="zh-CN" altLang="en-US" smtClean="0"/>
              <a:t>4</a:t>
            </a:fld>
            <a:endParaRPr kumimoji="1"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01" y="-1187"/>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p:cNvSpPr/>
          <p:nvPr/>
        </p:nvSpPr>
        <p:spPr>
          <a:xfrm>
            <a:off x="8132445" y="0"/>
            <a:ext cx="1581150"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3" name="组合 12"/>
          <p:cNvGrpSpPr/>
          <p:nvPr/>
        </p:nvGrpSpPr>
        <p:grpSpPr>
          <a:xfrm>
            <a:off x="370072" y="219176"/>
            <a:ext cx="2150839" cy="449040"/>
            <a:chOff x="2085654" y="644950"/>
            <a:chExt cx="7772400" cy="1622679"/>
          </a:xfrm>
        </p:grpSpPr>
        <p:pic>
          <p:nvPicPr>
            <p:cNvPr id="41" name="图片 40"/>
            <p:cNvPicPr>
              <a:picLocks noChangeAspect="1"/>
            </p:cNvPicPr>
            <p:nvPr/>
          </p:nvPicPr>
          <p:blipFill rotWithShape="1">
            <a:blip r:embed="rId2"/>
            <a:srcRect r="78982"/>
            <a:stretch>
              <a:fillRect/>
            </a:stretch>
          </p:blipFill>
          <p:spPr>
            <a:xfrm>
              <a:off x="2085654" y="644950"/>
              <a:ext cx="1633591" cy="1622679"/>
            </a:xfrm>
            <a:prstGeom prst="rect">
              <a:avLst/>
            </a:prstGeom>
          </p:spPr>
        </p:pic>
        <p:pic>
          <p:nvPicPr>
            <p:cNvPr id="42" name="图片 41"/>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Lst>
            </a:blip>
            <a:srcRect l="23530"/>
            <a:stretch>
              <a:fillRect/>
            </a:stretch>
          </p:blipFill>
          <p:spPr>
            <a:xfrm>
              <a:off x="3914454" y="644950"/>
              <a:ext cx="5943600" cy="1622679"/>
            </a:xfrm>
            <a:prstGeom prst="rect">
              <a:avLst/>
            </a:prstGeom>
          </p:spPr>
        </p:pic>
      </p:grpSp>
      <p:sp>
        <p:nvSpPr>
          <p:cNvPr id="6" name="文本框 5"/>
          <p:cNvSpPr txBox="1"/>
          <p:nvPr/>
        </p:nvSpPr>
        <p:spPr>
          <a:xfrm>
            <a:off x="5847715" y="219075"/>
            <a:ext cx="1736090" cy="523875"/>
          </a:xfrm>
          <a:prstGeom prst="rect">
            <a:avLst/>
          </a:prstGeom>
          <a:noFill/>
        </p:spPr>
        <p:txBody>
          <a:bodyPr vert="horz" wrap="none" rtlCol="0">
            <a:noAutofit/>
          </a:bodyPr>
          <a:lstStyle/>
          <a:p>
            <a:pPr algn="ctr"/>
            <a:r>
              <a:rPr kumimoji="1" lang="en-US" altLang="zh-CN" sz="2000" b="1" spc="300" dirty="0">
                <a:solidFill>
                  <a:srgbClr val="006BC0"/>
                </a:solidFill>
                <a:latin typeface="Times New Roman Bold" panose="02020503050405090304" charset="0"/>
                <a:ea typeface="微软雅黑" panose="020B0503020204020204" pitchFamily="34" charset="-122"/>
                <a:cs typeface="Times New Roman Bold" panose="02020503050405090304" charset="0"/>
              </a:rPr>
              <a:t>Methods</a:t>
            </a:r>
          </a:p>
        </p:txBody>
      </p:sp>
      <p:sp>
        <p:nvSpPr>
          <p:cNvPr id="7" name="文本框 6"/>
          <p:cNvSpPr txBox="1"/>
          <p:nvPr/>
        </p:nvSpPr>
        <p:spPr>
          <a:xfrm>
            <a:off x="-313055" y="3075940"/>
            <a:ext cx="4884420" cy="768350"/>
          </a:xfrm>
          <a:prstGeom prst="rect">
            <a:avLst/>
          </a:prstGeom>
          <a:noFill/>
        </p:spPr>
        <p:txBody>
          <a:bodyPr wrap="square" rtlCol="0">
            <a:spAutoFit/>
          </a:bodyPr>
          <a:lstStyle/>
          <a:p>
            <a:pPr algn="ctr"/>
            <a:r>
              <a:rPr lang="en-US" altLang="zh-CN" sz="4400" b="1">
                <a:solidFill>
                  <a:srgbClr val="006BC0"/>
                </a:solidFill>
                <a:latin typeface="Times New Roman Bold" panose="02020503050405090304" charset="0"/>
                <a:cs typeface="Times New Roman Bold" panose="02020503050405090304" charset="0"/>
              </a:rPr>
              <a:t>Methods</a:t>
            </a:r>
          </a:p>
        </p:txBody>
      </p:sp>
      <p:cxnSp>
        <p:nvCxnSpPr>
          <p:cNvPr id="49" name="Straight Connector 3"/>
          <p:cNvCxnSpPr/>
          <p:nvPr/>
        </p:nvCxnSpPr>
        <p:spPr>
          <a:xfrm>
            <a:off x="4452339" y="995946"/>
            <a:ext cx="0" cy="5545455"/>
          </a:xfrm>
          <a:prstGeom prst="line">
            <a:avLst/>
          </a:prstGeom>
          <a:noFill/>
          <a:ln w="28575" cap="flat" cmpd="sng" algn="ctr">
            <a:solidFill>
              <a:schemeClr val="accent1"/>
            </a:solidFill>
            <a:prstDash val="dash"/>
          </a:ln>
          <a:effectLst/>
        </p:spPr>
      </p:cxnSp>
      <p:grpSp>
        <p:nvGrpSpPr>
          <p:cNvPr id="2" name="组合 1"/>
          <p:cNvGrpSpPr/>
          <p:nvPr/>
        </p:nvGrpSpPr>
        <p:grpSpPr>
          <a:xfrm>
            <a:off x="5254656" y="2186202"/>
            <a:ext cx="6488391" cy="3795509"/>
            <a:chOff x="9105" y="2613"/>
            <a:chExt cx="10218" cy="5977"/>
          </a:xfrm>
        </p:grpSpPr>
        <p:sp>
          <p:nvSpPr>
            <p:cNvPr id="8" name="文本框 7"/>
            <p:cNvSpPr txBox="1"/>
            <p:nvPr/>
          </p:nvSpPr>
          <p:spPr>
            <a:xfrm>
              <a:off x="10664" y="2778"/>
              <a:ext cx="6400" cy="822"/>
            </a:xfrm>
            <a:prstGeom prst="rect">
              <a:avLst/>
            </a:prstGeom>
            <a:noFill/>
          </p:spPr>
          <p:txBody>
            <a:bodyPr wrap="square" rtlCol="0">
              <a:spAutoFit/>
            </a:bodyPr>
            <a:lstStyle/>
            <a:p>
              <a:r>
                <a:rPr lang="en-US" altLang="zh-CN" sz="2800" b="1" dirty="0">
                  <a:solidFill>
                    <a:srgbClr val="006BC0"/>
                  </a:solidFill>
                  <a:latin typeface="Times New Roman" panose="02020503050405090304" charset="0"/>
                  <a:cs typeface="Times New Roman" panose="02020503050405090304" charset="0"/>
                </a:rPr>
                <a:t>Null Text Inversion</a:t>
              </a:r>
            </a:p>
          </p:txBody>
        </p:sp>
        <p:sp>
          <p:nvSpPr>
            <p:cNvPr id="11" name="文本框 10"/>
            <p:cNvSpPr txBox="1"/>
            <p:nvPr/>
          </p:nvSpPr>
          <p:spPr>
            <a:xfrm>
              <a:off x="10824" y="6409"/>
              <a:ext cx="8499" cy="2181"/>
            </a:xfrm>
            <a:prstGeom prst="rect">
              <a:avLst/>
            </a:prstGeom>
            <a:noFill/>
          </p:spPr>
          <p:txBody>
            <a:bodyPr wrap="square" rtlCol="0">
              <a:spAutoFit/>
            </a:bodyPr>
            <a:lstStyle/>
            <a:p>
              <a:r>
                <a:rPr lang="en-US" altLang="zh-CN" sz="2800" b="1" dirty="0">
                  <a:solidFill>
                    <a:srgbClr val="0070C0"/>
                  </a:solidFill>
                  <a:latin typeface="Times New Roman" panose="02020603050405020304" pitchFamily="18" charset="0"/>
                  <a:cs typeface="Times New Roman" panose="02020603050405020304" pitchFamily="18" charset="0"/>
                </a:rPr>
                <a:t>Attention Storage Mechanism</a:t>
              </a:r>
              <a:endParaRPr lang="zh-CN" altLang="en-US" sz="2800" b="1" dirty="0">
                <a:solidFill>
                  <a:srgbClr val="0070C0"/>
                </a:solidFill>
                <a:latin typeface="Times New Roman" panose="02020603050405020304" pitchFamily="18" charset="0"/>
                <a:cs typeface="Times New Roman" panose="02020603050405020304" pitchFamily="18" charset="0"/>
              </a:endParaRPr>
            </a:p>
            <a:p>
              <a:r>
                <a:rPr lang="en-US" altLang="zh-CN" sz="2800" b="1" dirty="0">
                  <a:solidFill>
                    <a:srgbClr val="0070C0"/>
                  </a:solidFill>
                  <a:latin typeface="Times New Roman" panose="02020603050405020304" pitchFamily="18" charset="0"/>
                  <a:cs typeface="Times New Roman" panose="02020603050405020304" pitchFamily="18" charset="0"/>
                </a:rPr>
                <a:t>L</a:t>
              </a:r>
              <a:r>
                <a:rPr lang="zh-CN" altLang="zh-CN" sz="2800" b="1" dirty="0">
                  <a:solidFill>
                    <a:srgbClr val="0070C0"/>
                  </a:solidFill>
                  <a:latin typeface="Times New Roman" panose="02020603050405020304" pitchFamily="18" charset="0"/>
                  <a:cs typeface="Times New Roman" panose="02020603050405020304" pitchFamily="18" charset="0"/>
                </a:rPr>
                <a:t>ocal </a:t>
              </a:r>
              <a:r>
                <a:rPr lang="en-US" altLang="zh-CN" sz="2800" b="1" dirty="0">
                  <a:solidFill>
                    <a:srgbClr val="0070C0"/>
                  </a:solidFill>
                  <a:latin typeface="Times New Roman" panose="02020603050405020304" pitchFamily="18" charset="0"/>
                  <a:cs typeface="Times New Roman" panose="02020603050405020304" pitchFamily="18" charset="0"/>
                </a:rPr>
                <a:t>E</a:t>
              </a:r>
              <a:r>
                <a:rPr lang="zh-CN" altLang="zh-CN" sz="2800" b="1" dirty="0">
                  <a:solidFill>
                    <a:srgbClr val="0070C0"/>
                  </a:solidFill>
                  <a:latin typeface="Times New Roman" panose="02020603050405020304" pitchFamily="18" charset="0"/>
                  <a:cs typeface="Times New Roman" panose="02020603050405020304" pitchFamily="18" charset="0"/>
                </a:rPr>
                <a:t>diting and </a:t>
              </a:r>
              <a:r>
                <a:rPr lang="en-US" altLang="zh-CN" sz="2800" b="1" dirty="0">
                  <a:solidFill>
                    <a:srgbClr val="0070C0"/>
                  </a:solidFill>
                  <a:latin typeface="Times New Roman" panose="02020603050405020304" pitchFamily="18" charset="0"/>
                  <a:cs typeface="Times New Roman" panose="02020603050405020304" pitchFamily="18" charset="0"/>
                </a:rPr>
                <a:t>S</a:t>
              </a:r>
              <a:r>
                <a:rPr lang="zh-CN" altLang="zh-CN" sz="2800" b="1" dirty="0">
                  <a:solidFill>
                    <a:srgbClr val="0070C0"/>
                  </a:solidFill>
                  <a:latin typeface="Times New Roman" panose="02020603050405020304" pitchFamily="18" charset="0"/>
                  <a:cs typeface="Times New Roman" panose="02020603050405020304" pitchFamily="18" charset="0"/>
                </a:rPr>
                <a:t>tyle </a:t>
              </a:r>
              <a:r>
                <a:rPr lang="en-US" altLang="zh-CN" sz="2800" b="1" dirty="0">
                  <a:solidFill>
                    <a:srgbClr val="0070C0"/>
                  </a:solidFill>
                  <a:latin typeface="Times New Roman" panose="02020603050405020304" pitchFamily="18" charset="0"/>
                  <a:cs typeface="Times New Roman" panose="02020603050405020304" pitchFamily="18" charset="0"/>
                </a:rPr>
                <a:t>I</a:t>
              </a:r>
              <a:r>
                <a:rPr lang="zh-CN" altLang="zh-CN" sz="2800" b="1" dirty="0">
                  <a:solidFill>
                    <a:srgbClr val="0070C0"/>
                  </a:solidFill>
                  <a:latin typeface="Times New Roman" panose="02020603050405020304" pitchFamily="18" charset="0"/>
                  <a:cs typeface="Times New Roman" panose="02020603050405020304" pitchFamily="18" charset="0"/>
                </a:rPr>
                <a:t>ntensity </a:t>
              </a:r>
              <a:r>
                <a:rPr lang="en-US" altLang="zh-CN" sz="2800" b="1" dirty="0">
                  <a:solidFill>
                    <a:srgbClr val="0070C0"/>
                  </a:solidFill>
                  <a:latin typeface="Times New Roman" panose="02020603050405020304" pitchFamily="18" charset="0"/>
                  <a:cs typeface="Times New Roman" panose="02020603050405020304" pitchFamily="18" charset="0"/>
                </a:rPr>
                <a:t>C</a:t>
              </a:r>
              <a:r>
                <a:rPr lang="zh-CN" altLang="zh-CN" sz="2800" b="1" dirty="0">
                  <a:solidFill>
                    <a:srgbClr val="0070C0"/>
                  </a:solidFill>
                  <a:latin typeface="Times New Roman" panose="02020603050405020304" pitchFamily="18" charset="0"/>
                  <a:cs typeface="Times New Roman" panose="02020603050405020304" pitchFamily="18" charset="0"/>
                </a:rPr>
                <a:t>ontrol</a:t>
              </a:r>
              <a:endParaRPr lang="zh-CN" altLang="en-US" sz="2800" b="1" dirty="0">
                <a:solidFill>
                  <a:srgbClr val="0070C0"/>
                </a:solidFill>
                <a:latin typeface="Times New Roman" panose="02020603050405020304" pitchFamily="18" charset="0"/>
                <a:cs typeface="Times New Roman" panose="02020603050405020304" pitchFamily="18" charset="0"/>
              </a:endParaRPr>
            </a:p>
          </p:txBody>
        </p:sp>
        <p:sp>
          <p:nvSpPr>
            <p:cNvPr id="50" name="矩形 49"/>
            <p:cNvSpPr/>
            <p:nvPr/>
          </p:nvSpPr>
          <p:spPr>
            <a:xfrm>
              <a:off x="9105" y="2613"/>
              <a:ext cx="1317" cy="1152"/>
            </a:xfrm>
            <a:prstGeom prst="rect">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zh-CN" altLang="en-US"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1" name="矩形 50"/>
            <p:cNvSpPr/>
            <p:nvPr/>
          </p:nvSpPr>
          <p:spPr>
            <a:xfrm>
              <a:off x="9105" y="4511"/>
              <a:ext cx="1317" cy="1152"/>
            </a:xfrm>
            <a:prstGeom prst="rect">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3" name="矩形 52"/>
            <p:cNvSpPr/>
            <p:nvPr/>
          </p:nvSpPr>
          <p:spPr>
            <a:xfrm>
              <a:off x="9105" y="6924"/>
              <a:ext cx="1317" cy="1152"/>
            </a:xfrm>
            <a:prstGeom prst="rect">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3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文本框 53"/>
            <p:cNvSpPr txBox="1"/>
            <p:nvPr/>
          </p:nvSpPr>
          <p:spPr>
            <a:xfrm>
              <a:off x="10664" y="4676"/>
              <a:ext cx="6400" cy="822"/>
            </a:xfrm>
            <a:prstGeom prst="rect">
              <a:avLst/>
            </a:prstGeom>
            <a:noFill/>
          </p:spPr>
          <p:txBody>
            <a:bodyPr wrap="square" rtlCol="0">
              <a:spAutoFit/>
            </a:bodyPr>
            <a:lstStyle/>
            <a:p>
              <a:r>
                <a:rPr lang="en-US" altLang="zh-CN" sz="2800" b="1" dirty="0">
                  <a:solidFill>
                    <a:srgbClr val="006BC0"/>
                  </a:solidFill>
                  <a:latin typeface="Times New Roman" panose="02020503050405090304" charset="0"/>
                  <a:cs typeface="Times New Roman" panose="02020503050405090304" charset="0"/>
                </a:rPr>
                <a:t>Prompt - to - Prompt</a:t>
              </a:r>
            </a:p>
          </p:txBody>
        </p:sp>
      </p:grpSp>
      <p:grpSp>
        <p:nvGrpSpPr>
          <p:cNvPr id="16" name="组合 15"/>
          <p:cNvGrpSpPr/>
          <p:nvPr/>
        </p:nvGrpSpPr>
        <p:grpSpPr>
          <a:xfrm>
            <a:off x="2270125" y="104140"/>
            <a:ext cx="9402445" cy="891540"/>
            <a:chOff x="3575" y="164"/>
            <a:chExt cx="14807" cy="1404"/>
          </a:xfrm>
        </p:grpSpPr>
        <p:grpSp>
          <p:nvGrpSpPr>
            <p:cNvPr id="3" name="组合 2"/>
            <p:cNvGrpSpPr/>
            <p:nvPr/>
          </p:nvGrpSpPr>
          <p:grpSpPr>
            <a:xfrm>
              <a:off x="3575" y="164"/>
              <a:ext cx="14807" cy="1404"/>
              <a:chOff x="3563" y="180"/>
              <a:chExt cx="14807" cy="1404"/>
            </a:xfrm>
          </p:grpSpPr>
          <p:sp>
            <p:nvSpPr>
              <p:cNvPr id="44" name="文本框 43"/>
              <p:cNvSpPr txBox="1"/>
              <p:nvPr/>
            </p:nvSpPr>
            <p:spPr>
              <a:xfrm>
                <a:off x="12799" y="361"/>
                <a:ext cx="2734" cy="825"/>
              </a:xfrm>
              <a:prstGeom prst="rect">
                <a:avLst/>
              </a:prstGeom>
              <a:noFill/>
            </p:spPr>
            <p:txBody>
              <a:bodyPr vert="horz" wrap="none" rtlCol="0">
                <a:noAutofit/>
              </a:bodyPr>
              <a:lstStyle/>
              <a:p>
                <a:pPr algn="ctr"/>
                <a:r>
                  <a:rPr kumimoji="1" lang="en-US" altLang="zh-CN" sz="2000" b="1" spc="300" dirty="0">
                    <a:solidFill>
                      <a:srgbClr val="006BC0"/>
                    </a:solidFill>
                    <a:latin typeface="Times New Roman" panose="02020503050405090304" charset="0"/>
                    <a:ea typeface="微软雅黑" panose="020B0503020204020204" pitchFamily="34" charset="-122"/>
                    <a:cs typeface="Times New Roman" panose="02020503050405090304" charset="0"/>
                  </a:rPr>
                  <a:t>Methods</a:t>
                </a:r>
              </a:p>
            </p:txBody>
          </p:sp>
          <p:sp>
            <p:nvSpPr>
              <p:cNvPr id="5" name="文本框 4"/>
              <p:cNvSpPr txBox="1"/>
              <p:nvPr/>
            </p:nvSpPr>
            <p:spPr>
              <a:xfrm>
                <a:off x="16222" y="350"/>
                <a:ext cx="2148" cy="580"/>
              </a:xfrm>
              <a:prstGeom prst="rect">
                <a:avLst/>
              </a:prstGeom>
              <a:noFill/>
            </p:spPr>
            <p:txBody>
              <a:bodyPr vert="horz" wrap="square" rtlCol="0">
                <a:spAutoFit/>
              </a:bodyPr>
              <a:lstStyle/>
              <a:p>
                <a:pPr algn="ctr"/>
                <a:r>
                  <a:rPr kumimoji="1" lang="en-US" altLang="zh-CN" b="1" spc="300" dirty="0">
                    <a:solidFill>
                      <a:schemeClr val="bg1"/>
                    </a:solidFill>
                    <a:latin typeface="Times New Roman Regular" panose="02020503050405090304" charset="0"/>
                    <a:ea typeface="微软雅黑" panose="020B0503020204020204" pitchFamily="34" charset="-122"/>
                    <a:cs typeface="Times New Roman Regular" panose="02020503050405090304" charset="0"/>
                  </a:rPr>
                  <a:t>Results</a:t>
                </a:r>
              </a:p>
            </p:txBody>
          </p:sp>
          <p:sp>
            <p:nvSpPr>
              <p:cNvPr id="9" name="文本框 8"/>
              <p:cNvSpPr txBox="1"/>
              <p:nvPr/>
            </p:nvSpPr>
            <p:spPr>
              <a:xfrm>
                <a:off x="3563" y="180"/>
                <a:ext cx="4785" cy="1404"/>
              </a:xfrm>
              <a:prstGeom prst="rect">
                <a:avLst/>
              </a:prstGeom>
              <a:noFill/>
            </p:spPr>
            <p:txBody>
              <a:bodyPr vert="horz" wrap="square" rtlCol="0">
                <a:spAutoFit/>
              </a:bodyPr>
              <a:lstStyle/>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Background </a:t>
                </a:r>
              </a:p>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&amp; Significance</a:t>
                </a: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a:p>
                <a:pPr algn="ct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p:txBody>
          </p:sp>
        </p:grpSp>
        <p:sp>
          <p:nvSpPr>
            <p:cNvPr id="14" name="文本框 13"/>
            <p:cNvSpPr txBox="1"/>
            <p:nvPr/>
          </p:nvSpPr>
          <p:spPr>
            <a:xfrm>
              <a:off x="8352" y="348"/>
              <a:ext cx="2878" cy="630"/>
            </a:xfrm>
            <a:prstGeom prst="rect">
              <a:avLst/>
            </a:prstGeom>
            <a:noFill/>
          </p:spPr>
          <p:txBody>
            <a:bodyPr vert="horz" wrap="none" rtlCol="0">
              <a:spAutoFit/>
            </a:bodyPr>
            <a:lstStyle/>
            <a:p>
              <a:pPr algn="ctr"/>
              <a:r>
                <a:rPr kumimoji="1" lang="en-US" altLang="zh-CN" sz="2000" b="1" spc="300" dirty="0">
                  <a:solidFill>
                    <a:schemeClr val="bg1"/>
                  </a:solidFill>
                  <a:latin typeface="Times New Roman" panose="02020503050405090304" charset="0"/>
                  <a:ea typeface="微软雅黑" panose="020B0503020204020204" pitchFamily="34" charset="-122"/>
                  <a:cs typeface="Times New Roman" panose="02020503050405090304" charset="0"/>
                </a:rPr>
                <a:t>Framework</a:t>
              </a:r>
            </a:p>
          </p:txBody>
        </p:sp>
      </p:grpSp>
      <p:sp>
        <p:nvSpPr>
          <p:cNvPr id="12" name="灯片编号占位符 11">
            <a:extLst>
              <a:ext uri="{FF2B5EF4-FFF2-40B4-BE49-F238E27FC236}">
                <a16:creationId xmlns:a16="http://schemas.microsoft.com/office/drawing/2014/main" id="{AEBE25D1-938F-DC69-CE63-FEC503EEDAED}"/>
              </a:ext>
            </a:extLst>
          </p:cNvPr>
          <p:cNvSpPr>
            <a:spLocks noGrp="1"/>
          </p:cNvSpPr>
          <p:nvPr>
            <p:ph type="sldNum" sz="quarter" idx="12"/>
          </p:nvPr>
        </p:nvSpPr>
        <p:spPr/>
        <p:txBody>
          <a:bodyPr/>
          <a:lstStyle/>
          <a:p>
            <a:fld id="{E6518835-16E6-9244-9C02-6BFB876E5D3C}" type="slidenum">
              <a:rPr kumimoji="1" lang="zh-CN" altLang="en-US" smtClean="0"/>
              <a:t>5</a:t>
            </a:fld>
            <a:endParaRPr kumimoji="1"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DEAA1-7EEA-B30E-759A-62B72DEB4AD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EEBCB3CF-FF66-FEE4-052D-E1F34F383403}"/>
              </a:ext>
            </a:extLst>
          </p:cNvPr>
          <p:cNvSpPr/>
          <p:nvPr/>
        </p:nvSpPr>
        <p:spPr>
          <a:xfrm>
            <a:off x="0" y="161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3" name="组合 12">
            <a:extLst>
              <a:ext uri="{FF2B5EF4-FFF2-40B4-BE49-F238E27FC236}">
                <a16:creationId xmlns:a16="http://schemas.microsoft.com/office/drawing/2014/main" id="{0D45DDD7-64D9-58A4-731E-0124A70A2C6F}"/>
              </a:ext>
            </a:extLst>
          </p:cNvPr>
          <p:cNvGrpSpPr/>
          <p:nvPr/>
        </p:nvGrpSpPr>
        <p:grpSpPr>
          <a:xfrm>
            <a:off x="370072" y="219176"/>
            <a:ext cx="2150839" cy="449040"/>
            <a:chOff x="2085654" y="644950"/>
            <a:chExt cx="7772400" cy="1622679"/>
          </a:xfrm>
        </p:grpSpPr>
        <p:pic>
          <p:nvPicPr>
            <p:cNvPr id="41" name="图片 40">
              <a:extLst>
                <a:ext uri="{FF2B5EF4-FFF2-40B4-BE49-F238E27FC236}">
                  <a16:creationId xmlns:a16="http://schemas.microsoft.com/office/drawing/2014/main" id="{AAA99611-A688-C0BF-4EDA-F485B036BC5D}"/>
                </a:ext>
              </a:extLst>
            </p:cNvPr>
            <p:cNvPicPr>
              <a:picLocks noChangeAspect="1"/>
            </p:cNvPicPr>
            <p:nvPr/>
          </p:nvPicPr>
          <p:blipFill rotWithShape="1">
            <a:blip r:embed="rId3"/>
            <a:srcRect r="78982"/>
            <a:stretch/>
          </p:blipFill>
          <p:spPr>
            <a:xfrm>
              <a:off x="2085654" y="644950"/>
              <a:ext cx="1633591" cy="1622679"/>
            </a:xfrm>
            <a:prstGeom prst="rect">
              <a:avLst/>
            </a:prstGeom>
          </p:spPr>
        </p:pic>
        <p:pic>
          <p:nvPicPr>
            <p:cNvPr id="42" name="图片 41">
              <a:extLst>
                <a:ext uri="{FF2B5EF4-FFF2-40B4-BE49-F238E27FC236}">
                  <a16:creationId xmlns:a16="http://schemas.microsoft.com/office/drawing/2014/main" id="{4D9B22FC-5CB1-6EBC-EAE8-CCDBCDCA3C40}"/>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8" name="文本框 7">
            <a:extLst>
              <a:ext uri="{FF2B5EF4-FFF2-40B4-BE49-F238E27FC236}">
                <a16:creationId xmlns:a16="http://schemas.microsoft.com/office/drawing/2014/main" id="{EE019D25-6D01-4A42-6A64-8816BDE912D8}"/>
              </a:ext>
            </a:extLst>
          </p:cNvPr>
          <p:cNvSpPr txBox="1"/>
          <p:nvPr/>
        </p:nvSpPr>
        <p:spPr>
          <a:xfrm>
            <a:off x="3134060" y="2921168"/>
            <a:ext cx="8242766" cy="1015663"/>
          </a:xfrm>
          <a:prstGeom prst="rect">
            <a:avLst/>
          </a:prstGeom>
          <a:noFill/>
        </p:spPr>
        <p:txBody>
          <a:bodyPr wrap="square" rtlCol="0">
            <a:spAutoFit/>
          </a:bodyPr>
          <a:lstStyle/>
          <a:p>
            <a:pPr algn="ctr"/>
            <a:r>
              <a:rPr lang="en-US" altLang="zh-CN" sz="6000" b="1" dirty="0">
                <a:solidFill>
                  <a:srgbClr val="0070C0"/>
                </a:solidFill>
                <a:latin typeface="Times New Roman" panose="02020603050405020304" pitchFamily="18" charset="0"/>
                <a:cs typeface="Times New Roman" panose="02020603050405020304" pitchFamily="18" charset="0"/>
              </a:rPr>
              <a:t>Null-Text Inversion</a:t>
            </a:r>
            <a:endParaRPr lang="zh-CN" altLang="en-US" sz="6000" b="1" dirty="0">
              <a:solidFill>
                <a:srgbClr val="0070C0"/>
              </a:solidFill>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CCC77ABF-408A-BD0F-B54A-6FEBA03C4B4F}"/>
              </a:ext>
            </a:extLst>
          </p:cNvPr>
          <p:cNvSpPr txBox="1"/>
          <p:nvPr/>
        </p:nvSpPr>
        <p:spPr>
          <a:xfrm>
            <a:off x="1807296" y="2583140"/>
            <a:ext cx="1620000" cy="1569660"/>
          </a:xfrm>
          <a:prstGeom prst="rect">
            <a:avLst/>
          </a:prstGeom>
          <a:solidFill>
            <a:srgbClr val="0070C0"/>
          </a:solidFill>
          <a:ln>
            <a:solidFill>
              <a:srgbClr val="0070C0"/>
            </a:solidFill>
          </a:ln>
        </p:spPr>
        <p:txBody>
          <a:bodyPr wrap="square" rtlCol="0">
            <a:spAutoFit/>
          </a:bodyPr>
          <a:lstStyle/>
          <a:p>
            <a:pPr algn="ctr"/>
            <a:r>
              <a:rPr lang="en-US" altLang="zh-CN" sz="9600" b="1" dirty="0">
                <a:solidFill>
                  <a:schemeClr val="bg1"/>
                </a:solidFill>
                <a:latin typeface="Calibri" panose="020F0502020204030204" pitchFamily="34" charset="0"/>
                <a:ea typeface="Calibri" panose="020F0502020204030204" pitchFamily="34" charset="0"/>
                <a:cs typeface="Calibri" panose="020F0502020204030204" pitchFamily="34" charset="0"/>
              </a:rPr>
              <a:t>01</a:t>
            </a:r>
            <a:endParaRPr lang="zh-CN" altLang="en-US" sz="9600" b="1" dirty="0">
              <a:solidFill>
                <a:schemeClr val="bg1"/>
              </a:solidFill>
              <a:latin typeface="Calibri" panose="020F0502020204030204" pitchFamily="34" charset="0"/>
              <a:cs typeface="Calibri" panose="020F0502020204030204" pitchFamily="34" charset="0"/>
            </a:endParaRPr>
          </a:p>
        </p:txBody>
      </p:sp>
      <p:sp>
        <p:nvSpPr>
          <p:cNvPr id="2" name="灯片编号占位符 1">
            <a:extLst>
              <a:ext uri="{FF2B5EF4-FFF2-40B4-BE49-F238E27FC236}">
                <a16:creationId xmlns:a16="http://schemas.microsoft.com/office/drawing/2014/main" id="{DEE856D4-D5DA-A31D-4473-554E0A251187}"/>
              </a:ext>
            </a:extLst>
          </p:cNvPr>
          <p:cNvSpPr>
            <a:spLocks noGrp="1"/>
          </p:cNvSpPr>
          <p:nvPr>
            <p:ph type="sldNum" sz="quarter" idx="12"/>
          </p:nvPr>
        </p:nvSpPr>
        <p:spPr/>
        <p:txBody>
          <a:bodyPr/>
          <a:lstStyle/>
          <a:p>
            <a:fld id="{E6518835-16E6-9244-9C02-6BFB876E5D3C}" type="slidenum">
              <a:rPr kumimoji="1" lang="zh-CN" altLang="en-US" smtClean="0"/>
              <a:t>6</a:t>
            </a:fld>
            <a:endParaRPr kumimoji="1" lang="zh-CN" altLang="en-US"/>
          </a:p>
        </p:txBody>
      </p:sp>
    </p:spTree>
    <p:extLst>
      <p:ext uri="{BB962C8B-B14F-4D97-AF65-F5344CB8AC3E}">
        <p14:creationId xmlns:p14="http://schemas.microsoft.com/office/powerpoint/2010/main" val="4089373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p:cNvSpPr/>
          <p:nvPr/>
        </p:nvSpPr>
        <p:spPr>
          <a:xfrm>
            <a:off x="8016240" y="0"/>
            <a:ext cx="1919605"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 name="PA-直接连接符 17"/>
          <p:cNvCxnSpPr/>
          <p:nvPr>
            <p:custDataLst>
              <p:tags r:id="rId1"/>
            </p:custDataLst>
          </p:nvPr>
        </p:nvCxnSpPr>
        <p:spPr>
          <a:xfrm>
            <a:off x="1549217" y="1659981"/>
            <a:ext cx="4799965" cy="4445"/>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PA-直接连接符 17"/>
          <p:cNvCxnSpPr/>
          <p:nvPr>
            <p:custDataLst>
              <p:tags r:id="rId2"/>
            </p:custDataLst>
          </p:nvPr>
        </p:nvCxnSpPr>
        <p:spPr>
          <a:xfrm>
            <a:off x="548533" y="165998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9" name="PA-文本框 14"/>
          <p:cNvSpPr txBox="1"/>
          <p:nvPr>
            <p:custDataLst>
              <p:tags r:id="rId3"/>
            </p:custDataLst>
          </p:nvPr>
        </p:nvSpPr>
        <p:spPr>
          <a:xfrm>
            <a:off x="441672" y="1066036"/>
            <a:ext cx="4158478" cy="52197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anose="05000000000000000000" pitchFamily="2" charset="2"/>
              <a:buChar char="Ø"/>
            </a:pPr>
            <a:r>
              <a:rPr lang="en-US" altLang="zh-CN" dirty="0">
                <a:solidFill>
                  <a:srgbClr val="006BC0"/>
                </a:solidFill>
                <a:latin typeface="Times New Roman" panose="02020603050405020304" charset="0"/>
                <a:cs typeface="Times New Roman" panose="02020603050405020304" charset="0"/>
              </a:rPr>
              <a:t>Null-text Inversion</a:t>
            </a:r>
          </a:p>
        </p:txBody>
      </p:sp>
      <p:grpSp>
        <p:nvGrpSpPr>
          <p:cNvPr id="31" name="组合 30"/>
          <p:cNvGrpSpPr/>
          <p:nvPr/>
        </p:nvGrpSpPr>
        <p:grpSpPr>
          <a:xfrm>
            <a:off x="370072" y="219176"/>
            <a:ext cx="2150839" cy="449040"/>
            <a:chOff x="2085654" y="644950"/>
            <a:chExt cx="7772400" cy="1622679"/>
          </a:xfrm>
        </p:grpSpPr>
        <p:pic>
          <p:nvPicPr>
            <p:cNvPr id="32" name="图片 31"/>
            <p:cNvPicPr>
              <a:picLocks noChangeAspect="1"/>
            </p:cNvPicPr>
            <p:nvPr/>
          </p:nvPicPr>
          <p:blipFill rotWithShape="1">
            <a:blip r:embed="rId6"/>
            <a:srcRect r="78982"/>
            <a:stretch>
              <a:fillRect/>
            </a:stretch>
          </p:blipFill>
          <p:spPr>
            <a:xfrm>
              <a:off x="2085654" y="644950"/>
              <a:ext cx="1633591" cy="1622679"/>
            </a:xfrm>
            <a:prstGeom prst="rect">
              <a:avLst/>
            </a:prstGeom>
          </p:spPr>
        </p:pic>
        <p:pic>
          <p:nvPicPr>
            <p:cNvPr id="33" name="图片 32"/>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a:fillRect/>
            </a:stretch>
          </p:blipFill>
          <p:spPr>
            <a:xfrm>
              <a:off x="3914454" y="644950"/>
              <a:ext cx="5943600" cy="1622679"/>
            </a:xfrm>
            <a:prstGeom prst="rect">
              <a:avLst/>
            </a:prstGeom>
          </p:spPr>
        </p:pic>
      </p:grpSp>
      <p:sp>
        <p:nvSpPr>
          <p:cNvPr id="35" name="文本框 34"/>
          <p:cNvSpPr txBox="1"/>
          <p:nvPr/>
        </p:nvSpPr>
        <p:spPr>
          <a:xfrm>
            <a:off x="611505" y="2032000"/>
            <a:ext cx="5076825" cy="1753235"/>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Null-text Inversion is an image reconstruction and text-driven editing method. It embeds real images into the latent space of diffusion models through two key steps: pivotal inversion and null-text optimization, enabling high-fidelity reconstruction and text-driven editing.</a:t>
            </a:r>
          </a:p>
        </p:txBody>
      </p:sp>
      <p:sp>
        <p:nvSpPr>
          <p:cNvPr id="36" name="文本框 35"/>
          <p:cNvSpPr txBox="1"/>
          <p:nvPr/>
        </p:nvSpPr>
        <p:spPr>
          <a:xfrm>
            <a:off x="611505" y="4516755"/>
            <a:ext cx="10966450" cy="2051685"/>
          </a:xfrm>
          <a:prstGeom prst="rect">
            <a:avLst/>
          </a:prstGeom>
          <a:noFill/>
        </p:spPr>
        <p:txBody>
          <a:bodyPr wrap="square" rtlCol="0">
            <a:noAutofit/>
          </a:bodyPr>
          <a:lstStyle/>
          <a:p>
            <a:r>
              <a:rPr lang="en-US" altLang="zh-CN">
                <a:latin typeface="Times New Roman" panose="02020603050405020304" charset="0"/>
                <a:cs typeface="Times New Roman" panose="02020603050405020304" charset="0"/>
              </a:rPr>
              <a:t>Two Core of Null-text Inversion——</a:t>
            </a:r>
            <a:r>
              <a:rPr lang="en-US" altLang="zh-CN" i="1">
                <a:latin typeface="Times New Roman" panose="02020603050405020304" charset="0"/>
                <a:cs typeface="Times New Roman" panose="02020603050405020304" charset="0"/>
              </a:rPr>
              <a:t>Pivotal Inversion</a:t>
            </a:r>
            <a:r>
              <a:rPr lang="en-US" altLang="zh-CN">
                <a:latin typeface="Times New Roman" panose="02020603050405020304" charset="0"/>
                <a:cs typeface="Times New Roman" panose="02020603050405020304" charset="0"/>
              </a:rPr>
              <a:t> and </a:t>
            </a:r>
            <a:r>
              <a:rPr lang="en-US" altLang="zh-CN" i="1">
                <a:latin typeface="Times New Roman" panose="02020603050405020304" charset="0"/>
                <a:cs typeface="Times New Roman" panose="02020603050405020304" charset="0"/>
              </a:rPr>
              <a:t>Null-text Optimization</a:t>
            </a:r>
          </a:p>
          <a:p>
            <a:r>
              <a:rPr lang="en-US" altLang="zh-CN" b="1">
                <a:latin typeface="Times New Roman" panose="02020603050405020304" charset="0"/>
                <a:cs typeface="Times New Roman" panose="02020603050405020304" charset="0"/>
                <a:sym typeface="+mn-ea"/>
              </a:rPr>
              <a:t>Pivotal Inversion:</a:t>
            </a:r>
            <a:r>
              <a:rPr lang="en-US" altLang="zh-CN">
                <a:latin typeface="Times New Roman" panose="02020603050405020304" charset="0"/>
                <a:cs typeface="Times New Roman" panose="02020603050405020304" charset="0"/>
              </a:rPr>
              <a:t>The initial trajectory obtained by DDIM inversion is used as the "hub", and the optimization around it is carried out to gradually approach the original image coding, avoiding random noise initialization, improving efficiency and editability.</a:t>
            </a:r>
          </a:p>
          <a:p>
            <a:r>
              <a:rPr lang="en-US" altLang="zh-CN" b="1">
                <a:latin typeface="Times New Roman" panose="02020603050405020304" charset="0"/>
                <a:cs typeface="Times New Roman" panose="02020603050405020304" charset="0"/>
              </a:rPr>
              <a:t>Null-text Optimization:</a:t>
            </a:r>
            <a:r>
              <a:rPr lang="en-US" altLang="zh-CN">
                <a:latin typeface="Times New Roman" panose="02020603050405020304" charset="0"/>
                <a:cs typeface="Times New Roman" panose="02020603050405020304" charset="0"/>
              </a:rPr>
              <a:t>Only the null-text embedding is optimized, while the model weights and conditional embedding remain unchanged, thereby preserving the model's editing capabilities.</a:t>
            </a:r>
          </a:p>
        </p:txBody>
      </p:sp>
      <p:pic>
        <p:nvPicPr>
          <p:cNvPr id="39" name="图片 38"/>
          <p:cNvPicPr>
            <a:picLocks noChangeAspect="1"/>
          </p:cNvPicPr>
          <p:nvPr/>
        </p:nvPicPr>
        <p:blipFill>
          <a:blip r:embed="rId9"/>
          <a:stretch>
            <a:fillRect/>
          </a:stretch>
        </p:blipFill>
        <p:spPr>
          <a:xfrm>
            <a:off x="5962650" y="921385"/>
            <a:ext cx="5550535" cy="3587750"/>
          </a:xfrm>
          <a:prstGeom prst="rect">
            <a:avLst/>
          </a:prstGeom>
        </p:spPr>
      </p:pic>
      <p:sp>
        <p:nvSpPr>
          <p:cNvPr id="5" name="文本框 4"/>
          <p:cNvSpPr txBox="1"/>
          <p:nvPr/>
        </p:nvSpPr>
        <p:spPr>
          <a:xfrm>
            <a:off x="8675370" y="219075"/>
            <a:ext cx="675640" cy="398780"/>
          </a:xfrm>
          <a:prstGeom prst="rect">
            <a:avLst/>
          </a:prstGeom>
          <a:noFill/>
        </p:spPr>
        <p:txBody>
          <a:bodyPr wrap="square" rtlCol="0">
            <a:spAutoFit/>
          </a:bodyPr>
          <a:lstStyle/>
          <a:p>
            <a:r>
              <a:rPr lang="en-US" altLang="zh-CN" sz="2000" b="1">
                <a:solidFill>
                  <a:schemeClr val="accent1"/>
                </a:solidFill>
                <a:latin typeface="Times New Roman" panose="02020603050405020304" charset="0"/>
                <a:cs typeface="Times New Roman" panose="02020603050405020304" charset="0"/>
              </a:rPr>
              <a:t>NTI</a:t>
            </a:r>
          </a:p>
        </p:txBody>
      </p:sp>
      <p:sp>
        <p:nvSpPr>
          <p:cNvPr id="6" name="灯片编号占位符 5">
            <a:extLst>
              <a:ext uri="{FF2B5EF4-FFF2-40B4-BE49-F238E27FC236}">
                <a16:creationId xmlns:a16="http://schemas.microsoft.com/office/drawing/2014/main" id="{23C09AA8-7B6D-6F47-068D-D70D30577649}"/>
              </a:ext>
            </a:extLst>
          </p:cNvPr>
          <p:cNvSpPr>
            <a:spLocks noGrp="1"/>
          </p:cNvSpPr>
          <p:nvPr>
            <p:ph type="sldNum" sz="quarter" idx="12"/>
          </p:nvPr>
        </p:nvSpPr>
        <p:spPr/>
        <p:txBody>
          <a:bodyPr/>
          <a:lstStyle/>
          <a:p>
            <a:fld id="{E6518835-16E6-9244-9C02-6BFB876E5D3C}" type="slidenum">
              <a:rPr kumimoji="1" lang="zh-CN" altLang="en-US" smtClean="0"/>
              <a:t>7</a:t>
            </a:fld>
            <a:endParaRPr kumimoji="1" lang="zh-CN" altLang="en-US"/>
          </a:p>
        </p:txBody>
      </p:sp>
    </p:spTree>
    <p:extLst>
      <p:ext uri="{BB962C8B-B14F-4D97-AF65-F5344CB8AC3E}">
        <p14:creationId xmlns:p14="http://schemas.microsoft.com/office/powerpoint/2010/main" val="1028527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p:cNvSpPr/>
          <p:nvPr/>
        </p:nvSpPr>
        <p:spPr>
          <a:xfrm>
            <a:off x="8016240" y="0"/>
            <a:ext cx="1919605"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1" name="组合 30"/>
          <p:cNvGrpSpPr/>
          <p:nvPr/>
        </p:nvGrpSpPr>
        <p:grpSpPr>
          <a:xfrm>
            <a:off x="370072" y="219176"/>
            <a:ext cx="2150839" cy="449040"/>
            <a:chOff x="2085654" y="644950"/>
            <a:chExt cx="7772400" cy="1622679"/>
          </a:xfrm>
        </p:grpSpPr>
        <p:pic>
          <p:nvPicPr>
            <p:cNvPr id="32" name="图片 31"/>
            <p:cNvPicPr>
              <a:picLocks noChangeAspect="1"/>
            </p:cNvPicPr>
            <p:nvPr/>
          </p:nvPicPr>
          <p:blipFill rotWithShape="1">
            <a:blip r:embed="rId6"/>
            <a:srcRect r="78982"/>
            <a:stretch>
              <a:fillRect/>
            </a:stretch>
          </p:blipFill>
          <p:spPr>
            <a:xfrm>
              <a:off x="2085654" y="644950"/>
              <a:ext cx="1633591" cy="1622679"/>
            </a:xfrm>
            <a:prstGeom prst="rect">
              <a:avLst/>
            </a:prstGeom>
          </p:spPr>
        </p:pic>
        <p:pic>
          <p:nvPicPr>
            <p:cNvPr id="33" name="图片 32"/>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a:fillRect/>
            </a:stretch>
          </p:blipFill>
          <p:spPr>
            <a:xfrm>
              <a:off x="3914454" y="644950"/>
              <a:ext cx="5943600" cy="1622679"/>
            </a:xfrm>
            <a:prstGeom prst="rect">
              <a:avLst/>
            </a:prstGeom>
          </p:spPr>
        </p:pic>
      </p:grpSp>
      <p:sp>
        <p:nvSpPr>
          <p:cNvPr id="5" name="文本框 4"/>
          <p:cNvSpPr txBox="1"/>
          <p:nvPr/>
        </p:nvSpPr>
        <p:spPr>
          <a:xfrm>
            <a:off x="8638540" y="219075"/>
            <a:ext cx="675640" cy="398780"/>
          </a:xfrm>
          <a:prstGeom prst="rect">
            <a:avLst/>
          </a:prstGeom>
          <a:noFill/>
        </p:spPr>
        <p:txBody>
          <a:bodyPr wrap="square" rtlCol="0">
            <a:spAutoFit/>
          </a:bodyPr>
          <a:lstStyle/>
          <a:p>
            <a:r>
              <a:rPr lang="en-US" altLang="zh-CN" sz="2000" b="1">
                <a:solidFill>
                  <a:schemeClr val="accent1"/>
                </a:solidFill>
                <a:latin typeface="Times New Roman" panose="02020603050405020304" charset="0"/>
                <a:cs typeface="Times New Roman" panose="02020603050405020304" charset="0"/>
              </a:rPr>
              <a:t>NTI</a:t>
            </a:r>
          </a:p>
        </p:txBody>
      </p:sp>
      <p:cxnSp>
        <p:nvCxnSpPr>
          <p:cNvPr id="6" name="PA-直接连接符 17"/>
          <p:cNvCxnSpPr/>
          <p:nvPr>
            <p:custDataLst>
              <p:tags r:id="rId1"/>
            </p:custDataLst>
          </p:nvPr>
        </p:nvCxnSpPr>
        <p:spPr>
          <a:xfrm>
            <a:off x="1549217" y="1452971"/>
            <a:ext cx="4799965" cy="4445"/>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7" name="PA-直接连接符 17"/>
          <p:cNvCxnSpPr/>
          <p:nvPr>
            <p:custDataLst>
              <p:tags r:id="rId2"/>
            </p:custDataLst>
          </p:nvPr>
        </p:nvCxnSpPr>
        <p:spPr>
          <a:xfrm>
            <a:off x="548533" y="145297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8" name="PA-文本框 14"/>
          <p:cNvSpPr txBox="1"/>
          <p:nvPr>
            <p:custDataLst>
              <p:tags r:id="rId3"/>
            </p:custDataLst>
          </p:nvPr>
        </p:nvSpPr>
        <p:spPr>
          <a:xfrm>
            <a:off x="441960" y="859155"/>
            <a:ext cx="4631690" cy="52197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anose="05000000000000000000" pitchFamily="2" charset="2"/>
              <a:buChar char="Ø"/>
            </a:pPr>
            <a:r>
              <a:rPr lang="en-US" altLang="zh-CN" dirty="0">
                <a:solidFill>
                  <a:srgbClr val="006BC0"/>
                </a:solidFill>
                <a:latin typeface="Times New Roman" panose="02020603050405020304" charset="0"/>
                <a:cs typeface="Times New Roman" panose="02020603050405020304" charset="0"/>
                <a:sym typeface="+mn-ea"/>
              </a:rPr>
              <a:t>Core Capabilities of NTI</a:t>
            </a:r>
          </a:p>
        </p:txBody>
      </p:sp>
      <p:sp>
        <p:nvSpPr>
          <p:cNvPr id="11" name="文本框 10"/>
          <p:cNvSpPr txBox="1"/>
          <p:nvPr/>
        </p:nvSpPr>
        <p:spPr>
          <a:xfrm>
            <a:off x="441960" y="1524635"/>
            <a:ext cx="6433185" cy="5285105"/>
          </a:xfrm>
          <a:prstGeom prst="rect">
            <a:avLst/>
          </a:prstGeom>
          <a:noFill/>
        </p:spPr>
        <p:txBody>
          <a:bodyPr wrap="square" rtlCol="0">
            <a:noAutofit/>
          </a:bodyPr>
          <a:lstStyle/>
          <a:p>
            <a:r>
              <a:rPr lang="en-US" altLang="zh-CN">
                <a:latin typeface="Times New Roman" panose="02020603050405020304" charset="0"/>
                <a:cs typeface="Times New Roman" panose="02020603050405020304" charset="0"/>
              </a:rPr>
              <a:t>The core contribution of NTI lies in being the first method that enables the Prompt-to-Prompt technique to be applied to real image editing. Through pivotal inversion and null-text optimization, NTI achieves intuitive text-driven modifications while maintaining high fidelity. Its specific capabilities include:</a:t>
            </a:r>
          </a:p>
          <a:p>
            <a:r>
              <a:rPr lang="en-US" altLang="zh-CN" sz="1400">
                <a:latin typeface="Times New Roman" panose="02020603050405020304" charset="0"/>
                <a:ea typeface="微软雅黑" panose="020B0503020204020204" charset="-122"/>
                <a:cs typeface="Times New Roman" panose="02020603050405020304" charset="0"/>
              </a:rPr>
              <a:t>●</a:t>
            </a:r>
            <a:r>
              <a:rPr lang="en-US" altLang="zh-CN">
                <a:latin typeface="Times New Roman" panose="02020603050405020304" charset="0"/>
                <a:ea typeface="微软雅黑" panose="020B0503020204020204" charset="-122"/>
                <a:cs typeface="Times New Roman" panose="02020603050405020304" charset="0"/>
              </a:rPr>
              <a:t> </a:t>
            </a:r>
            <a:r>
              <a:rPr lang="en-US" altLang="zh-CN" b="1">
                <a:latin typeface="Times New Roman" panose="02020603050405020304" charset="0"/>
                <a:cs typeface="Times New Roman" panose="02020603050405020304" charset="0"/>
              </a:rPr>
              <a:t>High-fidelity Reconstruction</a:t>
            </a:r>
            <a:r>
              <a:rPr lang="en-US" altLang="zh-CN">
                <a:latin typeface="Times New Roman" panose="02020603050405020304" charset="0"/>
                <a:cs typeface="Times New Roman" panose="02020603050405020304" charset="0"/>
              </a:rPr>
              <a:t>  </a:t>
            </a:r>
          </a:p>
          <a:p>
            <a:r>
              <a:rPr lang="en-US" altLang="zh-CN">
                <a:latin typeface="Times New Roman" panose="02020603050405020304" charset="0"/>
                <a:cs typeface="Times New Roman" panose="02020603050405020304" charset="0"/>
              </a:rPr>
              <a:t>By optimizing the null-text embedding, NTI can almost perfectly reconstruct the input real image, avoiding the distortions of traditional DDIM inversion under high guidance scales.</a:t>
            </a:r>
          </a:p>
          <a:p>
            <a:r>
              <a:rPr lang="en-US" altLang="zh-CN" sz="1400">
                <a:latin typeface="Times New Roman" panose="02020603050405020304" charset="0"/>
                <a:ea typeface="微软雅黑" panose="020B0503020204020204" charset="-122"/>
                <a:cs typeface="Times New Roman" panose="02020603050405020304" charset="0"/>
                <a:sym typeface="+mn-ea"/>
              </a:rPr>
              <a:t>●</a:t>
            </a:r>
            <a:r>
              <a:rPr lang="en-US" altLang="zh-CN">
                <a:latin typeface="Times New Roman" panose="02020603050405020304" charset="0"/>
                <a:ea typeface="微软雅黑" panose="020B0503020204020204" charset="-122"/>
                <a:cs typeface="Times New Roman" panose="02020603050405020304" charset="0"/>
                <a:sym typeface="+mn-ea"/>
              </a:rPr>
              <a:t> </a:t>
            </a:r>
            <a:r>
              <a:rPr lang="en-US" altLang="zh-CN" b="1">
                <a:latin typeface="Times New Roman" panose="02020603050405020304" charset="0"/>
                <a:cs typeface="Times New Roman" panose="02020603050405020304" charset="0"/>
              </a:rPr>
              <a:t>Text-guided Editing</a:t>
            </a:r>
            <a:r>
              <a:rPr lang="en-US" altLang="zh-CN">
                <a:latin typeface="Times New Roman" panose="02020603050405020304" charset="0"/>
                <a:cs typeface="Times New Roman" panose="02020603050405020304" charset="0"/>
              </a:rPr>
              <a:t>  </a:t>
            </a:r>
          </a:p>
          <a:p>
            <a:r>
              <a:rPr lang="en-US" altLang="zh-CN">
                <a:latin typeface="Times New Roman" panose="02020603050405020304" charset="0"/>
                <a:cs typeface="Times New Roman" panose="02020603050405020304" charset="0"/>
              </a:rPr>
              <a:t>After completing the inversion, the user only needs to modify the prompt to perform editing. For example,</a:t>
            </a:r>
            <a:r>
              <a:rPr lang="zh-CN" altLang="en-US">
                <a:latin typeface="Times New Roman" panose="02020603050405020304" charset="0"/>
                <a:cs typeface="Times New Roman" panose="02020603050405020304" charset="0"/>
              </a:rPr>
              <a:t>：</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“cat </a:t>
            </a:r>
            <a:r>
              <a:rPr lang="en-US"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tiger” </a:t>
            </a: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Object Swap</a:t>
            </a:r>
            <a:r>
              <a:rPr lang="zh-CN" altLang="en-US">
                <a:latin typeface="Times New Roman" panose="02020603050405020304" charset="0"/>
                <a:cs typeface="Times New Roman" panose="02020603050405020304" charset="0"/>
              </a:rPr>
              <a:t>）</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“photo </a:t>
            </a:r>
            <a:r>
              <a:rPr lang="en-US"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sketch” </a:t>
            </a: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Style Change</a:t>
            </a:r>
            <a:r>
              <a:rPr lang="zh-CN" altLang="en-US">
                <a:latin typeface="Times New Roman" panose="02020603050405020304" charset="0"/>
                <a:cs typeface="Times New Roman" panose="02020603050405020304" charset="0"/>
              </a:rPr>
              <a:t>）</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“flowers </a:t>
            </a:r>
            <a:r>
              <a:rPr lang="en-US"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cupcakes” </a:t>
            </a: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Semantic Replacement</a:t>
            </a:r>
            <a:r>
              <a:rPr lang="zh-CN" altLang="en-US">
                <a:latin typeface="Times New Roman" panose="02020603050405020304" charset="0"/>
                <a:cs typeface="Times New Roman" panose="02020603050405020304" charset="0"/>
              </a:rPr>
              <a:t>）</a:t>
            </a:r>
            <a:endParaRPr lang="en-US" altLang="zh-CN">
              <a:latin typeface="Times New Roman" panose="02020603050405020304" charset="0"/>
              <a:cs typeface="Times New Roman" panose="02020603050405020304" charset="0"/>
            </a:endParaRPr>
          </a:p>
          <a:p>
            <a:r>
              <a:rPr lang="en-US" altLang="zh-CN" sz="1400">
                <a:latin typeface="Times New Roman" panose="02020603050405020304" charset="0"/>
                <a:ea typeface="微软雅黑" panose="020B0503020204020204" charset="-122"/>
                <a:cs typeface="Times New Roman" panose="02020603050405020304" charset="0"/>
                <a:sym typeface="+mn-ea"/>
              </a:rPr>
              <a:t>●</a:t>
            </a:r>
            <a:r>
              <a:rPr lang="en-US" altLang="zh-CN">
                <a:latin typeface="Times New Roman" panose="02020603050405020304" charset="0"/>
                <a:ea typeface="微软雅黑" panose="020B0503020204020204" charset="-122"/>
                <a:cs typeface="Times New Roman" panose="02020603050405020304" charset="0"/>
                <a:sym typeface="+mn-ea"/>
              </a:rPr>
              <a:t> </a:t>
            </a:r>
            <a:r>
              <a:rPr lang="en-US" altLang="zh-CN" b="1">
                <a:latin typeface="Times New Roman" panose="02020603050405020304" charset="0"/>
                <a:cs typeface="Times New Roman" panose="02020603050405020304" charset="0"/>
              </a:rPr>
              <a:t>Multiple Edits</a:t>
            </a:r>
            <a:r>
              <a:rPr lang="en-US" altLang="zh-CN">
                <a:latin typeface="Times New Roman" panose="02020603050405020304" charset="0"/>
                <a:cs typeface="Times New Roman" panose="02020603050405020304" charset="0"/>
              </a:rPr>
              <a:t>  </a:t>
            </a:r>
          </a:p>
          <a:p>
            <a:r>
              <a:rPr lang="en-US" altLang="zh-CN">
                <a:latin typeface="Times New Roman" panose="02020603050405020304" charset="0"/>
                <a:cs typeface="Times New Roman" panose="02020603050405020304" charset="0"/>
              </a:rPr>
              <a:t>The optimized embedding obtained after a single inversion can be reused, supporting multiple different Prompt-to-Prompt edits on the same image without the need for retraining or fine-tuning the model.</a:t>
            </a:r>
          </a:p>
        </p:txBody>
      </p:sp>
      <p:pic>
        <p:nvPicPr>
          <p:cNvPr id="12" name="图片 11"/>
          <p:cNvPicPr>
            <a:picLocks noChangeAspect="1"/>
          </p:cNvPicPr>
          <p:nvPr/>
        </p:nvPicPr>
        <p:blipFill>
          <a:blip r:embed="rId9"/>
          <a:stretch>
            <a:fillRect/>
          </a:stretch>
        </p:blipFill>
        <p:spPr>
          <a:xfrm>
            <a:off x="7550785" y="843915"/>
            <a:ext cx="3627120" cy="2846705"/>
          </a:xfrm>
          <a:prstGeom prst="rect">
            <a:avLst/>
          </a:prstGeom>
        </p:spPr>
      </p:pic>
      <p:pic>
        <p:nvPicPr>
          <p:cNvPr id="13" name="图片 12"/>
          <p:cNvPicPr>
            <a:picLocks noChangeAspect="1"/>
          </p:cNvPicPr>
          <p:nvPr/>
        </p:nvPicPr>
        <p:blipFill>
          <a:blip r:embed="rId10"/>
          <a:stretch>
            <a:fillRect/>
          </a:stretch>
        </p:blipFill>
        <p:spPr>
          <a:xfrm>
            <a:off x="6964045" y="3690620"/>
            <a:ext cx="5227955" cy="3130550"/>
          </a:xfrm>
          <a:prstGeom prst="rect">
            <a:avLst/>
          </a:prstGeom>
        </p:spPr>
      </p:pic>
      <p:sp>
        <p:nvSpPr>
          <p:cNvPr id="2" name="灯片编号占位符 1">
            <a:extLst>
              <a:ext uri="{FF2B5EF4-FFF2-40B4-BE49-F238E27FC236}">
                <a16:creationId xmlns:a16="http://schemas.microsoft.com/office/drawing/2014/main" id="{CF280DAA-B100-7007-B05A-BC818DAF1073}"/>
              </a:ext>
            </a:extLst>
          </p:cNvPr>
          <p:cNvSpPr>
            <a:spLocks noGrp="1"/>
          </p:cNvSpPr>
          <p:nvPr>
            <p:ph type="sldNum" sz="quarter" idx="12"/>
          </p:nvPr>
        </p:nvSpPr>
        <p:spPr/>
        <p:txBody>
          <a:bodyPr/>
          <a:lstStyle/>
          <a:p>
            <a:fld id="{E6518835-16E6-9244-9C02-6BFB876E5D3C}" type="slidenum">
              <a:rPr kumimoji="1" lang="zh-CN" altLang="en-US" smtClean="0"/>
              <a:t>8</a:t>
            </a:fld>
            <a:endParaRPr kumimoji="1" lang="zh-CN" altLang="en-US"/>
          </a:p>
        </p:txBody>
      </p:sp>
    </p:spTree>
    <p:extLst>
      <p:ext uri="{BB962C8B-B14F-4D97-AF65-F5344CB8AC3E}">
        <p14:creationId xmlns:p14="http://schemas.microsoft.com/office/powerpoint/2010/main" val="3177840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p:cNvSpPr/>
          <p:nvPr/>
        </p:nvSpPr>
        <p:spPr>
          <a:xfrm>
            <a:off x="8016240" y="0"/>
            <a:ext cx="1919605"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1" name="组合 30"/>
          <p:cNvGrpSpPr/>
          <p:nvPr/>
        </p:nvGrpSpPr>
        <p:grpSpPr>
          <a:xfrm>
            <a:off x="370072" y="219176"/>
            <a:ext cx="2150839" cy="449040"/>
            <a:chOff x="2085654" y="644950"/>
            <a:chExt cx="7772400" cy="1622679"/>
          </a:xfrm>
        </p:grpSpPr>
        <p:pic>
          <p:nvPicPr>
            <p:cNvPr id="32" name="图片 31"/>
            <p:cNvPicPr>
              <a:picLocks noChangeAspect="1"/>
            </p:cNvPicPr>
            <p:nvPr/>
          </p:nvPicPr>
          <p:blipFill rotWithShape="1">
            <a:blip r:embed="rId6"/>
            <a:srcRect r="78982"/>
            <a:stretch>
              <a:fillRect/>
            </a:stretch>
          </p:blipFill>
          <p:spPr>
            <a:xfrm>
              <a:off x="2085654" y="644950"/>
              <a:ext cx="1633591" cy="1622679"/>
            </a:xfrm>
            <a:prstGeom prst="rect">
              <a:avLst/>
            </a:prstGeom>
          </p:spPr>
        </p:pic>
        <p:pic>
          <p:nvPicPr>
            <p:cNvPr id="33" name="图片 32"/>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a:fillRect/>
            </a:stretch>
          </p:blipFill>
          <p:spPr>
            <a:xfrm>
              <a:off x="3914454" y="644950"/>
              <a:ext cx="5943600" cy="1622679"/>
            </a:xfrm>
            <a:prstGeom prst="rect">
              <a:avLst/>
            </a:prstGeom>
          </p:spPr>
        </p:pic>
      </p:grpSp>
      <p:sp>
        <p:nvSpPr>
          <p:cNvPr id="5" name="文本框 4"/>
          <p:cNvSpPr txBox="1"/>
          <p:nvPr/>
        </p:nvSpPr>
        <p:spPr>
          <a:xfrm>
            <a:off x="8638540" y="219075"/>
            <a:ext cx="675640" cy="398780"/>
          </a:xfrm>
          <a:prstGeom prst="rect">
            <a:avLst/>
          </a:prstGeom>
          <a:noFill/>
        </p:spPr>
        <p:txBody>
          <a:bodyPr wrap="square" rtlCol="0">
            <a:spAutoFit/>
          </a:bodyPr>
          <a:lstStyle/>
          <a:p>
            <a:r>
              <a:rPr lang="en-US" altLang="zh-CN" sz="2000" b="1">
                <a:solidFill>
                  <a:schemeClr val="accent1"/>
                </a:solidFill>
                <a:latin typeface="Times New Roman" panose="02020603050405020304" charset="0"/>
                <a:cs typeface="Times New Roman" panose="02020603050405020304" charset="0"/>
              </a:rPr>
              <a:t>NTI</a:t>
            </a:r>
          </a:p>
        </p:txBody>
      </p:sp>
      <p:cxnSp>
        <p:nvCxnSpPr>
          <p:cNvPr id="6" name="PA-直接连接符 17"/>
          <p:cNvCxnSpPr/>
          <p:nvPr>
            <p:custDataLst>
              <p:tags r:id="rId1"/>
            </p:custDataLst>
          </p:nvPr>
        </p:nvCxnSpPr>
        <p:spPr>
          <a:xfrm>
            <a:off x="1549217" y="1452971"/>
            <a:ext cx="4799965" cy="4445"/>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7" name="PA-直接连接符 17"/>
          <p:cNvCxnSpPr/>
          <p:nvPr>
            <p:custDataLst>
              <p:tags r:id="rId2"/>
            </p:custDataLst>
          </p:nvPr>
        </p:nvCxnSpPr>
        <p:spPr>
          <a:xfrm>
            <a:off x="548533" y="145297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8" name="PA-文本框 14"/>
          <p:cNvSpPr txBox="1"/>
          <p:nvPr>
            <p:custDataLst>
              <p:tags r:id="rId3"/>
            </p:custDataLst>
          </p:nvPr>
        </p:nvSpPr>
        <p:spPr>
          <a:xfrm>
            <a:off x="441960" y="859155"/>
            <a:ext cx="10573385" cy="52197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anose="05000000000000000000" pitchFamily="2" charset="2"/>
              <a:buChar char="Ø"/>
            </a:pPr>
            <a:r>
              <a:rPr lang="en-US" altLang="zh-CN" dirty="0">
                <a:solidFill>
                  <a:srgbClr val="006BC0"/>
                </a:solidFill>
                <a:latin typeface="Times New Roman" panose="02020603050405020304" charset="0"/>
                <a:cs typeface="Times New Roman" panose="02020603050405020304" charset="0"/>
                <a:sym typeface="+mn-ea"/>
              </a:rPr>
              <a:t>Core Mechanisms and Key Auxiliary Functions of NTI</a:t>
            </a:r>
          </a:p>
        </p:txBody>
      </p:sp>
      <p:sp>
        <p:nvSpPr>
          <p:cNvPr id="3" name="文本框 2"/>
          <p:cNvSpPr txBox="1"/>
          <p:nvPr/>
        </p:nvSpPr>
        <p:spPr>
          <a:xfrm>
            <a:off x="548640" y="1524635"/>
            <a:ext cx="10698480" cy="92202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The editing process is divided into two core stages:</a:t>
            </a:r>
          </a:p>
          <a:p>
            <a:pPr marL="285750" indent="-285750">
              <a:buFont typeface="Arial" panose="020B0604020202020204" pitchFamily="34" charset="0"/>
              <a:buChar char="•"/>
            </a:pPr>
            <a:r>
              <a:rPr lang="en-US" altLang="zh-CN" b="1">
                <a:latin typeface="Times New Roman" panose="02020603050405020304" charset="0"/>
                <a:cs typeface="Times New Roman" panose="02020603050405020304" charset="0"/>
              </a:rPr>
              <a:t>DDIM Inversion:</a:t>
            </a:r>
            <a:r>
              <a:rPr lang="en-US" altLang="zh-CN">
                <a:latin typeface="Times New Roman" panose="02020603050405020304" charset="0"/>
                <a:cs typeface="Times New Roman" panose="02020603050405020304" charset="0"/>
              </a:rPr>
              <a:t> Encodes the real image into a noise trajectory.</a:t>
            </a:r>
          </a:p>
          <a:p>
            <a:pPr marL="285750" indent="-285750">
              <a:buFont typeface="Arial" panose="020B0604020202020204" pitchFamily="34" charset="0"/>
              <a:buChar char="•"/>
            </a:pPr>
            <a:r>
              <a:rPr lang="en-US" altLang="zh-CN" b="1">
                <a:latin typeface="Times New Roman" panose="02020603050405020304" charset="0"/>
                <a:cs typeface="Times New Roman" panose="02020603050405020304" charset="0"/>
              </a:rPr>
              <a:t>Null-text Optimization:</a:t>
            </a:r>
            <a:r>
              <a:rPr lang="en-US" altLang="zh-CN">
                <a:latin typeface="Times New Roman" panose="02020603050405020304" charset="0"/>
                <a:cs typeface="Times New Roman" panose="02020603050405020304" charset="0"/>
              </a:rPr>
              <a:t> Optimizes the null-text embedding to achieve high-fidelity reconstruction.</a:t>
            </a:r>
          </a:p>
        </p:txBody>
      </p:sp>
      <p:pic>
        <p:nvPicPr>
          <p:cNvPr id="17" name="图片 16"/>
          <p:cNvPicPr>
            <a:picLocks noChangeAspect="1"/>
          </p:cNvPicPr>
          <p:nvPr/>
        </p:nvPicPr>
        <p:blipFill>
          <a:blip r:embed="rId9"/>
          <a:stretch>
            <a:fillRect/>
          </a:stretch>
        </p:blipFill>
        <p:spPr>
          <a:xfrm>
            <a:off x="5462905" y="2518410"/>
            <a:ext cx="6607175" cy="2668905"/>
          </a:xfrm>
          <a:prstGeom prst="rect">
            <a:avLst/>
          </a:prstGeom>
        </p:spPr>
      </p:pic>
      <p:sp>
        <p:nvSpPr>
          <p:cNvPr id="18" name="文本框 17"/>
          <p:cNvSpPr txBox="1"/>
          <p:nvPr/>
        </p:nvSpPr>
        <p:spPr>
          <a:xfrm>
            <a:off x="581025" y="2487930"/>
            <a:ext cx="5019040" cy="3597275"/>
          </a:xfrm>
          <a:prstGeom prst="rect">
            <a:avLst/>
          </a:prstGeom>
          <a:noFill/>
        </p:spPr>
        <p:txBody>
          <a:bodyPr wrap="square" rtlCol="0">
            <a:noAutofit/>
          </a:bodyPr>
          <a:lstStyle/>
          <a:p>
            <a:r>
              <a:rPr lang="en-US" altLang="zh-CN" b="1">
                <a:latin typeface="Times New Roman" panose="02020603050405020304" charset="0"/>
                <a:cs typeface="Times New Roman" panose="02020603050405020304" charset="0"/>
              </a:rPr>
              <a:t>Key auxiliary function:</a:t>
            </a:r>
            <a:r>
              <a:rPr lang="en-US" altLang="zh-CN">
                <a:latin typeface="Times New Roman" panose="02020603050405020304" charset="0"/>
                <a:cs typeface="Times New Roman" panose="02020603050405020304" charset="0"/>
              </a:rPr>
              <a:t> CFG (Classifier-Free Guidance) noise prediction — </a:t>
            </a:r>
            <a:r>
              <a:rPr lang="en-US" altLang="zh-CN" i="1">
                <a:latin typeface="Times New Roman" panose="02020603050405020304" charset="0"/>
                <a:cs typeface="Times New Roman" panose="02020603050405020304" charset="0"/>
              </a:rPr>
              <a:t>get_noise_pred</a:t>
            </a:r>
            <a:endParaRPr lang="en-US" altLang="zh-CN">
              <a:latin typeface="Times New Roman" panose="02020603050405020304" charset="0"/>
              <a:cs typeface="Times New Roman" panose="02020603050405020304" charset="0"/>
            </a:endParaRPr>
          </a:p>
          <a:p>
            <a:r>
              <a:rPr lang="en-US" altLang="zh-CN" b="1">
                <a:latin typeface="Times New Roman" panose="02020603050405020304" charset="0"/>
                <a:cs typeface="Times New Roman" panose="02020603050405020304" charset="0"/>
              </a:rPr>
              <a:t>Key point:</a:t>
            </a:r>
            <a:r>
              <a:rPr lang="en-US" altLang="zh-CN">
                <a:latin typeface="Times New Roman" panose="02020603050405020304" charset="0"/>
                <a:cs typeface="Times New Roman" panose="02020603050405020304" charset="0"/>
              </a:rPr>
              <a:t> </a:t>
            </a:r>
          </a:p>
          <a:p>
            <a:r>
              <a:rPr lang="en-US" altLang="zh-CN">
                <a:latin typeface="Times New Roman" panose="02020603050405020304" charset="0"/>
                <a:cs typeface="Times New Roman" panose="02020603050405020304" charset="0"/>
              </a:rPr>
              <a:t>Duplicate the input latent, and pass in both the conditional embedding and the unconditional embedding simultaneously.</a:t>
            </a:r>
          </a:p>
          <a:p>
            <a:r>
              <a:rPr lang="en-US" altLang="zh-CN">
                <a:latin typeface="Times New Roman" panose="02020603050405020304" charset="0"/>
                <a:cs typeface="Times New Roman" panose="02020603050405020304" charset="0"/>
              </a:rPr>
              <a:t>Forward (DDIM inversion): </a:t>
            </a:r>
            <a:r>
              <a:rPr lang="en-US" altLang="zh-CN" i="1">
                <a:latin typeface="Times New Roman" panose="02020603050405020304" charset="0"/>
                <a:cs typeface="Times New Roman" panose="02020603050405020304" charset="0"/>
              </a:rPr>
              <a:t>guidance_scale</a:t>
            </a:r>
            <a:r>
              <a:rPr lang="en-US" altLang="zh-CN">
                <a:latin typeface="Times New Roman" panose="02020603050405020304" charset="0"/>
                <a:cs typeface="Times New Roman" panose="02020603050405020304" charset="0"/>
              </a:rPr>
              <a:t>=1, without CFG.</a:t>
            </a:r>
          </a:p>
          <a:p>
            <a:r>
              <a:rPr lang="en-US" altLang="zh-CN">
                <a:latin typeface="Times New Roman" panose="02020603050405020304" charset="0"/>
                <a:cs typeface="Times New Roman" panose="02020603050405020304" charset="0"/>
              </a:rPr>
              <a:t>Reverse (editing generation): </a:t>
            </a:r>
            <a:r>
              <a:rPr lang="en-US" altLang="zh-CN" i="1">
                <a:latin typeface="Times New Roman" panose="02020603050405020304" charset="0"/>
                <a:cs typeface="Times New Roman" panose="02020603050405020304" charset="0"/>
              </a:rPr>
              <a:t>guidance_scale</a:t>
            </a:r>
            <a:r>
              <a:rPr lang="en-US" altLang="zh-CN">
                <a:latin typeface="Times New Roman" panose="02020603050405020304" charset="0"/>
                <a:cs typeface="Times New Roman" panose="02020603050405020304" charset="0"/>
              </a:rPr>
              <a:t>=7.5, CFG enabled.</a:t>
            </a:r>
          </a:p>
          <a:p>
            <a:r>
              <a:rPr lang="en-US" altLang="zh-CN">
                <a:latin typeface="Times New Roman" panose="02020603050405020304" charset="0"/>
                <a:cs typeface="Times New Roman" panose="02020603050405020304" charset="0"/>
              </a:rPr>
              <a:t>CFG formula: </a:t>
            </a:r>
            <a:r>
              <a:rPr lang="en-US" altLang="zh-CN" i="1">
                <a:latin typeface="Times New Roman" panose="02020603050405020304" charset="0"/>
                <a:cs typeface="Times New Roman" panose="02020603050405020304" charset="0"/>
              </a:rPr>
              <a:t>pred = uncond + w× (cond - uncond)</a:t>
            </a:r>
          </a:p>
        </p:txBody>
      </p:sp>
      <p:sp>
        <p:nvSpPr>
          <p:cNvPr id="2" name="灯片编号占位符 1">
            <a:extLst>
              <a:ext uri="{FF2B5EF4-FFF2-40B4-BE49-F238E27FC236}">
                <a16:creationId xmlns:a16="http://schemas.microsoft.com/office/drawing/2014/main" id="{18D9A2F5-84D9-4EE7-E54E-48EFF0FC8CAB}"/>
              </a:ext>
            </a:extLst>
          </p:cNvPr>
          <p:cNvSpPr>
            <a:spLocks noGrp="1"/>
          </p:cNvSpPr>
          <p:nvPr>
            <p:ph type="sldNum" sz="quarter" idx="12"/>
          </p:nvPr>
        </p:nvSpPr>
        <p:spPr/>
        <p:txBody>
          <a:bodyPr/>
          <a:lstStyle/>
          <a:p>
            <a:fld id="{E6518835-16E6-9244-9C02-6BFB876E5D3C}" type="slidenum">
              <a:rPr kumimoji="1" lang="zh-CN" altLang="en-US" smtClean="0"/>
              <a:t>9</a:t>
            </a:fld>
            <a:endParaRPr kumimoji="1" lang="zh-CN" altLang="en-US"/>
          </a:p>
        </p:txBody>
      </p:sp>
    </p:spTree>
    <p:extLst>
      <p:ext uri="{BB962C8B-B14F-4D97-AF65-F5344CB8AC3E}">
        <p14:creationId xmlns:p14="http://schemas.microsoft.com/office/powerpoint/2010/main" val="2276675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p:cNvSpPr/>
          <p:nvPr/>
        </p:nvSpPr>
        <p:spPr>
          <a:xfrm>
            <a:off x="8016240" y="0"/>
            <a:ext cx="1919605"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1" name="组合 30"/>
          <p:cNvGrpSpPr/>
          <p:nvPr/>
        </p:nvGrpSpPr>
        <p:grpSpPr>
          <a:xfrm>
            <a:off x="370072" y="219176"/>
            <a:ext cx="2150839" cy="449040"/>
            <a:chOff x="2085654" y="644950"/>
            <a:chExt cx="7772400" cy="1622679"/>
          </a:xfrm>
        </p:grpSpPr>
        <p:pic>
          <p:nvPicPr>
            <p:cNvPr id="32" name="图片 31"/>
            <p:cNvPicPr>
              <a:picLocks noChangeAspect="1"/>
            </p:cNvPicPr>
            <p:nvPr/>
          </p:nvPicPr>
          <p:blipFill rotWithShape="1">
            <a:blip r:embed="rId6"/>
            <a:srcRect r="78982"/>
            <a:stretch>
              <a:fillRect/>
            </a:stretch>
          </p:blipFill>
          <p:spPr>
            <a:xfrm>
              <a:off x="2085654" y="644950"/>
              <a:ext cx="1633591" cy="1622679"/>
            </a:xfrm>
            <a:prstGeom prst="rect">
              <a:avLst/>
            </a:prstGeom>
          </p:spPr>
        </p:pic>
        <p:pic>
          <p:nvPicPr>
            <p:cNvPr id="33" name="图片 32"/>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a:fillRect/>
            </a:stretch>
          </p:blipFill>
          <p:spPr>
            <a:xfrm>
              <a:off x="3914454" y="644950"/>
              <a:ext cx="5943600" cy="1622679"/>
            </a:xfrm>
            <a:prstGeom prst="rect">
              <a:avLst/>
            </a:prstGeom>
          </p:spPr>
        </p:pic>
      </p:grpSp>
      <p:sp>
        <p:nvSpPr>
          <p:cNvPr id="5" name="文本框 4"/>
          <p:cNvSpPr txBox="1"/>
          <p:nvPr/>
        </p:nvSpPr>
        <p:spPr>
          <a:xfrm>
            <a:off x="8638540" y="219075"/>
            <a:ext cx="675640" cy="398780"/>
          </a:xfrm>
          <a:prstGeom prst="rect">
            <a:avLst/>
          </a:prstGeom>
          <a:noFill/>
        </p:spPr>
        <p:txBody>
          <a:bodyPr wrap="square" rtlCol="0">
            <a:spAutoFit/>
          </a:bodyPr>
          <a:lstStyle/>
          <a:p>
            <a:r>
              <a:rPr lang="en-US" altLang="zh-CN" sz="2000" b="1">
                <a:solidFill>
                  <a:schemeClr val="accent1"/>
                </a:solidFill>
                <a:latin typeface="Times New Roman" panose="02020603050405020304" charset="0"/>
                <a:cs typeface="Times New Roman" panose="02020603050405020304" charset="0"/>
              </a:rPr>
              <a:t>NTI</a:t>
            </a:r>
          </a:p>
        </p:txBody>
      </p:sp>
      <p:cxnSp>
        <p:nvCxnSpPr>
          <p:cNvPr id="6" name="PA-直接连接符 17"/>
          <p:cNvCxnSpPr/>
          <p:nvPr>
            <p:custDataLst>
              <p:tags r:id="rId1"/>
            </p:custDataLst>
          </p:nvPr>
        </p:nvCxnSpPr>
        <p:spPr>
          <a:xfrm>
            <a:off x="1549217" y="1452971"/>
            <a:ext cx="4799965" cy="4445"/>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7" name="PA-直接连接符 17"/>
          <p:cNvCxnSpPr/>
          <p:nvPr>
            <p:custDataLst>
              <p:tags r:id="rId2"/>
            </p:custDataLst>
          </p:nvPr>
        </p:nvCxnSpPr>
        <p:spPr>
          <a:xfrm>
            <a:off x="548533" y="145297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8" name="PA-文本框 14"/>
          <p:cNvSpPr txBox="1"/>
          <p:nvPr>
            <p:custDataLst>
              <p:tags r:id="rId3"/>
            </p:custDataLst>
          </p:nvPr>
        </p:nvSpPr>
        <p:spPr>
          <a:xfrm>
            <a:off x="441960" y="859155"/>
            <a:ext cx="9331960" cy="52197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anose="05000000000000000000" pitchFamily="2" charset="2"/>
              <a:buChar char="Ø"/>
            </a:pPr>
            <a:r>
              <a:rPr lang="en-US" altLang="zh-CN" dirty="0">
                <a:solidFill>
                  <a:srgbClr val="006BC0"/>
                </a:solidFill>
                <a:latin typeface="Times New Roman" panose="02020603050405020304" charset="0"/>
                <a:cs typeface="Times New Roman" panose="02020603050405020304" charset="0"/>
                <a:sym typeface="+mn-ea"/>
              </a:rPr>
              <a:t>DDIM Inversion — Obtaining the Latent Trajectory</a:t>
            </a:r>
          </a:p>
        </p:txBody>
      </p:sp>
      <p:pic>
        <p:nvPicPr>
          <p:cNvPr id="11" name="图片 10"/>
          <p:cNvPicPr>
            <a:picLocks noChangeAspect="1"/>
          </p:cNvPicPr>
          <p:nvPr/>
        </p:nvPicPr>
        <p:blipFill>
          <a:blip r:embed="rId9"/>
          <a:stretch>
            <a:fillRect/>
          </a:stretch>
        </p:blipFill>
        <p:spPr>
          <a:xfrm>
            <a:off x="4747260" y="3308985"/>
            <a:ext cx="7129145" cy="2717165"/>
          </a:xfrm>
          <a:prstGeom prst="rect">
            <a:avLst/>
          </a:prstGeom>
        </p:spPr>
      </p:pic>
      <p:sp>
        <p:nvSpPr>
          <p:cNvPr id="12" name="文本框 11"/>
          <p:cNvSpPr txBox="1"/>
          <p:nvPr/>
        </p:nvSpPr>
        <p:spPr>
          <a:xfrm>
            <a:off x="601980" y="1675765"/>
            <a:ext cx="3806825" cy="2553335"/>
          </a:xfrm>
          <a:prstGeom prst="rect">
            <a:avLst/>
          </a:prstGeom>
          <a:noFill/>
        </p:spPr>
        <p:txBody>
          <a:bodyPr wrap="square" rtlCol="0">
            <a:spAutoFit/>
          </a:bodyPr>
          <a:lstStyle/>
          <a:p>
            <a:r>
              <a:rPr lang="en-US" altLang="zh-CN" sz="2000">
                <a:latin typeface="Times New Roman" panose="02020603050405020304" charset="0"/>
                <a:cs typeface="Times New Roman" panose="02020603050405020304" charset="0"/>
              </a:rPr>
              <a:t>Why perform DDIM Inversion?</a:t>
            </a:r>
          </a:p>
          <a:p>
            <a:pPr marL="285750" indent="-285750">
              <a:buFont typeface="Arial" panose="020B0604020202020204" pitchFamily="34" charset="0"/>
              <a:buChar char="•"/>
            </a:pPr>
            <a:r>
              <a:rPr lang="en-US" altLang="zh-CN" sz="2000">
                <a:latin typeface="Times New Roman" panose="02020603050405020304" charset="0"/>
                <a:cs typeface="Times New Roman" panose="02020603050405020304" charset="0"/>
              </a:rPr>
              <a:t>DDIM inversion is performed without CFG, making the trajectory deterministic and invertible.</a:t>
            </a:r>
          </a:p>
          <a:p>
            <a:pPr marL="285750" indent="-285750">
              <a:buFont typeface="Arial" panose="020B0604020202020204" pitchFamily="34" charset="0"/>
              <a:buChar char="•"/>
            </a:pPr>
            <a:r>
              <a:rPr lang="en-US" altLang="zh-CN" sz="2000">
                <a:latin typeface="Times New Roman" panose="02020603050405020304" charset="0"/>
                <a:cs typeface="Times New Roman" panose="02020603050405020304" charset="0"/>
              </a:rPr>
              <a:t>It provides an “anchor trajectory” for the subsequent null-text optimization.</a:t>
            </a:r>
          </a:p>
        </p:txBody>
      </p:sp>
      <p:pic>
        <p:nvPicPr>
          <p:cNvPr id="13" name="图片 12"/>
          <p:cNvPicPr>
            <a:picLocks noChangeAspect="1"/>
          </p:cNvPicPr>
          <p:nvPr/>
        </p:nvPicPr>
        <p:blipFill>
          <a:blip r:embed="rId10"/>
          <a:stretch>
            <a:fillRect/>
          </a:stretch>
        </p:blipFill>
        <p:spPr>
          <a:xfrm>
            <a:off x="4747260" y="1529080"/>
            <a:ext cx="3799205" cy="1775460"/>
          </a:xfrm>
          <a:prstGeom prst="rect">
            <a:avLst/>
          </a:prstGeom>
        </p:spPr>
      </p:pic>
      <p:sp>
        <p:nvSpPr>
          <p:cNvPr id="2" name="灯片编号占位符 1">
            <a:extLst>
              <a:ext uri="{FF2B5EF4-FFF2-40B4-BE49-F238E27FC236}">
                <a16:creationId xmlns:a16="http://schemas.microsoft.com/office/drawing/2014/main" id="{DCFCAB56-92F2-7AE1-A276-D8B47C498243}"/>
              </a:ext>
            </a:extLst>
          </p:cNvPr>
          <p:cNvSpPr>
            <a:spLocks noGrp="1"/>
          </p:cNvSpPr>
          <p:nvPr>
            <p:ph type="sldNum" sz="quarter" idx="12"/>
          </p:nvPr>
        </p:nvSpPr>
        <p:spPr/>
        <p:txBody>
          <a:bodyPr/>
          <a:lstStyle/>
          <a:p>
            <a:fld id="{E6518835-16E6-9244-9C02-6BFB876E5D3C}" type="slidenum">
              <a:rPr kumimoji="1" lang="zh-CN" altLang="en-US" smtClean="0"/>
              <a:t>10</a:t>
            </a:fld>
            <a:endParaRPr kumimoji="1" lang="zh-CN" altLang="en-US"/>
          </a:p>
        </p:txBody>
      </p:sp>
    </p:spTree>
    <p:extLst>
      <p:ext uri="{BB962C8B-B14F-4D97-AF65-F5344CB8AC3E}">
        <p14:creationId xmlns:p14="http://schemas.microsoft.com/office/powerpoint/2010/main" val="3022622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p:cNvSpPr/>
          <p:nvPr/>
        </p:nvSpPr>
        <p:spPr>
          <a:xfrm>
            <a:off x="8016240" y="0"/>
            <a:ext cx="1919605"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1" name="组合 30"/>
          <p:cNvGrpSpPr/>
          <p:nvPr/>
        </p:nvGrpSpPr>
        <p:grpSpPr>
          <a:xfrm>
            <a:off x="370072" y="219176"/>
            <a:ext cx="2150839" cy="449040"/>
            <a:chOff x="2085654" y="644950"/>
            <a:chExt cx="7772400" cy="1622679"/>
          </a:xfrm>
        </p:grpSpPr>
        <p:pic>
          <p:nvPicPr>
            <p:cNvPr id="32" name="图片 31"/>
            <p:cNvPicPr>
              <a:picLocks noChangeAspect="1"/>
            </p:cNvPicPr>
            <p:nvPr/>
          </p:nvPicPr>
          <p:blipFill rotWithShape="1">
            <a:blip r:embed="rId6"/>
            <a:srcRect r="78982"/>
            <a:stretch>
              <a:fillRect/>
            </a:stretch>
          </p:blipFill>
          <p:spPr>
            <a:xfrm>
              <a:off x="2085654" y="644950"/>
              <a:ext cx="1633591" cy="1622679"/>
            </a:xfrm>
            <a:prstGeom prst="rect">
              <a:avLst/>
            </a:prstGeom>
          </p:spPr>
        </p:pic>
        <p:pic>
          <p:nvPicPr>
            <p:cNvPr id="33" name="图片 32"/>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a:fillRect/>
            </a:stretch>
          </p:blipFill>
          <p:spPr>
            <a:xfrm>
              <a:off x="3914454" y="644950"/>
              <a:ext cx="5943600" cy="1622679"/>
            </a:xfrm>
            <a:prstGeom prst="rect">
              <a:avLst/>
            </a:prstGeom>
          </p:spPr>
        </p:pic>
      </p:grpSp>
      <p:sp>
        <p:nvSpPr>
          <p:cNvPr id="5" name="文本框 4"/>
          <p:cNvSpPr txBox="1"/>
          <p:nvPr/>
        </p:nvSpPr>
        <p:spPr>
          <a:xfrm>
            <a:off x="8638540" y="219075"/>
            <a:ext cx="675640" cy="398780"/>
          </a:xfrm>
          <a:prstGeom prst="rect">
            <a:avLst/>
          </a:prstGeom>
          <a:noFill/>
        </p:spPr>
        <p:txBody>
          <a:bodyPr wrap="square" rtlCol="0">
            <a:spAutoFit/>
          </a:bodyPr>
          <a:lstStyle/>
          <a:p>
            <a:r>
              <a:rPr lang="en-US" altLang="zh-CN" sz="2000" b="1">
                <a:solidFill>
                  <a:schemeClr val="accent1"/>
                </a:solidFill>
                <a:latin typeface="Times New Roman" panose="02020603050405020304" charset="0"/>
                <a:cs typeface="Times New Roman" panose="02020603050405020304" charset="0"/>
              </a:rPr>
              <a:t>NTI</a:t>
            </a:r>
          </a:p>
        </p:txBody>
      </p:sp>
      <p:cxnSp>
        <p:nvCxnSpPr>
          <p:cNvPr id="6" name="PA-直接连接符 17"/>
          <p:cNvCxnSpPr/>
          <p:nvPr>
            <p:custDataLst>
              <p:tags r:id="rId1"/>
            </p:custDataLst>
          </p:nvPr>
        </p:nvCxnSpPr>
        <p:spPr>
          <a:xfrm>
            <a:off x="1549217" y="1452971"/>
            <a:ext cx="4799965" cy="4445"/>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7" name="PA-直接连接符 17"/>
          <p:cNvCxnSpPr/>
          <p:nvPr>
            <p:custDataLst>
              <p:tags r:id="rId2"/>
            </p:custDataLst>
          </p:nvPr>
        </p:nvCxnSpPr>
        <p:spPr>
          <a:xfrm>
            <a:off x="548533" y="145297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8" name="PA-文本框 14"/>
          <p:cNvSpPr txBox="1"/>
          <p:nvPr>
            <p:custDataLst>
              <p:tags r:id="rId3"/>
            </p:custDataLst>
          </p:nvPr>
        </p:nvSpPr>
        <p:spPr>
          <a:xfrm>
            <a:off x="441960" y="859155"/>
            <a:ext cx="10397490" cy="52197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anose="05000000000000000000" pitchFamily="2" charset="2"/>
              <a:buChar char="Ø"/>
            </a:pPr>
            <a:r>
              <a:rPr lang="en-US" altLang="zh-CN" dirty="0">
                <a:solidFill>
                  <a:srgbClr val="006BC0"/>
                </a:solidFill>
                <a:latin typeface="Times New Roman" panose="02020603050405020304" charset="0"/>
                <a:cs typeface="Times New Roman" panose="02020603050405020304" charset="0"/>
                <a:sym typeface="+mn-ea"/>
              </a:rPr>
              <a:t>Null-Text Optimization — Core Optimization Algorithm</a:t>
            </a:r>
          </a:p>
        </p:txBody>
      </p:sp>
      <p:sp>
        <p:nvSpPr>
          <p:cNvPr id="12" name="文本框 11"/>
          <p:cNvSpPr txBox="1"/>
          <p:nvPr/>
        </p:nvSpPr>
        <p:spPr>
          <a:xfrm>
            <a:off x="548640" y="1697355"/>
            <a:ext cx="4163060" cy="1938020"/>
          </a:xfrm>
          <a:prstGeom prst="rect">
            <a:avLst/>
          </a:prstGeom>
          <a:noFill/>
        </p:spPr>
        <p:txBody>
          <a:bodyPr wrap="square" rtlCol="0">
            <a:spAutoFit/>
          </a:bodyPr>
          <a:lstStyle/>
          <a:p>
            <a:r>
              <a:rPr lang="en-US" altLang="zh-CN" sz="2000">
                <a:latin typeface="Times New Roman" panose="02020603050405020304" charset="0"/>
                <a:cs typeface="Times New Roman" panose="02020603050405020304" charset="0"/>
              </a:rPr>
              <a:t>Core idea: Learn a dedicated null-text embedding for each denoising timestep, so that a single denoising step with CFG can accurately reconstruct the corresponding latent code from the DDIM inversion.</a:t>
            </a:r>
          </a:p>
        </p:txBody>
      </p:sp>
      <p:pic>
        <p:nvPicPr>
          <p:cNvPr id="2" name="图片 1"/>
          <p:cNvPicPr>
            <a:picLocks noChangeAspect="1"/>
          </p:cNvPicPr>
          <p:nvPr/>
        </p:nvPicPr>
        <p:blipFill>
          <a:blip r:embed="rId9"/>
          <a:stretch>
            <a:fillRect/>
          </a:stretch>
        </p:blipFill>
        <p:spPr>
          <a:xfrm>
            <a:off x="4904105" y="1457325"/>
            <a:ext cx="6806565" cy="5122545"/>
          </a:xfrm>
          <a:prstGeom prst="rect">
            <a:avLst/>
          </a:prstGeom>
        </p:spPr>
      </p:pic>
      <p:sp>
        <p:nvSpPr>
          <p:cNvPr id="3" name="灯片编号占位符 2">
            <a:extLst>
              <a:ext uri="{FF2B5EF4-FFF2-40B4-BE49-F238E27FC236}">
                <a16:creationId xmlns:a16="http://schemas.microsoft.com/office/drawing/2014/main" id="{987E470C-9D7C-CBCB-46DE-50B8E800CBFB}"/>
              </a:ext>
            </a:extLst>
          </p:cNvPr>
          <p:cNvSpPr>
            <a:spLocks noGrp="1"/>
          </p:cNvSpPr>
          <p:nvPr>
            <p:ph type="sldNum" sz="quarter" idx="12"/>
          </p:nvPr>
        </p:nvSpPr>
        <p:spPr/>
        <p:txBody>
          <a:bodyPr/>
          <a:lstStyle/>
          <a:p>
            <a:fld id="{E6518835-16E6-9244-9C02-6BFB876E5D3C}" type="slidenum">
              <a:rPr kumimoji="1" lang="zh-CN" altLang="en-US" smtClean="0"/>
              <a:t>11</a:t>
            </a:fld>
            <a:endParaRPr kumimoji="1" lang="zh-CN" altLang="en-US"/>
          </a:p>
        </p:txBody>
      </p:sp>
    </p:spTree>
    <p:extLst>
      <p:ext uri="{BB962C8B-B14F-4D97-AF65-F5344CB8AC3E}">
        <p14:creationId xmlns:p14="http://schemas.microsoft.com/office/powerpoint/2010/main" val="3615667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79668-C7A7-5BC9-ABB2-A3207339279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3612497-6D71-6BCC-8780-CBD77D3F7CB0}"/>
              </a:ext>
            </a:extLst>
          </p:cNvPr>
          <p:cNvSpPr/>
          <p:nvPr/>
        </p:nvSpPr>
        <p:spPr>
          <a:xfrm>
            <a:off x="0" y="161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3" name="组合 12">
            <a:extLst>
              <a:ext uri="{FF2B5EF4-FFF2-40B4-BE49-F238E27FC236}">
                <a16:creationId xmlns:a16="http://schemas.microsoft.com/office/drawing/2014/main" id="{4866B023-F890-69F0-4ACF-30833D832579}"/>
              </a:ext>
            </a:extLst>
          </p:cNvPr>
          <p:cNvGrpSpPr/>
          <p:nvPr/>
        </p:nvGrpSpPr>
        <p:grpSpPr>
          <a:xfrm>
            <a:off x="370072" y="219176"/>
            <a:ext cx="2150839" cy="449040"/>
            <a:chOff x="2085654" y="644950"/>
            <a:chExt cx="7772400" cy="1622679"/>
          </a:xfrm>
        </p:grpSpPr>
        <p:pic>
          <p:nvPicPr>
            <p:cNvPr id="41" name="图片 40">
              <a:extLst>
                <a:ext uri="{FF2B5EF4-FFF2-40B4-BE49-F238E27FC236}">
                  <a16:creationId xmlns:a16="http://schemas.microsoft.com/office/drawing/2014/main" id="{4CB5E674-9866-387B-EE48-A3F05561AE72}"/>
                </a:ext>
              </a:extLst>
            </p:cNvPr>
            <p:cNvPicPr>
              <a:picLocks noChangeAspect="1"/>
            </p:cNvPicPr>
            <p:nvPr/>
          </p:nvPicPr>
          <p:blipFill rotWithShape="1">
            <a:blip r:embed="rId3"/>
            <a:srcRect r="78982"/>
            <a:stretch/>
          </p:blipFill>
          <p:spPr>
            <a:xfrm>
              <a:off x="2085654" y="644950"/>
              <a:ext cx="1633591" cy="1622679"/>
            </a:xfrm>
            <a:prstGeom prst="rect">
              <a:avLst/>
            </a:prstGeom>
          </p:spPr>
        </p:pic>
        <p:pic>
          <p:nvPicPr>
            <p:cNvPr id="42" name="图片 41">
              <a:extLst>
                <a:ext uri="{FF2B5EF4-FFF2-40B4-BE49-F238E27FC236}">
                  <a16:creationId xmlns:a16="http://schemas.microsoft.com/office/drawing/2014/main" id="{155E4B01-7926-5F36-99E2-0AC5D10B6F85}"/>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8" name="文本框 7">
            <a:extLst>
              <a:ext uri="{FF2B5EF4-FFF2-40B4-BE49-F238E27FC236}">
                <a16:creationId xmlns:a16="http://schemas.microsoft.com/office/drawing/2014/main" id="{2DA2DABD-76BD-909A-68D4-70BCD4EA09C5}"/>
              </a:ext>
            </a:extLst>
          </p:cNvPr>
          <p:cNvSpPr txBox="1"/>
          <p:nvPr/>
        </p:nvSpPr>
        <p:spPr>
          <a:xfrm>
            <a:off x="3114396" y="2921168"/>
            <a:ext cx="8242766" cy="1015663"/>
          </a:xfrm>
          <a:prstGeom prst="rect">
            <a:avLst/>
          </a:prstGeom>
          <a:noFill/>
        </p:spPr>
        <p:txBody>
          <a:bodyPr wrap="square" rtlCol="0">
            <a:spAutoFit/>
          </a:bodyPr>
          <a:lstStyle/>
          <a:p>
            <a:pPr algn="ctr"/>
            <a:r>
              <a:rPr lang="en-US" altLang="zh-CN" sz="6000" b="1" dirty="0">
                <a:solidFill>
                  <a:srgbClr val="0070C0"/>
                </a:solidFill>
                <a:latin typeface="Times New Roman" panose="02020603050405020304" pitchFamily="18" charset="0"/>
                <a:cs typeface="Times New Roman" panose="02020603050405020304" pitchFamily="18" charset="0"/>
              </a:rPr>
              <a:t>Prompt to Prompt</a:t>
            </a:r>
            <a:endParaRPr lang="zh-CN" altLang="en-US" sz="6000" b="1" dirty="0">
              <a:solidFill>
                <a:srgbClr val="0070C0"/>
              </a:solidFill>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F3257D61-2BEE-D024-F8B0-F06C675DA224}"/>
              </a:ext>
            </a:extLst>
          </p:cNvPr>
          <p:cNvSpPr txBox="1"/>
          <p:nvPr/>
        </p:nvSpPr>
        <p:spPr>
          <a:xfrm>
            <a:off x="1807296" y="2583140"/>
            <a:ext cx="1620000" cy="1569660"/>
          </a:xfrm>
          <a:prstGeom prst="rect">
            <a:avLst/>
          </a:prstGeom>
          <a:solidFill>
            <a:srgbClr val="0070C0"/>
          </a:solidFill>
          <a:ln>
            <a:solidFill>
              <a:srgbClr val="0070C0"/>
            </a:solidFill>
          </a:ln>
        </p:spPr>
        <p:txBody>
          <a:bodyPr wrap="square" rtlCol="0">
            <a:spAutoFit/>
          </a:bodyPr>
          <a:lstStyle/>
          <a:p>
            <a:pPr algn="ctr"/>
            <a:r>
              <a:rPr lang="en-US" altLang="zh-CN" sz="9600" b="1" dirty="0">
                <a:solidFill>
                  <a:schemeClr val="bg1"/>
                </a:solidFill>
                <a:latin typeface="Calibri" panose="020F0502020204030204" pitchFamily="34" charset="0"/>
                <a:ea typeface="Calibri" panose="020F0502020204030204" pitchFamily="34" charset="0"/>
                <a:cs typeface="Calibri" panose="020F0502020204030204" pitchFamily="34" charset="0"/>
              </a:rPr>
              <a:t>02</a:t>
            </a:r>
            <a:endParaRPr lang="zh-CN" altLang="en-US" sz="9600" b="1" dirty="0">
              <a:solidFill>
                <a:schemeClr val="bg1"/>
              </a:solidFill>
              <a:latin typeface="Calibri" panose="020F0502020204030204" pitchFamily="34" charset="0"/>
              <a:cs typeface="Calibri" panose="020F0502020204030204" pitchFamily="34" charset="0"/>
            </a:endParaRPr>
          </a:p>
        </p:txBody>
      </p:sp>
      <p:sp>
        <p:nvSpPr>
          <p:cNvPr id="2" name="灯片编号占位符 1">
            <a:extLst>
              <a:ext uri="{FF2B5EF4-FFF2-40B4-BE49-F238E27FC236}">
                <a16:creationId xmlns:a16="http://schemas.microsoft.com/office/drawing/2014/main" id="{7943545E-AFD4-A326-0099-52A2D1C26C32}"/>
              </a:ext>
            </a:extLst>
          </p:cNvPr>
          <p:cNvSpPr>
            <a:spLocks noGrp="1"/>
          </p:cNvSpPr>
          <p:nvPr>
            <p:ph type="sldNum" sz="quarter" idx="12"/>
          </p:nvPr>
        </p:nvSpPr>
        <p:spPr/>
        <p:txBody>
          <a:bodyPr/>
          <a:lstStyle/>
          <a:p>
            <a:fld id="{E6518835-16E6-9244-9C02-6BFB876E5D3C}" type="slidenum">
              <a:rPr kumimoji="1" lang="zh-CN" altLang="en-US" smtClean="0"/>
              <a:t>12</a:t>
            </a:fld>
            <a:endParaRPr kumimoji="1" lang="zh-CN" altLang="en-US"/>
          </a:p>
        </p:txBody>
      </p:sp>
    </p:spTree>
    <p:extLst>
      <p:ext uri="{BB962C8B-B14F-4D97-AF65-F5344CB8AC3E}">
        <p14:creationId xmlns:p14="http://schemas.microsoft.com/office/powerpoint/2010/main" val="3423683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3AFA6-4366-0822-8071-979EBE53E903}"/>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CE316CA3-0D21-E638-719D-2A9CF4A2828B}"/>
              </a:ext>
            </a:extLst>
          </p:cNvPr>
          <p:cNvSpPr/>
          <p:nvPr/>
        </p:nvSpPr>
        <p:spPr>
          <a:xfrm>
            <a:off x="-1" y="0"/>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29793F25-79DC-09E7-E700-21416FDC3471}"/>
              </a:ext>
            </a:extLst>
          </p:cNvPr>
          <p:cNvSpPr/>
          <p:nvPr/>
        </p:nvSpPr>
        <p:spPr>
          <a:xfrm>
            <a:off x="811930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099520D3-6370-EECE-EF73-285399415016}"/>
              </a:ext>
            </a:extLst>
          </p:cNvPr>
          <p:cNvSpPr txBox="1"/>
          <p:nvPr/>
        </p:nvSpPr>
        <p:spPr>
          <a:xfrm>
            <a:off x="8648668" y="186379"/>
            <a:ext cx="829073" cy="461665"/>
          </a:xfrm>
          <a:prstGeom prst="rect">
            <a:avLst/>
          </a:prstGeom>
          <a:noFill/>
        </p:spPr>
        <p:txBody>
          <a:bodyPr vert="horz" wrap="none" rtlCol="0">
            <a:spAutoFit/>
          </a:bodyPr>
          <a:lstStyle/>
          <a:p>
            <a:pPr algn="ctr"/>
            <a:r>
              <a:rPr kumimoji="1" lang="en-US" altLang="zh-CN" sz="2400" b="1" spc="300" dirty="0">
                <a:solidFill>
                  <a:schemeClr val="accent1"/>
                </a:solidFill>
                <a:latin typeface="Times New Roman" panose="02020603050405020304" pitchFamily="18" charset="0"/>
                <a:cs typeface="Times New Roman" panose="02020603050405020304" pitchFamily="18" charset="0"/>
              </a:rPr>
              <a:t>P2P</a:t>
            </a:r>
            <a:endParaRPr kumimoji="1" lang="zh-CN" altLang="en-US" sz="2000" b="1" spc="300" dirty="0">
              <a:solidFill>
                <a:schemeClr val="accent1"/>
              </a:solidFill>
              <a:latin typeface="Times New Roman" panose="02020603050405020304" pitchFamily="18" charset="0"/>
              <a:cs typeface="Times New Roman" panose="02020603050405020304" pitchFamily="18" charset="0"/>
            </a:endParaRPr>
          </a:p>
        </p:txBody>
      </p:sp>
      <p:grpSp>
        <p:nvGrpSpPr>
          <p:cNvPr id="31" name="组合 30">
            <a:extLst>
              <a:ext uri="{FF2B5EF4-FFF2-40B4-BE49-F238E27FC236}">
                <a16:creationId xmlns:a16="http://schemas.microsoft.com/office/drawing/2014/main" id="{A5178CF3-46C1-CFDE-7140-F694C91F6041}"/>
              </a:ext>
            </a:extLst>
          </p:cNvPr>
          <p:cNvGrpSpPr/>
          <p:nvPr/>
        </p:nvGrpSpPr>
        <p:grpSpPr>
          <a:xfrm>
            <a:off x="370072" y="219176"/>
            <a:ext cx="2150839" cy="449040"/>
            <a:chOff x="2085654" y="644950"/>
            <a:chExt cx="7772400" cy="1622679"/>
          </a:xfrm>
        </p:grpSpPr>
        <p:pic>
          <p:nvPicPr>
            <p:cNvPr id="32" name="图片 31">
              <a:extLst>
                <a:ext uri="{FF2B5EF4-FFF2-40B4-BE49-F238E27FC236}">
                  <a16:creationId xmlns:a16="http://schemas.microsoft.com/office/drawing/2014/main" id="{B504485B-7EFA-E27B-32B2-CC23CE586690}"/>
                </a:ext>
              </a:extLst>
            </p:cNvPr>
            <p:cNvPicPr>
              <a:picLocks noChangeAspect="1"/>
            </p:cNvPicPr>
            <p:nvPr/>
          </p:nvPicPr>
          <p:blipFill rotWithShape="1">
            <a:blip r:embed="rId6"/>
            <a:srcRect r="78982"/>
            <a:stretch/>
          </p:blipFill>
          <p:spPr>
            <a:xfrm>
              <a:off x="2085654" y="644950"/>
              <a:ext cx="1633591" cy="1622679"/>
            </a:xfrm>
            <a:prstGeom prst="rect">
              <a:avLst/>
            </a:prstGeom>
          </p:spPr>
        </p:pic>
        <p:pic>
          <p:nvPicPr>
            <p:cNvPr id="33" name="图片 32">
              <a:extLst>
                <a:ext uri="{FF2B5EF4-FFF2-40B4-BE49-F238E27FC236}">
                  <a16:creationId xmlns:a16="http://schemas.microsoft.com/office/drawing/2014/main" id="{64A5E540-F07D-D392-CF83-F8813B713EBD}"/>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40" name="文本框 39">
            <a:extLst>
              <a:ext uri="{FF2B5EF4-FFF2-40B4-BE49-F238E27FC236}">
                <a16:creationId xmlns:a16="http://schemas.microsoft.com/office/drawing/2014/main" id="{AF0BAED8-4CA1-B5D5-13B1-0B90334EB0F2}"/>
              </a:ext>
            </a:extLst>
          </p:cNvPr>
          <p:cNvSpPr txBox="1"/>
          <p:nvPr/>
        </p:nvSpPr>
        <p:spPr>
          <a:xfrm>
            <a:off x="1072808" y="2185729"/>
            <a:ext cx="10596880" cy="646331"/>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The goal is simple: we want to edit a generated image only by changing the prompt. We must keep the spatial structure of the original image exactly the same, and only change the semantic content.</a:t>
            </a:r>
          </a:p>
        </p:txBody>
      </p:sp>
      <p:sp>
        <p:nvSpPr>
          <p:cNvPr id="3" name="文本框 2">
            <a:extLst>
              <a:ext uri="{FF2B5EF4-FFF2-40B4-BE49-F238E27FC236}">
                <a16:creationId xmlns:a16="http://schemas.microsoft.com/office/drawing/2014/main" id="{B262F840-EAB4-AFB1-C164-C780A4377843}"/>
              </a:ext>
            </a:extLst>
          </p:cNvPr>
          <p:cNvSpPr txBox="1"/>
          <p:nvPr/>
        </p:nvSpPr>
        <p:spPr>
          <a:xfrm>
            <a:off x="1057365" y="3050018"/>
            <a:ext cx="10077269" cy="646331"/>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For example, if we change ‘a bicycle' to ‘a car,' the car should stay in the same position as the bicycle. The pose, background, and composition should not change."</a:t>
            </a:r>
          </a:p>
        </p:txBody>
      </p:sp>
      <p:pic>
        <p:nvPicPr>
          <p:cNvPr id="12" name="图片 11">
            <a:extLst>
              <a:ext uri="{FF2B5EF4-FFF2-40B4-BE49-F238E27FC236}">
                <a16:creationId xmlns:a16="http://schemas.microsoft.com/office/drawing/2014/main" id="{63BB4973-E437-0CB5-7876-1417ABA18DAF}"/>
              </a:ext>
            </a:extLst>
          </p:cNvPr>
          <p:cNvPicPr>
            <a:picLocks noChangeAspect="1"/>
          </p:cNvPicPr>
          <p:nvPr/>
        </p:nvPicPr>
        <p:blipFill>
          <a:blip r:embed="rId9"/>
          <a:stretch>
            <a:fillRect/>
          </a:stretch>
        </p:blipFill>
        <p:spPr>
          <a:xfrm>
            <a:off x="3627574" y="3767735"/>
            <a:ext cx="4936849" cy="2725140"/>
          </a:xfrm>
          <a:prstGeom prst="rect">
            <a:avLst/>
          </a:prstGeom>
        </p:spPr>
      </p:pic>
      <p:cxnSp>
        <p:nvCxnSpPr>
          <p:cNvPr id="13" name="PA-直接连接符 17">
            <a:extLst>
              <a:ext uri="{FF2B5EF4-FFF2-40B4-BE49-F238E27FC236}">
                <a16:creationId xmlns:a16="http://schemas.microsoft.com/office/drawing/2014/main" id="{FEA6F855-CA88-F3C2-A43A-21648AD69327}"/>
              </a:ext>
            </a:extLst>
          </p:cNvPr>
          <p:cNvCxnSpPr>
            <a:cxnSpLocks/>
          </p:cNvCxnSpPr>
          <p:nvPr>
            <p:custDataLst>
              <p:tags r:id="rId1"/>
            </p:custDataLst>
          </p:nvPr>
        </p:nvCxnSpPr>
        <p:spPr>
          <a:xfrm>
            <a:off x="1549217" y="1659981"/>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4" name="PA-直接连接符 17">
            <a:extLst>
              <a:ext uri="{FF2B5EF4-FFF2-40B4-BE49-F238E27FC236}">
                <a16:creationId xmlns:a16="http://schemas.microsoft.com/office/drawing/2014/main" id="{C2A0E84A-A4D9-6781-4C70-0A0E43507CCD}"/>
              </a:ext>
            </a:extLst>
          </p:cNvPr>
          <p:cNvCxnSpPr>
            <a:cxnSpLocks/>
          </p:cNvCxnSpPr>
          <p:nvPr>
            <p:custDataLst>
              <p:tags r:id="rId2"/>
            </p:custDataLst>
          </p:nvPr>
        </p:nvCxnSpPr>
        <p:spPr>
          <a:xfrm>
            <a:off x="548533" y="165998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15" name="PA-文本框 14">
            <a:extLst>
              <a:ext uri="{FF2B5EF4-FFF2-40B4-BE49-F238E27FC236}">
                <a16:creationId xmlns:a16="http://schemas.microsoft.com/office/drawing/2014/main" id="{7BCACD9A-FC79-C267-1D2F-C657DFCD3B43}"/>
              </a:ext>
            </a:extLst>
          </p:cNvPr>
          <p:cNvSpPr txBox="1"/>
          <p:nvPr>
            <p:custDataLst>
              <p:tags r:id="rId3"/>
            </p:custDataLst>
          </p:nvPr>
        </p:nvSpPr>
        <p:spPr>
          <a:xfrm>
            <a:off x="441672" y="1066036"/>
            <a:ext cx="10957256" cy="52322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itchFamily="2" charset="2"/>
              <a:buChar char="Ø"/>
            </a:pPr>
            <a:r>
              <a:rPr lang="en-US" altLang="zh-CN"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rPr>
              <a:t>Prompt-to-Prompt</a:t>
            </a:r>
            <a:endParaRPr lang="zh-CN" altLang="en-US"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809A030E-DACF-D75D-0DBF-4F459EF0A810}"/>
              </a:ext>
            </a:extLst>
          </p:cNvPr>
          <p:cNvSpPr txBox="1"/>
          <p:nvPr/>
        </p:nvSpPr>
        <p:spPr>
          <a:xfrm>
            <a:off x="739989" y="1745011"/>
            <a:ext cx="6096000" cy="369332"/>
          </a:xfrm>
          <a:prstGeom prst="rect">
            <a:avLst/>
          </a:prstGeom>
          <a:noFill/>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Objective</a:t>
            </a:r>
            <a:endParaRPr lang="zh-CN" altLang="en-US" b="1" dirty="0">
              <a:latin typeface="Times New Roman" panose="02020603050405020304" pitchFamily="18" charset="0"/>
              <a:cs typeface="Times New Roman" panose="02020603050405020304" pitchFamily="18" charset="0"/>
            </a:endParaRPr>
          </a:p>
        </p:txBody>
      </p:sp>
      <p:sp>
        <p:nvSpPr>
          <p:cNvPr id="5" name="灯片编号占位符 4">
            <a:extLst>
              <a:ext uri="{FF2B5EF4-FFF2-40B4-BE49-F238E27FC236}">
                <a16:creationId xmlns:a16="http://schemas.microsoft.com/office/drawing/2014/main" id="{7111A424-6292-5B38-6756-5251299A647E}"/>
              </a:ext>
            </a:extLst>
          </p:cNvPr>
          <p:cNvSpPr>
            <a:spLocks noGrp="1"/>
          </p:cNvSpPr>
          <p:nvPr>
            <p:ph type="sldNum" sz="quarter" idx="12"/>
          </p:nvPr>
        </p:nvSpPr>
        <p:spPr/>
        <p:txBody>
          <a:bodyPr/>
          <a:lstStyle/>
          <a:p>
            <a:fld id="{E6518835-16E6-9244-9C02-6BFB876E5D3C}" type="slidenum">
              <a:rPr kumimoji="1" lang="zh-CN" altLang="en-US" smtClean="0"/>
              <a:t>13</a:t>
            </a:fld>
            <a:endParaRPr kumimoji="1" lang="zh-CN" altLang="en-US"/>
          </a:p>
        </p:txBody>
      </p:sp>
    </p:spTree>
    <p:extLst>
      <p:ext uri="{BB962C8B-B14F-4D97-AF65-F5344CB8AC3E}">
        <p14:creationId xmlns:p14="http://schemas.microsoft.com/office/powerpoint/2010/main" val="882207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78408-04C0-47DD-5962-BC19D3F9834B}"/>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B0D5C63-0CE0-AA81-40FD-054B83B94163}"/>
              </a:ext>
            </a:extLst>
          </p:cNvPr>
          <p:cNvSpPr/>
          <p:nvPr/>
        </p:nvSpPr>
        <p:spPr>
          <a:xfrm>
            <a:off x="-1" y="0"/>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0" name="圆角矩形 9">
            <a:extLst>
              <a:ext uri="{FF2B5EF4-FFF2-40B4-BE49-F238E27FC236}">
                <a16:creationId xmlns:a16="http://schemas.microsoft.com/office/drawing/2014/main" id="{5CD5DBC6-A992-8007-C86A-9F982E02F6F9}"/>
              </a:ext>
            </a:extLst>
          </p:cNvPr>
          <p:cNvSpPr/>
          <p:nvPr/>
        </p:nvSpPr>
        <p:spPr>
          <a:xfrm>
            <a:off x="811930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5AEE019E-7894-E09A-A0E7-0490E05221FC}"/>
              </a:ext>
            </a:extLst>
          </p:cNvPr>
          <p:cNvSpPr txBox="1"/>
          <p:nvPr/>
        </p:nvSpPr>
        <p:spPr>
          <a:xfrm>
            <a:off x="8648668" y="186379"/>
            <a:ext cx="829073" cy="461665"/>
          </a:xfrm>
          <a:prstGeom prst="rect">
            <a:avLst/>
          </a:prstGeom>
          <a:noFill/>
        </p:spPr>
        <p:txBody>
          <a:bodyPr vert="horz" wrap="none" rtlCol="0">
            <a:spAutoFit/>
          </a:bodyPr>
          <a:lstStyle/>
          <a:p>
            <a:pPr algn="ctr"/>
            <a:r>
              <a:rPr kumimoji="1" lang="en-US" altLang="zh-CN" sz="2400" b="1" spc="300" dirty="0">
                <a:solidFill>
                  <a:schemeClr val="accent1"/>
                </a:solidFill>
                <a:latin typeface="Times New Roman" panose="02020603050405020304" pitchFamily="18" charset="0"/>
                <a:cs typeface="Times New Roman" panose="02020603050405020304" pitchFamily="18" charset="0"/>
              </a:rPr>
              <a:t>P2P</a:t>
            </a:r>
            <a:endParaRPr kumimoji="1" lang="zh-CN" altLang="en-US" sz="2000" b="1" spc="300" dirty="0">
              <a:solidFill>
                <a:schemeClr val="accent1"/>
              </a:solidFill>
              <a:latin typeface="Times New Roman" panose="02020603050405020304" pitchFamily="18" charset="0"/>
              <a:cs typeface="Times New Roman" panose="02020603050405020304" pitchFamily="18" charset="0"/>
            </a:endParaRPr>
          </a:p>
        </p:txBody>
      </p:sp>
      <p:grpSp>
        <p:nvGrpSpPr>
          <p:cNvPr id="31" name="组合 30">
            <a:extLst>
              <a:ext uri="{FF2B5EF4-FFF2-40B4-BE49-F238E27FC236}">
                <a16:creationId xmlns:a16="http://schemas.microsoft.com/office/drawing/2014/main" id="{9B1AF5C2-2D08-CDBE-6ED7-B889936AE443}"/>
              </a:ext>
            </a:extLst>
          </p:cNvPr>
          <p:cNvGrpSpPr/>
          <p:nvPr/>
        </p:nvGrpSpPr>
        <p:grpSpPr>
          <a:xfrm>
            <a:off x="370072" y="219176"/>
            <a:ext cx="2150839" cy="449040"/>
            <a:chOff x="2085654" y="644950"/>
            <a:chExt cx="7772400" cy="1622679"/>
          </a:xfrm>
        </p:grpSpPr>
        <p:pic>
          <p:nvPicPr>
            <p:cNvPr id="32" name="图片 31">
              <a:extLst>
                <a:ext uri="{FF2B5EF4-FFF2-40B4-BE49-F238E27FC236}">
                  <a16:creationId xmlns:a16="http://schemas.microsoft.com/office/drawing/2014/main" id="{0291603D-7014-169C-61F6-D865D08B196E}"/>
                </a:ext>
              </a:extLst>
            </p:cNvPr>
            <p:cNvPicPr>
              <a:picLocks noChangeAspect="1"/>
            </p:cNvPicPr>
            <p:nvPr/>
          </p:nvPicPr>
          <p:blipFill rotWithShape="1">
            <a:blip r:embed="rId5"/>
            <a:srcRect r="78982"/>
            <a:stretch/>
          </p:blipFill>
          <p:spPr>
            <a:xfrm>
              <a:off x="2085654" y="644950"/>
              <a:ext cx="1633591" cy="1622679"/>
            </a:xfrm>
            <a:prstGeom prst="rect">
              <a:avLst/>
            </a:prstGeom>
          </p:spPr>
        </p:pic>
        <p:pic>
          <p:nvPicPr>
            <p:cNvPr id="33" name="图片 32">
              <a:extLst>
                <a:ext uri="{FF2B5EF4-FFF2-40B4-BE49-F238E27FC236}">
                  <a16:creationId xmlns:a16="http://schemas.microsoft.com/office/drawing/2014/main" id="{F50D4E20-796B-BB39-6BF3-C211EE37467D}"/>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9" name="文本框 8">
            <a:extLst>
              <a:ext uri="{FF2B5EF4-FFF2-40B4-BE49-F238E27FC236}">
                <a16:creationId xmlns:a16="http://schemas.microsoft.com/office/drawing/2014/main" id="{E6A3F0C3-0920-8361-7C4A-6AA567E88F48}"/>
              </a:ext>
            </a:extLst>
          </p:cNvPr>
          <p:cNvSpPr txBox="1"/>
          <p:nvPr/>
        </p:nvSpPr>
        <p:spPr>
          <a:xfrm>
            <a:off x="370072" y="888923"/>
            <a:ext cx="11189916" cy="400110"/>
          </a:xfrm>
          <a:prstGeom prst="rect">
            <a:avLst/>
          </a:prstGeom>
          <a:noFill/>
        </p:spPr>
        <p:txBody>
          <a:bodyPr wrap="square">
            <a:spAutoFit/>
          </a:bodyPr>
          <a:lstStyle/>
          <a:p>
            <a:r>
              <a:rPr lang="en-US" altLang="zh-CN" sz="2000" b="1" dirty="0">
                <a:gradFill>
                  <a:gsLst>
                    <a:gs pos="0">
                      <a:schemeClr val="accent1"/>
                    </a:gs>
                    <a:gs pos="100000">
                      <a:schemeClr val="accent1">
                        <a:lumMod val="75000"/>
                      </a:schemeClr>
                    </a:gs>
                  </a:gsLst>
                  <a:lin ang="0" scaled="0"/>
                </a:gradFill>
                <a:effectLst>
                  <a:outerShdw blurRad="228600" dist="114300" dir="5400000" algn="t" rotWithShape="0">
                    <a:schemeClr val="accent1">
                      <a:alpha val="1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t>1. Key Discovery of Prompt-to-Prompt</a:t>
            </a:r>
            <a:endParaRPr lang="zh-CN" altLang="en-US" sz="2000" b="1" dirty="0">
              <a:gradFill>
                <a:gsLst>
                  <a:gs pos="0">
                    <a:schemeClr val="accent1"/>
                  </a:gs>
                  <a:gs pos="100000">
                    <a:schemeClr val="accent1">
                      <a:lumMod val="75000"/>
                    </a:schemeClr>
                  </a:gs>
                </a:gsLst>
                <a:lin ang="0" scaled="0"/>
              </a:gradFill>
              <a:effectLst>
                <a:outerShdw blurRad="228600" dist="114300" dir="5400000" algn="t" rotWithShape="0">
                  <a:schemeClr val="accent1">
                    <a:alpha val="10000"/>
                  </a:scheme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7" name="PA-直接连接符 17">
            <a:extLst>
              <a:ext uri="{FF2B5EF4-FFF2-40B4-BE49-F238E27FC236}">
                <a16:creationId xmlns:a16="http://schemas.microsoft.com/office/drawing/2014/main" id="{4303B610-FB0A-1964-A149-FB71FD42E882}"/>
              </a:ext>
            </a:extLst>
          </p:cNvPr>
          <p:cNvCxnSpPr>
            <a:cxnSpLocks/>
          </p:cNvCxnSpPr>
          <p:nvPr>
            <p:custDataLst>
              <p:tags r:id="rId1"/>
            </p:custDataLst>
          </p:nvPr>
        </p:nvCxnSpPr>
        <p:spPr>
          <a:xfrm>
            <a:off x="1473017" y="1296158"/>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9" name="PA-直接连接符 17">
            <a:extLst>
              <a:ext uri="{FF2B5EF4-FFF2-40B4-BE49-F238E27FC236}">
                <a16:creationId xmlns:a16="http://schemas.microsoft.com/office/drawing/2014/main" id="{CDDF7229-C5B8-6121-D6D6-80C752EA2317}"/>
              </a:ext>
            </a:extLst>
          </p:cNvPr>
          <p:cNvCxnSpPr>
            <a:cxnSpLocks/>
          </p:cNvCxnSpPr>
          <p:nvPr>
            <p:custDataLst>
              <p:tags r:id="rId2"/>
            </p:custDataLst>
          </p:nvPr>
        </p:nvCxnSpPr>
        <p:spPr>
          <a:xfrm>
            <a:off x="472333" y="1296158"/>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pic>
        <p:nvPicPr>
          <p:cNvPr id="21" name="图片 20">
            <a:extLst>
              <a:ext uri="{FF2B5EF4-FFF2-40B4-BE49-F238E27FC236}">
                <a16:creationId xmlns:a16="http://schemas.microsoft.com/office/drawing/2014/main" id="{9B700BEF-4B57-03CD-59C1-5EABCB2B4242}"/>
              </a:ext>
            </a:extLst>
          </p:cNvPr>
          <p:cNvPicPr>
            <a:picLocks noChangeAspect="1"/>
          </p:cNvPicPr>
          <p:nvPr/>
        </p:nvPicPr>
        <p:blipFill>
          <a:blip r:embed="rId8"/>
          <a:stretch>
            <a:fillRect/>
          </a:stretch>
        </p:blipFill>
        <p:spPr>
          <a:xfrm>
            <a:off x="6253151" y="2132122"/>
            <a:ext cx="5836775" cy="3732137"/>
          </a:xfrm>
          <a:prstGeom prst="rect">
            <a:avLst/>
          </a:prstGeom>
        </p:spPr>
      </p:pic>
      <p:sp>
        <p:nvSpPr>
          <p:cNvPr id="25" name="文本框 24">
            <a:extLst>
              <a:ext uri="{FF2B5EF4-FFF2-40B4-BE49-F238E27FC236}">
                <a16:creationId xmlns:a16="http://schemas.microsoft.com/office/drawing/2014/main" id="{D21A8030-54C8-5ECF-6BC0-8E31F7B45310}"/>
              </a:ext>
            </a:extLst>
          </p:cNvPr>
          <p:cNvSpPr txBox="1"/>
          <p:nvPr/>
        </p:nvSpPr>
        <p:spPr>
          <a:xfrm>
            <a:off x="503619" y="1704472"/>
            <a:ext cx="10719552" cy="369332"/>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The </a:t>
            </a:r>
            <a:r>
              <a:rPr lang="en-US" altLang="zh-CN" b="1" i="1" dirty="0">
                <a:solidFill>
                  <a:schemeClr val="accent5">
                    <a:lumMod val="75000"/>
                  </a:schemeClr>
                </a:solidFill>
                <a:latin typeface="Times New Roman" panose="02020603050405020304" pitchFamily="18" charset="0"/>
                <a:cs typeface="Times New Roman" panose="02020603050405020304" pitchFamily="18" charset="0"/>
              </a:rPr>
              <a:t>Cross-Attention Maps </a:t>
            </a:r>
            <a:r>
              <a:rPr lang="en-US" altLang="zh-CN" dirty="0">
                <a:latin typeface="Times New Roman" panose="02020603050405020304" pitchFamily="18" charset="0"/>
                <a:cs typeface="Times New Roman" panose="02020603050405020304" pitchFamily="18" charset="0"/>
              </a:rPr>
              <a:t>control the spatial layout and geometry of the generated image.</a:t>
            </a:r>
            <a:endParaRPr lang="zh-CN" altLang="en-US" dirty="0">
              <a:latin typeface="Times New Roman" panose="02020603050405020304" pitchFamily="18" charset="0"/>
              <a:cs typeface="Times New Roman" panose="02020603050405020304" pitchFamily="18" charset="0"/>
            </a:endParaRPr>
          </a:p>
        </p:txBody>
      </p:sp>
      <p:sp>
        <p:nvSpPr>
          <p:cNvPr id="27" name="文本框 26">
            <a:extLst>
              <a:ext uri="{FF2B5EF4-FFF2-40B4-BE49-F238E27FC236}">
                <a16:creationId xmlns:a16="http://schemas.microsoft.com/office/drawing/2014/main" id="{E54E9F4F-1025-4C87-0516-4A2800298BE4}"/>
              </a:ext>
            </a:extLst>
          </p:cNvPr>
          <p:cNvSpPr txBox="1"/>
          <p:nvPr/>
        </p:nvSpPr>
        <p:spPr>
          <a:xfrm>
            <a:off x="466387" y="2412415"/>
            <a:ext cx="5553885" cy="2185214"/>
          </a:xfrm>
          <a:prstGeom prst="rect">
            <a:avLst/>
          </a:prstGeom>
          <a:noFill/>
        </p:spPr>
        <p:txBody>
          <a:bodyPr wrap="square">
            <a:spAutoFit/>
          </a:bodyPr>
          <a:lstStyle/>
          <a:p>
            <a:pPr marL="285750" indent="-285750">
              <a:spcAft>
                <a:spcPts val="600"/>
              </a:spcAft>
              <a:buFont typeface="微软雅黑" panose="020B0503020204020204" pitchFamily="34" charset="-122"/>
              <a:buChar char="◦"/>
            </a:pPr>
            <a:r>
              <a:rPr lang="en-US" altLang="zh-CN" b="0" i="0" dirty="0">
                <a:effectLst/>
                <a:latin typeface="Times New Roman" panose="02020603050405020304" pitchFamily="18" charset="0"/>
                <a:cs typeface="Times New Roman" panose="02020603050405020304" pitchFamily="18" charset="0"/>
              </a:rPr>
              <a:t>Text and image features fuse at each diffusion step via </a:t>
            </a:r>
            <a:r>
              <a:rPr lang="en-US" altLang="zh-CN" b="1" i="0" dirty="0">
                <a:effectLst/>
                <a:latin typeface="Times New Roman" panose="02020603050405020304" pitchFamily="18" charset="0"/>
                <a:cs typeface="Times New Roman" panose="02020603050405020304" pitchFamily="18" charset="0"/>
              </a:rPr>
              <a:t>Cross-Attention Layer</a:t>
            </a:r>
            <a:r>
              <a:rPr lang="en-US" altLang="zh-CN" b="0" i="0" dirty="0">
                <a:effectLst/>
                <a:latin typeface="Times New Roman" panose="02020603050405020304" pitchFamily="18" charset="0"/>
                <a:cs typeface="Times New Roman" panose="02020603050405020304" pitchFamily="18" charset="0"/>
              </a:rPr>
              <a:t>.</a:t>
            </a:r>
          </a:p>
          <a:p>
            <a:pPr marL="285750" indent="-285750">
              <a:spcAft>
                <a:spcPts val="600"/>
              </a:spcAft>
              <a:buFont typeface="微软雅黑" panose="020B0503020204020204" pitchFamily="34" charset="-122"/>
              <a:buChar char="◦"/>
            </a:pPr>
            <a:r>
              <a:rPr lang="en-US" altLang="zh-CN" dirty="0">
                <a:latin typeface="Times New Roman" panose="02020603050405020304" pitchFamily="18" charset="0"/>
                <a:cs typeface="Times New Roman" panose="02020603050405020304" pitchFamily="18" charset="0"/>
              </a:rPr>
              <a:t>Each text token generates a </a:t>
            </a:r>
            <a:r>
              <a:rPr lang="en-US" altLang="zh-CN" b="1" dirty="0">
                <a:latin typeface="Times New Roman" panose="02020603050405020304" pitchFamily="18" charset="0"/>
                <a:cs typeface="Times New Roman" panose="02020603050405020304" pitchFamily="18" charset="0"/>
              </a:rPr>
              <a:t>Spatial Attention Map </a:t>
            </a:r>
            <a:r>
              <a:rPr lang="en-US" altLang="zh-CN" dirty="0">
                <a:latin typeface="Times New Roman" panose="02020603050405020304" pitchFamily="18" charset="0"/>
                <a:cs typeface="Times New Roman" panose="02020603050405020304" pitchFamily="18" charset="0"/>
              </a:rPr>
              <a:t>(like a heatmap) within the cross-attention layers.</a:t>
            </a:r>
          </a:p>
          <a:p>
            <a:pPr marL="285750" indent="-285750">
              <a:buFont typeface="微软雅黑" panose="020B0503020204020204" pitchFamily="34" charset="-122"/>
              <a:buChar char="◦"/>
            </a:pPr>
            <a:r>
              <a:rPr lang="en-US" altLang="zh-CN" dirty="0">
                <a:latin typeface="Times New Roman" panose="02020603050405020304" pitchFamily="18" charset="0"/>
                <a:cs typeface="Times New Roman" panose="02020603050405020304" pitchFamily="18" charset="0"/>
              </a:rPr>
              <a:t>Case Study: Bear and Bird</a:t>
            </a:r>
          </a:p>
          <a:p>
            <a:pPr lvl="1"/>
            <a:r>
              <a:rPr lang="en-US" altLang="zh-CN" sz="1200" i="1" dirty="0">
                <a:latin typeface="Times New Roman" panose="02020603050405020304" pitchFamily="18" charset="0"/>
                <a:cs typeface="Times New Roman" panose="02020603050405020304" pitchFamily="18" charset="0"/>
              </a:rPr>
              <a:t>— The map for 'bear’  token highlights the area of the bear.</a:t>
            </a:r>
          </a:p>
          <a:p>
            <a:pPr lvl="1"/>
            <a:r>
              <a:rPr lang="en-US" altLang="zh-CN" sz="1200" i="1" dirty="0">
                <a:latin typeface="Times New Roman" panose="02020603050405020304" pitchFamily="18" charset="0"/>
                <a:cs typeface="Times New Roman" panose="02020603050405020304" pitchFamily="18" charset="0"/>
              </a:rPr>
              <a:t>— The 'bird’ token precisely corresponds to the bird's specific area.</a:t>
            </a:r>
          </a:p>
          <a:p>
            <a:pPr lvl="1"/>
            <a:r>
              <a:rPr lang="en-US" altLang="zh-CN" sz="1200" b="1" i="1" dirty="0">
                <a:latin typeface="Times New Roman" panose="02020603050405020304" pitchFamily="18" charset="0"/>
                <a:cs typeface="Times New Roman" panose="02020603050405020304" pitchFamily="18" charset="0"/>
              </a:rPr>
              <a:t>— Different tokens show high spatial distinctness.</a:t>
            </a:r>
          </a:p>
        </p:txBody>
      </p:sp>
      <p:sp>
        <p:nvSpPr>
          <p:cNvPr id="29" name="文本框 28">
            <a:extLst>
              <a:ext uri="{FF2B5EF4-FFF2-40B4-BE49-F238E27FC236}">
                <a16:creationId xmlns:a16="http://schemas.microsoft.com/office/drawing/2014/main" id="{16ED7E4C-C8E6-2260-3261-58007D62F81E}"/>
              </a:ext>
            </a:extLst>
          </p:cNvPr>
          <p:cNvSpPr txBox="1"/>
          <p:nvPr/>
        </p:nvSpPr>
        <p:spPr>
          <a:xfrm>
            <a:off x="233508" y="1410966"/>
            <a:ext cx="6096000" cy="369332"/>
          </a:xfrm>
          <a:prstGeom prst="rect">
            <a:avLst/>
          </a:prstGeom>
          <a:noFill/>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Core Discovery</a:t>
            </a:r>
            <a:endParaRPr lang="zh-CN" altLang="en-US" b="1" dirty="0">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2975C9EA-D4DB-3463-7F4E-9F0AE75168C5}"/>
              </a:ext>
            </a:extLst>
          </p:cNvPr>
          <p:cNvSpPr txBox="1"/>
          <p:nvPr/>
        </p:nvSpPr>
        <p:spPr>
          <a:xfrm>
            <a:off x="207162" y="2087149"/>
            <a:ext cx="6096000" cy="369332"/>
          </a:xfrm>
          <a:prstGeom prst="rect">
            <a:avLst/>
          </a:prstGeom>
          <a:noFill/>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Token Attention Map</a:t>
            </a:r>
            <a:endParaRPr lang="zh-CN" altLang="en-US" b="1" dirty="0">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B707D939-118B-8DA8-C724-35F097180D02}"/>
              </a:ext>
            </a:extLst>
          </p:cNvPr>
          <p:cNvSpPr txBox="1"/>
          <p:nvPr/>
        </p:nvSpPr>
        <p:spPr>
          <a:xfrm>
            <a:off x="233508" y="4624024"/>
            <a:ext cx="6096000" cy="369332"/>
          </a:xfrm>
          <a:prstGeom prst="rect">
            <a:avLst/>
          </a:prstGeom>
          <a:noFill/>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Early Structural Lock-in</a:t>
            </a:r>
            <a:endParaRPr lang="zh-CN" altLang="en-US" b="1"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DD55A1D6-C524-F2B9-1729-53209BC404B1}"/>
              </a:ext>
            </a:extLst>
          </p:cNvPr>
          <p:cNvSpPr txBox="1"/>
          <p:nvPr/>
        </p:nvSpPr>
        <p:spPr>
          <a:xfrm>
            <a:off x="466387" y="4989182"/>
            <a:ext cx="5836775" cy="646331"/>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The image's </a:t>
            </a:r>
            <a:r>
              <a:rPr lang="en-US" altLang="zh-CN" b="1" dirty="0">
                <a:latin typeface="Times New Roman" panose="02020603050405020304" pitchFamily="18" charset="0"/>
                <a:cs typeface="Times New Roman" panose="02020603050405020304" pitchFamily="18" charset="0"/>
              </a:rPr>
              <a:t>spatial structure </a:t>
            </a:r>
            <a:r>
              <a:rPr lang="en-US" altLang="zh-CN" dirty="0">
                <a:latin typeface="Times New Roman" panose="02020603050405020304" pitchFamily="18" charset="0"/>
                <a:cs typeface="Times New Roman" panose="02020603050405020304" pitchFamily="18" charset="0"/>
              </a:rPr>
              <a:t>is determined by attention maps during the </a:t>
            </a:r>
            <a:r>
              <a:rPr lang="en-US" altLang="zh-CN" b="1" dirty="0">
                <a:latin typeface="Times New Roman" panose="02020603050405020304" pitchFamily="18" charset="0"/>
                <a:cs typeface="Times New Roman" panose="02020603050405020304" pitchFamily="18" charset="0"/>
              </a:rPr>
              <a:t>early steps </a:t>
            </a:r>
            <a:r>
              <a:rPr lang="en-US" altLang="zh-CN" dirty="0">
                <a:latin typeface="Times New Roman" panose="02020603050405020304" pitchFamily="18" charset="0"/>
                <a:cs typeface="Times New Roman" panose="02020603050405020304" pitchFamily="18" charset="0"/>
              </a:rPr>
              <a:t>of the diffusion process.</a:t>
            </a:r>
            <a:endParaRPr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 name="Rectangle 1">
                <a:extLst>
                  <a:ext uri="{FF2B5EF4-FFF2-40B4-BE49-F238E27FC236}">
                    <a16:creationId xmlns:a16="http://schemas.microsoft.com/office/drawing/2014/main" id="{DCD2FF73-60C3-CBD0-6A2E-C6F8C3F4CE10}"/>
                  </a:ext>
                </a:extLst>
              </p:cNvPr>
              <p:cNvSpPr>
                <a:spLocks noChangeArrowheads="1"/>
              </p:cNvSpPr>
              <p:nvPr/>
            </p:nvSpPr>
            <p:spPr bwMode="auto">
              <a:xfrm>
                <a:off x="503155" y="5962594"/>
                <a:ext cx="10923749" cy="64633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attention map </a:t>
                </a:r>
                <a14:m>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Google Sans Text"/>
                        <a:cs typeface="Times New Roman" panose="02020603050405020304" pitchFamily="18" charset="0"/>
                      </a:rPr>
                      <m:t>𝑀</m:t>
                    </m:r>
                  </m:oMath>
                </a14:m>
                <a:r>
                  <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acts as </a:t>
                </a:r>
                <a:r>
                  <a:rPr kumimoji="0" lang="zh-CN" altLang="zh-CN"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bridge between text semantics and spatial structure</a:t>
                </a:r>
                <a:r>
                  <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Controlling the attention map means controlling the image structural skeleton.</a:t>
                </a:r>
                <a:endPar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42" name="Rectangle 1">
                <a:extLst>
                  <a:ext uri="{FF2B5EF4-FFF2-40B4-BE49-F238E27FC236}">
                    <a16:creationId xmlns:a16="http://schemas.microsoft.com/office/drawing/2014/main" id="{DCD2FF73-60C3-CBD0-6A2E-C6F8C3F4CE10}"/>
                  </a:ext>
                </a:extLst>
              </p:cNvPr>
              <p:cNvSpPr>
                <a:spLocks noRot="1" noChangeAspect="1" noMove="1" noResize="1" noEditPoints="1" noAdjustHandles="1" noChangeArrowheads="1" noChangeShapeType="1" noTextEdit="1"/>
              </p:cNvSpPr>
              <p:nvPr/>
            </p:nvSpPr>
            <p:spPr bwMode="auto">
              <a:xfrm>
                <a:off x="503155" y="5962594"/>
                <a:ext cx="10923749" cy="646331"/>
              </a:xfrm>
              <a:prstGeom prst="rect">
                <a:avLst/>
              </a:prstGeom>
              <a:blipFill>
                <a:blip r:embed="rId9"/>
                <a:stretch>
                  <a:fillRect l="-503" t="-4717" b="-1509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43" name="文本框 42">
            <a:extLst>
              <a:ext uri="{FF2B5EF4-FFF2-40B4-BE49-F238E27FC236}">
                <a16:creationId xmlns:a16="http://schemas.microsoft.com/office/drawing/2014/main" id="{75E457F5-A6E1-AA9F-ED0C-417083C0821F}"/>
              </a:ext>
            </a:extLst>
          </p:cNvPr>
          <p:cNvSpPr txBox="1"/>
          <p:nvPr/>
        </p:nvSpPr>
        <p:spPr>
          <a:xfrm>
            <a:off x="233508" y="5643603"/>
            <a:ext cx="6096000" cy="369332"/>
          </a:xfrm>
          <a:prstGeom prst="rect">
            <a:avLst/>
          </a:prstGeom>
          <a:noFill/>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Conclusion</a:t>
            </a:r>
            <a:endParaRPr lang="zh-CN" altLang="en-US" b="1"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3BF14913-487C-F196-590C-9A1A771B3703}"/>
              </a:ext>
            </a:extLst>
          </p:cNvPr>
          <p:cNvSpPr>
            <a:spLocks noGrp="1"/>
          </p:cNvSpPr>
          <p:nvPr>
            <p:ph type="sldNum" sz="quarter" idx="12"/>
          </p:nvPr>
        </p:nvSpPr>
        <p:spPr/>
        <p:txBody>
          <a:bodyPr/>
          <a:lstStyle/>
          <a:p>
            <a:fld id="{E6518835-16E6-9244-9C02-6BFB876E5D3C}" type="slidenum">
              <a:rPr kumimoji="1" lang="zh-CN" altLang="en-US" smtClean="0"/>
              <a:t>14</a:t>
            </a:fld>
            <a:endParaRPr kumimoji="1" lang="zh-CN" altLang="en-US"/>
          </a:p>
        </p:txBody>
      </p:sp>
    </p:spTree>
    <p:extLst>
      <p:ext uri="{BB962C8B-B14F-4D97-AF65-F5344CB8AC3E}">
        <p14:creationId xmlns:p14="http://schemas.microsoft.com/office/powerpoint/2010/main" val="3701274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BAE34-F049-4D75-4842-7270F9CD426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CA19105F-16FC-C90C-9D03-0377A7F00EF0}"/>
              </a:ext>
            </a:extLst>
          </p:cNvPr>
          <p:cNvSpPr/>
          <p:nvPr/>
        </p:nvSpPr>
        <p:spPr>
          <a:xfrm>
            <a:off x="-1" y="0"/>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F6FD2F3B-D33C-63D8-677F-0DFC4933D698}"/>
              </a:ext>
            </a:extLst>
          </p:cNvPr>
          <p:cNvSpPr/>
          <p:nvPr/>
        </p:nvSpPr>
        <p:spPr>
          <a:xfrm>
            <a:off x="811930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ACB0DB38-4E9B-FE49-FAA0-EFA1A03F9681}"/>
              </a:ext>
            </a:extLst>
          </p:cNvPr>
          <p:cNvSpPr txBox="1"/>
          <p:nvPr/>
        </p:nvSpPr>
        <p:spPr>
          <a:xfrm>
            <a:off x="8648668" y="186379"/>
            <a:ext cx="829073" cy="461665"/>
          </a:xfrm>
          <a:prstGeom prst="rect">
            <a:avLst/>
          </a:prstGeom>
          <a:noFill/>
        </p:spPr>
        <p:txBody>
          <a:bodyPr vert="horz" wrap="none" rtlCol="0">
            <a:spAutoFit/>
          </a:bodyPr>
          <a:lstStyle/>
          <a:p>
            <a:pPr algn="ctr"/>
            <a:r>
              <a:rPr kumimoji="1" lang="en-US" altLang="zh-CN" sz="2400" b="1" spc="300" dirty="0">
                <a:solidFill>
                  <a:schemeClr val="accent1"/>
                </a:solidFill>
                <a:latin typeface="Times New Roman" panose="02020603050405020304" pitchFamily="18" charset="0"/>
                <a:cs typeface="Times New Roman" panose="02020603050405020304" pitchFamily="18" charset="0"/>
              </a:rPr>
              <a:t>P2P</a:t>
            </a:r>
            <a:endParaRPr kumimoji="1" lang="zh-CN" altLang="en-US" sz="2000" b="1" spc="300" dirty="0">
              <a:solidFill>
                <a:schemeClr val="accent1"/>
              </a:solidFill>
              <a:latin typeface="Times New Roman" panose="02020603050405020304" pitchFamily="18" charset="0"/>
              <a:cs typeface="Times New Roman" panose="02020603050405020304" pitchFamily="18" charset="0"/>
            </a:endParaRPr>
          </a:p>
        </p:txBody>
      </p:sp>
      <p:grpSp>
        <p:nvGrpSpPr>
          <p:cNvPr id="31" name="组合 30">
            <a:extLst>
              <a:ext uri="{FF2B5EF4-FFF2-40B4-BE49-F238E27FC236}">
                <a16:creationId xmlns:a16="http://schemas.microsoft.com/office/drawing/2014/main" id="{AF63A468-BD04-C5C6-F1D2-DAC18BE9EA74}"/>
              </a:ext>
            </a:extLst>
          </p:cNvPr>
          <p:cNvGrpSpPr/>
          <p:nvPr/>
        </p:nvGrpSpPr>
        <p:grpSpPr>
          <a:xfrm>
            <a:off x="370072" y="219176"/>
            <a:ext cx="2150839" cy="449040"/>
            <a:chOff x="2085654" y="644950"/>
            <a:chExt cx="7772400" cy="1622679"/>
          </a:xfrm>
        </p:grpSpPr>
        <p:pic>
          <p:nvPicPr>
            <p:cNvPr id="32" name="图片 31">
              <a:extLst>
                <a:ext uri="{FF2B5EF4-FFF2-40B4-BE49-F238E27FC236}">
                  <a16:creationId xmlns:a16="http://schemas.microsoft.com/office/drawing/2014/main" id="{9D0AF6C3-3A69-A42B-AB86-ED0BCB95AEA5}"/>
                </a:ext>
              </a:extLst>
            </p:cNvPr>
            <p:cNvPicPr>
              <a:picLocks noChangeAspect="1"/>
            </p:cNvPicPr>
            <p:nvPr/>
          </p:nvPicPr>
          <p:blipFill rotWithShape="1">
            <a:blip r:embed="rId5"/>
            <a:srcRect r="78982"/>
            <a:stretch/>
          </p:blipFill>
          <p:spPr>
            <a:xfrm>
              <a:off x="2085654" y="644950"/>
              <a:ext cx="1633591" cy="1622679"/>
            </a:xfrm>
            <a:prstGeom prst="rect">
              <a:avLst/>
            </a:prstGeom>
          </p:spPr>
        </p:pic>
        <p:pic>
          <p:nvPicPr>
            <p:cNvPr id="33" name="图片 32">
              <a:extLst>
                <a:ext uri="{FF2B5EF4-FFF2-40B4-BE49-F238E27FC236}">
                  <a16:creationId xmlns:a16="http://schemas.microsoft.com/office/drawing/2014/main" id="{F94512DB-2FA0-BB86-4E07-BF0B8D0EEE4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9" name="文本框 8">
            <a:extLst>
              <a:ext uri="{FF2B5EF4-FFF2-40B4-BE49-F238E27FC236}">
                <a16:creationId xmlns:a16="http://schemas.microsoft.com/office/drawing/2014/main" id="{D37B4B18-DBDB-A899-0192-E18EA9412A23}"/>
              </a:ext>
            </a:extLst>
          </p:cNvPr>
          <p:cNvSpPr txBox="1"/>
          <p:nvPr/>
        </p:nvSpPr>
        <p:spPr>
          <a:xfrm>
            <a:off x="370072" y="888923"/>
            <a:ext cx="11189916" cy="400110"/>
          </a:xfrm>
          <a:prstGeom prst="rect">
            <a:avLst/>
          </a:prstGeom>
          <a:noFill/>
        </p:spPr>
        <p:txBody>
          <a:bodyPr wrap="square">
            <a:spAutoFit/>
          </a:bodyPr>
          <a:lstStyle/>
          <a:p>
            <a:r>
              <a:rPr lang="en-US" altLang="zh-CN" sz="2000" b="1" dirty="0">
                <a:gradFill>
                  <a:gsLst>
                    <a:gs pos="0">
                      <a:schemeClr val="accent1"/>
                    </a:gs>
                    <a:gs pos="100000">
                      <a:schemeClr val="accent1">
                        <a:lumMod val="75000"/>
                      </a:schemeClr>
                    </a:gs>
                  </a:gsLst>
                  <a:lin ang="0" scaled="0"/>
                </a:gradFill>
                <a:effectLst>
                  <a:outerShdw blurRad="228600" dist="114300" dir="5400000" algn="t" rotWithShape="0">
                    <a:schemeClr val="accent1">
                      <a:alpha val="1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2000" b="1" i="1" dirty="0">
                <a:gradFill>
                  <a:gsLst>
                    <a:gs pos="0">
                      <a:schemeClr val="accent1"/>
                    </a:gs>
                    <a:gs pos="100000">
                      <a:schemeClr val="accent1">
                        <a:lumMod val="75000"/>
                      </a:schemeClr>
                    </a:gs>
                  </a:gsLst>
                  <a:lin ang="0" scaled="0"/>
                </a:gradFill>
                <a:effectLst>
                  <a:outerShdw blurRad="228600" dist="114300" dir="5400000" algn="t" rotWithShape="0">
                    <a:schemeClr val="accent1">
                      <a:alpha val="1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t>Cross-Attention</a:t>
            </a:r>
            <a:r>
              <a:rPr lang="en-US" altLang="zh-CN" sz="2000" b="1" dirty="0">
                <a:gradFill>
                  <a:gsLst>
                    <a:gs pos="0">
                      <a:schemeClr val="accent1"/>
                    </a:gs>
                    <a:gs pos="100000">
                      <a:schemeClr val="accent1">
                        <a:lumMod val="75000"/>
                      </a:schemeClr>
                    </a:gs>
                  </a:gsLst>
                  <a:lin ang="0" scaled="0"/>
                </a:gradFill>
                <a:effectLst>
                  <a:outerShdw blurRad="228600" dist="114300" dir="5400000" algn="t" rotWithShape="0">
                    <a:schemeClr val="accent1">
                      <a:alpha val="1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t> Mechanism Principle</a:t>
            </a:r>
            <a:endParaRPr lang="zh-CN" altLang="en-US" sz="2000" b="1" dirty="0">
              <a:gradFill>
                <a:gsLst>
                  <a:gs pos="0">
                    <a:schemeClr val="accent1"/>
                  </a:gs>
                  <a:gs pos="100000">
                    <a:schemeClr val="accent1">
                      <a:lumMod val="75000"/>
                    </a:schemeClr>
                  </a:gs>
                </a:gsLst>
                <a:lin ang="0" scaled="0"/>
              </a:gradFill>
              <a:effectLst>
                <a:outerShdw blurRad="228600" dist="114300" dir="5400000" algn="t" rotWithShape="0">
                  <a:schemeClr val="accent1">
                    <a:alpha val="10000"/>
                  </a:scheme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2" name="PA-直接连接符 17">
            <a:extLst>
              <a:ext uri="{FF2B5EF4-FFF2-40B4-BE49-F238E27FC236}">
                <a16:creationId xmlns:a16="http://schemas.microsoft.com/office/drawing/2014/main" id="{F8661895-D199-210A-B9B1-0401E8EAAFDE}"/>
              </a:ext>
            </a:extLst>
          </p:cNvPr>
          <p:cNvCxnSpPr>
            <a:cxnSpLocks/>
          </p:cNvCxnSpPr>
          <p:nvPr>
            <p:custDataLst>
              <p:tags r:id="rId1"/>
            </p:custDataLst>
          </p:nvPr>
        </p:nvCxnSpPr>
        <p:spPr>
          <a:xfrm>
            <a:off x="1473017" y="1296158"/>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3" name="PA-直接连接符 17">
            <a:extLst>
              <a:ext uri="{FF2B5EF4-FFF2-40B4-BE49-F238E27FC236}">
                <a16:creationId xmlns:a16="http://schemas.microsoft.com/office/drawing/2014/main" id="{F7FB2D78-0743-CAE9-1E10-4B35FD0E190A}"/>
              </a:ext>
            </a:extLst>
          </p:cNvPr>
          <p:cNvCxnSpPr>
            <a:cxnSpLocks/>
          </p:cNvCxnSpPr>
          <p:nvPr>
            <p:custDataLst>
              <p:tags r:id="rId2"/>
            </p:custDataLst>
          </p:nvPr>
        </p:nvCxnSpPr>
        <p:spPr>
          <a:xfrm>
            <a:off x="472333" y="1296158"/>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pic>
        <p:nvPicPr>
          <p:cNvPr id="18" name="图片 17">
            <a:extLst>
              <a:ext uri="{FF2B5EF4-FFF2-40B4-BE49-F238E27FC236}">
                <a16:creationId xmlns:a16="http://schemas.microsoft.com/office/drawing/2014/main" id="{C4588710-9665-557A-41D0-58E12CDE30FB}"/>
              </a:ext>
            </a:extLst>
          </p:cNvPr>
          <p:cNvPicPr>
            <a:picLocks noChangeAspect="1"/>
          </p:cNvPicPr>
          <p:nvPr/>
        </p:nvPicPr>
        <p:blipFill>
          <a:blip r:embed="rId8"/>
          <a:stretch>
            <a:fillRect/>
          </a:stretch>
        </p:blipFill>
        <p:spPr>
          <a:xfrm>
            <a:off x="4988204" y="2117302"/>
            <a:ext cx="2215590" cy="740882"/>
          </a:xfrm>
          <a:prstGeom prst="rect">
            <a:avLst/>
          </a:prstGeom>
        </p:spPr>
      </p:pic>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6B381CD4-80E5-E331-84BD-83204C043173}"/>
                  </a:ext>
                </a:extLst>
              </p:cNvPr>
              <p:cNvSpPr txBox="1"/>
              <p:nvPr/>
            </p:nvSpPr>
            <p:spPr>
              <a:xfrm>
                <a:off x="685800" y="2782312"/>
                <a:ext cx="11342914" cy="1376531"/>
              </a:xfrm>
              <a:prstGeom prst="rect">
                <a:avLst/>
              </a:prstGeom>
              <a:noFill/>
            </p:spPr>
            <p:txBody>
              <a:bodyPr wrap="square">
                <a:spAutoFit/>
              </a:bodyPr>
              <a:lstStyle/>
              <a:p>
                <a:pPr marL="285750" indent="-285750">
                  <a:spcAft>
                    <a:spcPts val="600"/>
                  </a:spcAft>
                  <a:buFont typeface="微软雅黑" panose="020B0503020204020204" pitchFamily="34" charset="-122"/>
                  <a:buChar char="◦"/>
                </a:pPr>
                <a14:m>
                  <m:oMath xmlns:m="http://schemas.openxmlformats.org/officeDocument/2006/math">
                    <m:r>
                      <a:rPr lang="en-US" altLang="zh-CN" i="1" dirty="0" smtClean="0">
                        <a:latin typeface="Cambria Math" panose="02040503050406030204" pitchFamily="18" charset="0"/>
                      </a:rPr>
                      <m:t>𝑄</m:t>
                    </m:r>
                  </m:oMath>
                </a14:m>
                <a:r>
                  <a:rPr lang="en-US" altLang="zh-CN" dirty="0">
                    <a:latin typeface="Times New Roman" panose="02020603050405020304" pitchFamily="18" charset="0"/>
                    <a:cs typeface="Times New Roman" panose="02020603050405020304" pitchFamily="18" charset="0"/>
                  </a:rPr>
                  <a:t> comes from the </a:t>
                </a:r>
                <a:r>
                  <a:rPr lang="en-US" altLang="zh-CN" b="1" dirty="0">
                    <a:latin typeface="Times New Roman" panose="02020603050405020304" pitchFamily="18" charset="0"/>
                    <a:cs typeface="Times New Roman" panose="02020603050405020304" pitchFamily="18" charset="0"/>
                  </a:rPr>
                  <a:t>image features</a:t>
                </a:r>
                <a:r>
                  <a:rPr lang="en-US" altLang="zh-CN" dirty="0">
                    <a:latin typeface="Times New Roman" panose="02020603050405020304" pitchFamily="18" charset="0"/>
                    <a:cs typeface="Times New Roman" panose="02020603050405020304" pitchFamily="18" charset="0"/>
                  </a:rPr>
                  <a:t>, representing pixel-level queries. </a:t>
                </a:r>
              </a:p>
              <a:p>
                <a:pPr marL="285750" indent="-285750">
                  <a:spcAft>
                    <a:spcPts val="600"/>
                  </a:spcAft>
                  <a:buFont typeface="微软雅黑" panose="020B0503020204020204" pitchFamily="34" charset="-122"/>
                  <a:buChar char="◦"/>
                </a:pPr>
                <a14:m>
                  <m:oMath xmlns:m="http://schemas.openxmlformats.org/officeDocument/2006/math">
                    <m:r>
                      <a:rPr lang="en-US" altLang="zh-CN" i="1" dirty="0" smtClean="0">
                        <a:latin typeface="Cambria Math" panose="02040503050406030204" pitchFamily="18" charset="0"/>
                      </a:rPr>
                      <m:t>𝐾</m:t>
                    </m:r>
                    <m:r>
                      <a:rPr lang="en-US" altLang="zh-CN" b="0" i="1" dirty="0" smtClean="0">
                        <a:latin typeface="Cambria Math" panose="02040503050406030204" pitchFamily="18" charset="0"/>
                      </a:rPr>
                      <m:t> </m:t>
                    </m:r>
                  </m:oMath>
                </a14:m>
                <a:r>
                  <a:rPr lang="en-US" altLang="zh-CN" dirty="0">
                    <a:latin typeface="Times New Roman" panose="02020603050405020304" pitchFamily="18" charset="0"/>
                    <a:cs typeface="Times New Roman" panose="02020603050405020304" pitchFamily="18" charset="0"/>
                  </a:rPr>
                  <a:t>and </a:t>
                </a:r>
                <a14:m>
                  <m:oMath xmlns:m="http://schemas.openxmlformats.org/officeDocument/2006/math">
                    <m:r>
                      <a:rPr lang="en-US" altLang="zh-CN" b="0" i="1" dirty="0" smtClean="0">
                        <a:latin typeface="Cambria Math" panose="02040503050406030204" pitchFamily="18" charset="0"/>
                      </a:rPr>
                      <m:t>𝑉</m:t>
                    </m:r>
                    <m:r>
                      <a:rPr lang="en-US" altLang="zh-CN" i="1" dirty="0" smtClean="0">
                        <a:latin typeface="Cambria Math" panose="02040503050406030204" pitchFamily="18" charset="0"/>
                      </a:rPr>
                      <m:t> </m:t>
                    </m:r>
                  </m:oMath>
                </a14:m>
                <a:r>
                  <a:rPr lang="en-US" altLang="zh-CN" dirty="0">
                    <a:latin typeface="Times New Roman" panose="02020603050405020304" pitchFamily="18" charset="0"/>
                    <a:cs typeface="Times New Roman" panose="02020603050405020304" pitchFamily="18" charset="0"/>
                  </a:rPr>
                  <a:t>come from the </a:t>
                </a:r>
                <a:r>
                  <a:rPr lang="en-US" altLang="zh-CN" b="1" dirty="0">
                    <a:latin typeface="Times New Roman" panose="02020603050405020304" pitchFamily="18" charset="0"/>
                    <a:cs typeface="Times New Roman" panose="02020603050405020304" pitchFamily="18" charset="0"/>
                  </a:rPr>
                  <a:t>text embeddings</a:t>
                </a:r>
                <a:r>
                  <a:rPr lang="en-US" altLang="zh-CN" dirty="0">
                    <a:latin typeface="Times New Roman" panose="02020603050405020304" pitchFamily="18" charset="0"/>
                    <a:cs typeface="Times New Roman" panose="02020603050405020304" pitchFamily="18" charset="0"/>
                  </a:rPr>
                  <a:t>.</a:t>
                </a:r>
              </a:p>
              <a:p>
                <a:pPr marL="285750" indent="-285750">
                  <a:spcAft>
                    <a:spcPts val="600"/>
                  </a:spcAft>
                  <a:buFont typeface="微软雅黑" panose="020B0503020204020204" pitchFamily="34" charset="-122"/>
                  <a:buChar char="◦"/>
                </a:pPr>
                <a:r>
                  <a:rPr lang="en-US" altLang="zh-CN" dirty="0">
                    <a:latin typeface="Times New Roman" panose="02020603050405020304" pitchFamily="18" charset="0"/>
                    <a:cs typeface="Times New Roman" panose="02020603050405020304" pitchFamily="18" charset="0"/>
                  </a:rPr>
                  <a:t>The cell </a:t>
                </a:r>
                <a14:m>
                  <m:oMath xmlns:m="http://schemas.openxmlformats.org/officeDocument/2006/math">
                    <m:sSub>
                      <m:sSubPr>
                        <m:ctrlPr>
                          <a:rPr lang="en-US" altLang="zh-CN" b="1" i="1" dirty="0">
                            <a:latin typeface="Cambria Math" panose="02040503050406030204" pitchFamily="18" charset="0"/>
                            <a:cs typeface="Times New Roman" panose="02020603050405020304" pitchFamily="18" charset="0"/>
                          </a:rPr>
                        </m:ctrlPr>
                      </m:sSubPr>
                      <m:e>
                        <m:r>
                          <a:rPr lang="en-US" altLang="zh-CN" b="1" i="1" dirty="0">
                            <a:latin typeface="Cambria Math" panose="02040503050406030204" pitchFamily="18" charset="0"/>
                            <a:cs typeface="Times New Roman" panose="02020603050405020304" pitchFamily="18" charset="0"/>
                          </a:rPr>
                          <m:t>𝑴</m:t>
                        </m:r>
                      </m:e>
                      <m:sub>
                        <m:r>
                          <a:rPr lang="en-US" altLang="zh-CN" b="1" i="1" dirty="0">
                            <a:latin typeface="Cambria Math" panose="02040503050406030204" pitchFamily="18" charset="0"/>
                            <a:cs typeface="Times New Roman" panose="02020603050405020304" pitchFamily="18" charset="0"/>
                          </a:rPr>
                          <m:t>𝒊𝒋</m:t>
                        </m:r>
                      </m:sub>
                    </m:sSub>
                  </m:oMath>
                </a14:m>
                <a:r>
                  <a:rPr lang="en-US" altLang="zh-CN" dirty="0">
                    <a:latin typeface="Times New Roman" panose="02020603050405020304" pitchFamily="18" charset="0"/>
                    <a:cs typeface="Times New Roman" panose="02020603050405020304" pitchFamily="18" charset="0"/>
                  </a:rPr>
                  <a:t> defines the weight of the value of the </a:t>
                </a:r>
                <a14:m>
                  <m:oMath xmlns:m="http://schemas.openxmlformats.org/officeDocument/2006/math">
                    <m:r>
                      <a:rPr lang="en-US" altLang="zh-CN" i="1" dirty="0">
                        <a:latin typeface="Cambria Math" panose="02040503050406030204" pitchFamily="18" charset="0"/>
                        <a:cs typeface="Times New Roman" panose="02020603050405020304" pitchFamily="18" charset="0"/>
                      </a:rPr>
                      <m:t>𝑗</m:t>
                    </m:r>
                  </m:oMath>
                </a14:m>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th</a:t>
                </a:r>
                <a:r>
                  <a:rPr lang="en-US" altLang="zh-CN" dirty="0">
                    <a:latin typeface="Times New Roman" panose="02020603050405020304" pitchFamily="18" charset="0"/>
                    <a:cs typeface="Times New Roman" panose="02020603050405020304" pitchFamily="18" charset="0"/>
                  </a:rPr>
                  <a:t> token on the pixel </a:t>
                </a:r>
                <a14:m>
                  <m:oMath xmlns:m="http://schemas.openxmlformats.org/officeDocument/2006/math">
                    <m:r>
                      <a:rPr lang="en-US" altLang="zh-CN" i="1">
                        <a:latin typeface="Cambria Math" panose="02040503050406030204" pitchFamily="18" charset="0"/>
                        <a:cs typeface="Times New Roman" panose="02020603050405020304" pitchFamily="18" charset="0"/>
                      </a:rPr>
                      <m:t>𝑖</m:t>
                    </m:r>
                  </m:oMath>
                </a14:m>
                <a:r>
                  <a:rPr lang="zh-CN" altLang="zh-CN" dirty="0">
                    <a:latin typeface="Times New Roman" panose="02020603050405020304" pitchFamily="18" charset="0"/>
                    <a:cs typeface="Times New Roman" panose="02020603050405020304" pitchFamily="18" charset="0"/>
                  </a:rPr>
                  <a:t>, directly governing the image's layout and structure.</a:t>
                </a:r>
                <a:endParaRPr lang="en-US" altLang="zh-CN" dirty="0">
                  <a:latin typeface="Times New Roman" panose="02020603050405020304" pitchFamily="18" charset="0"/>
                  <a:cs typeface="Times New Roman" panose="02020603050405020304" pitchFamily="18" charset="0"/>
                </a:endParaRPr>
              </a:p>
            </p:txBody>
          </p:sp>
        </mc:Choice>
        <mc:Fallback xmlns="">
          <p:sp>
            <p:nvSpPr>
              <p:cNvPr id="20" name="文本框 19">
                <a:extLst>
                  <a:ext uri="{FF2B5EF4-FFF2-40B4-BE49-F238E27FC236}">
                    <a16:creationId xmlns:a16="http://schemas.microsoft.com/office/drawing/2014/main" id="{6B381CD4-80E5-E331-84BD-83204C043173}"/>
                  </a:ext>
                </a:extLst>
              </p:cNvPr>
              <p:cNvSpPr txBox="1">
                <a:spLocks noRot="1" noChangeAspect="1" noMove="1" noResize="1" noEditPoints="1" noAdjustHandles="1" noChangeArrowheads="1" noChangeShapeType="1" noTextEdit="1"/>
              </p:cNvSpPr>
              <p:nvPr/>
            </p:nvSpPr>
            <p:spPr>
              <a:xfrm>
                <a:off x="685800" y="2782312"/>
                <a:ext cx="11342914" cy="1376531"/>
              </a:xfrm>
              <a:prstGeom prst="rect">
                <a:avLst/>
              </a:prstGeom>
              <a:blipFill>
                <a:blip r:embed="rId9"/>
                <a:stretch>
                  <a:fillRect l="-591" t="-3982" b="-6195"/>
                </a:stretch>
              </a:blipFill>
            </p:spPr>
            <p:txBody>
              <a:bodyPr/>
              <a:lstStyle/>
              <a:p>
                <a:r>
                  <a:rPr lang="zh-CN" altLang="en-US">
                    <a:noFill/>
                  </a:rPr>
                  <a:t> </a:t>
                </a:r>
              </a:p>
            </p:txBody>
          </p:sp>
        </mc:Fallback>
      </mc:AlternateContent>
      <p:pic>
        <p:nvPicPr>
          <p:cNvPr id="25" name="图片 24">
            <a:extLst>
              <a:ext uri="{FF2B5EF4-FFF2-40B4-BE49-F238E27FC236}">
                <a16:creationId xmlns:a16="http://schemas.microsoft.com/office/drawing/2014/main" id="{59265FFC-472E-8951-578C-759067F2E773}"/>
              </a:ext>
            </a:extLst>
          </p:cNvPr>
          <p:cNvPicPr>
            <a:picLocks noChangeAspect="1"/>
          </p:cNvPicPr>
          <p:nvPr/>
        </p:nvPicPr>
        <p:blipFill>
          <a:blip r:embed="rId10"/>
          <a:stretch>
            <a:fillRect/>
          </a:stretch>
        </p:blipFill>
        <p:spPr>
          <a:xfrm>
            <a:off x="2606260" y="4050302"/>
            <a:ext cx="6979477" cy="1419464"/>
          </a:xfrm>
          <a:prstGeom prst="rect">
            <a:avLst/>
          </a:prstGeom>
        </p:spPr>
      </p:pic>
      <p:sp>
        <p:nvSpPr>
          <p:cNvPr id="27" name="文本框 26">
            <a:extLst>
              <a:ext uri="{FF2B5EF4-FFF2-40B4-BE49-F238E27FC236}">
                <a16:creationId xmlns:a16="http://schemas.microsoft.com/office/drawing/2014/main" id="{7E67221D-5409-4B11-2397-81E2818C3FDD}"/>
              </a:ext>
            </a:extLst>
          </p:cNvPr>
          <p:cNvSpPr txBox="1"/>
          <p:nvPr/>
        </p:nvSpPr>
        <p:spPr>
          <a:xfrm>
            <a:off x="1383556" y="5469766"/>
            <a:ext cx="9913676" cy="276999"/>
          </a:xfrm>
          <a:prstGeom prst="rect">
            <a:avLst/>
          </a:prstGeom>
          <a:noFill/>
        </p:spPr>
        <p:txBody>
          <a:bodyPr wrap="square">
            <a:spAutoFit/>
          </a:bodyPr>
          <a:lstStyle/>
          <a:p>
            <a:pPr algn="ctr"/>
            <a:r>
              <a:rPr lang="en-US" altLang="zh-CN" sz="1200" dirty="0">
                <a:solidFill>
                  <a:schemeClr val="tx1">
                    <a:lumMod val="50000"/>
                    <a:lumOff val="50000"/>
                  </a:schemeClr>
                </a:solidFill>
                <a:latin typeface="Times New Roman" panose="02020603050405020304" pitchFamily="18" charset="0"/>
                <a:cs typeface="Times New Roman" panose="02020603050405020304" pitchFamily="18" charset="0"/>
              </a:rPr>
              <a:t>Figure: Visual and textual embedding are fused using cross-attention layers that produce spatial attention maps for each textual token.</a:t>
            </a:r>
            <a:endParaRPr lang="zh-CN" alt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Rectangle 2">
                <a:extLst>
                  <a:ext uri="{FF2B5EF4-FFF2-40B4-BE49-F238E27FC236}">
                    <a16:creationId xmlns:a16="http://schemas.microsoft.com/office/drawing/2014/main" id="{3C57ED77-C2C9-9ECE-4955-F0D1E9DFD412}"/>
                  </a:ext>
                </a:extLst>
              </p:cNvPr>
              <p:cNvSpPr>
                <a:spLocks noChangeArrowheads="1"/>
              </p:cNvSpPr>
              <p:nvPr/>
            </p:nvSpPr>
            <p:spPr bwMode="auto">
              <a:xfrm>
                <a:off x="356879" y="1829871"/>
                <a:ext cx="11671835" cy="60016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eaLnBrk="0" fontAlgn="base" hangingPunct="0">
                  <a:spcBef>
                    <a:spcPct val="0"/>
                  </a:spcBef>
                  <a:spcAft>
                    <a:spcPct val="0"/>
                  </a:spcAft>
                </a:pPr>
                <a:r>
                  <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shows how much each </a:t>
                </a:r>
                <a:r>
                  <a:rPr kumimoji="0" lang="zh-CN" altLang="zh-CN" sz="1800" b="1"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pixel</a:t>
                </a:r>
                <a:r>
                  <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cares about each </a:t>
                </a:r>
                <a:r>
                  <a:rPr kumimoji="0" lang="zh-CN" altLang="zh-CN" sz="1800" b="1"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text token</a:t>
                </a:r>
                <a:r>
                  <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Because of this, </a:t>
                </a:r>
                <a14:m>
                  <m:oMath xmlns:m="http://schemas.openxmlformats.org/officeDocument/2006/math">
                    <m:r>
                      <a:rPr lang="en-US" altLang="zh-CN" b="0" i="1" dirty="0">
                        <a:latin typeface="Cambria Math" panose="02040503050406030204" pitchFamily="18" charset="0"/>
                        <a:ea typeface="Google Sans Text"/>
                        <a:cs typeface="Times New Roman" panose="02020603050405020304" pitchFamily="18" charset="0"/>
                      </a:rPr>
                      <m:t>𝑀</m:t>
                    </m:r>
                  </m:oMath>
                </a14:m>
                <a:r>
                  <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directly decides the </a:t>
                </a:r>
                <a:r>
                  <a:rPr kumimoji="0" lang="zh-CN" altLang="zh-CN" sz="1800" b="1"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layout</a:t>
                </a:r>
                <a:r>
                  <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zh-CN" altLang="zh-CN" sz="1800" b="1"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structure</a:t>
                </a:r>
                <a:r>
                  <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the image.</a:t>
                </a:r>
              </a:p>
            </p:txBody>
          </p:sp>
        </mc:Choice>
        <mc:Fallback xmlns="">
          <p:sp>
            <p:nvSpPr>
              <p:cNvPr id="28" name="Rectangle 2">
                <a:extLst>
                  <a:ext uri="{FF2B5EF4-FFF2-40B4-BE49-F238E27FC236}">
                    <a16:creationId xmlns:a16="http://schemas.microsoft.com/office/drawing/2014/main" id="{3C57ED77-C2C9-9ECE-4955-F0D1E9DFD412}"/>
                  </a:ext>
                </a:extLst>
              </p:cNvPr>
              <p:cNvSpPr>
                <a:spLocks noRot="1" noChangeAspect="1" noMove="1" noResize="1" noEditPoints="1" noAdjustHandles="1" noChangeArrowheads="1" noChangeShapeType="1" noTextEdit="1"/>
              </p:cNvSpPr>
              <p:nvPr/>
            </p:nvSpPr>
            <p:spPr bwMode="auto">
              <a:xfrm>
                <a:off x="356879" y="1829871"/>
                <a:ext cx="11671835" cy="600164"/>
              </a:xfrm>
              <a:prstGeom prst="rect">
                <a:avLst/>
              </a:prstGeom>
              <a:blipFill>
                <a:blip r:embed="rId11"/>
                <a:stretch>
                  <a:fillRect l="-470" t="-12121" b="-1515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864CAD2A-FB80-9F00-04AB-FF58D68F3E01}"/>
                  </a:ext>
                </a:extLst>
              </p:cNvPr>
              <p:cNvSpPr txBox="1"/>
              <p:nvPr/>
            </p:nvSpPr>
            <p:spPr>
              <a:xfrm>
                <a:off x="562814" y="1443855"/>
                <a:ext cx="6096000" cy="369332"/>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1"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Attention Ma</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Google Sans Text"/>
                    <a:cs typeface="Times New Roman" panose="02020603050405020304" pitchFamily="18" charset="0"/>
                  </a:rPr>
                  <a:t>ps</a:t>
                </a:r>
                <a:r>
                  <a:rPr kumimoji="0" lang="zh-CN" altLang="zh-CN" sz="1800" b="1"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a:t>
                </a:r>
                <a14:m>
                  <m:oMath xmlns:m="http://schemas.openxmlformats.org/officeDocument/2006/math">
                    <m:r>
                      <a:rPr kumimoji="0" lang="en-US" altLang="zh-CN" sz="1800" b="1" i="1" u="none" strike="noStrike" cap="none" normalizeH="0" baseline="0" dirty="0" smtClean="0">
                        <a:ln>
                          <a:noFill/>
                        </a:ln>
                        <a:solidFill>
                          <a:schemeClr val="tx1"/>
                        </a:solidFill>
                        <a:effectLst/>
                        <a:latin typeface="Cambria Math" panose="02040503050406030204" pitchFamily="18" charset="0"/>
                        <a:ea typeface="Google Sans Text"/>
                        <a:cs typeface="Times New Roman" panose="02020603050405020304" pitchFamily="18" charset="0"/>
                      </a:rPr>
                      <m:t>𝑴</m:t>
                    </m:r>
                    <m:r>
                      <a:rPr kumimoji="0" lang="en-US" altLang="zh-CN" sz="1800" b="0" i="0" u="none" strike="noStrike" cap="none" normalizeH="0" baseline="0" dirty="0" smtClean="0">
                        <a:ln>
                          <a:noFill/>
                        </a:ln>
                        <a:solidFill>
                          <a:schemeClr val="tx1"/>
                        </a:solidFill>
                        <a:effectLst/>
                        <a:latin typeface="Cambria Math" panose="02040503050406030204" pitchFamily="18" charset="0"/>
                        <a:ea typeface="Google Sans Text"/>
                        <a:cs typeface="Times New Roman" panose="02020603050405020304" pitchFamily="18" charset="0"/>
                      </a:rPr>
                      <m:t>:</m:t>
                    </m:r>
                  </m:oMath>
                </a14:m>
                <a:endParaRPr kumimoji="0" lang="en-US"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30" name="文本框 29">
                <a:extLst>
                  <a:ext uri="{FF2B5EF4-FFF2-40B4-BE49-F238E27FC236}">
                    <a16:creationId xmlns:a16="http://schemas.microsoft.com/office/drawing/2014/main" id="{864CAD2A-FB80-9F00-04AB-FF58D68F3E01}"/>
                  </a:ext>
                </a:extLst>
              </p:cNvPr>
              <p:cNvSpPr txBox="1">
                <a:spLocks noRot="1" noChangeAspect="1" noMove="1" noResize="1" noEditPoints="1" noAdjustHandles="1" noChangeArrowheads="1" noChangeShapeType="1" noTextEdit="1"/>
              </p:cNvSpPr>
              <p:nvPr/>
            </p:nvSpPr>
            <p:spPr>
              <a:xfrm>
                <a:off x="562814" y="1443855"/>
                <a:ext cx="6096000" cy="369332"/>
              </a:xfrm>
              <a:prstGeom prst="rect">
                <a:avLst/>
              </a:prstGeom>
              <a:blipFill>
                <a:blip r:embed="rId12"/>
                <a:stretch>
                  <a:fillRect l="-600"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Rectangle 4">
                <a:extLst>
                  <a:ext uri="{FF2B5EF4-FFF2-40B4-BE49-F238E27FC236}">
                    <a16:creationId xmlns:a16="http://schemas.microsoft.com/office/drawing/2014/main" id="{8A0EBA92-37A0-2526-DCCE-B68B05441FF2}"/>
                  </a:ext>
                </a:extLst>
              </p:cNvPr>
              <p:cNvSpPr>
                <a:spLocks noChangeArrowheads="1"/>
              </p:cNvSpPr>
              <p:nvPr/>
            </p:nvSpPr>
            <p:spPr bwMode="auto">
              <a:xfrm>
                <a:off x="370072" y="6088823"/>
                <a:ext cx="11658641" cy="60016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eaLnBrk="0" fontAlgn="base" hangingPunct="0">
                  <a:spcBef>
                    <a:spcPct val="0"/>
                  </a:spcBef>
                  <a:spcAft>
                    <a:spcPct val="0"/>
                  </a:spcAft>
                </a:pPr>
                <a:r>
                  <a:rPr kumimoji="0" lang="zh-CN" altLang="zh-CN"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Cross-Attention </a:t>
                </a:r>
                <a:r>
                  <a:rPr lang="zh-CN" altLang="zh-CN" i="1" dirty="0">
                    <a:latin typeface="Times New Roman" panose="02020603050405020304" pitchFamily="18" charset="0"/>
                    <a:cs typeface="Times New Roman" panose="02020603050405020304" pitchFamily="18" charset="0"/>
                  </a:rPr>
                  <a:t>output</a:t>
                </a:r>
                <a:r>
                  <a:rPr lang="en-US" altLang="zh-CN" i="1" dirty="0">
                    <a:latin typeface="Times New Roman" panose="02020603050405020304" pitchFamily="18" charset="0"/>
                    <a:cs typeface="Times New Roman" panose="02020603050405020304" pitchFamily="18" charset="0"/>
                  </a:rPr>
                  <a:t>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𝑀𝑉</m:t>
                    </m:r>
                  </m:oMath>
                </a14:m>
                <a:r>
                  <a:rPr kumimoji="0" lang="en-US" altLang="zh-CN"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 a </a:t>
                </a:r>
                <a:r>
                  <a:rPr kumimoji="0" lang="zh-CN" altLang="zh-CN" sz="1800" b="1" i="1"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weighted average</a:t>
                </a:r>
                <a:r>
                  <a:rPr kumimoji="0" lang="zh-CN" altLang="zh-CN"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the text information </a:t>
                </a:r>
                <a14:m>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Google Sans Text"/>
                        <a:cs typeface="Times New Roman" panose="02020603050405020304" pitchFamily="18" charset="0"/>
                      </a:rPr>
                      <m:t>𝑉</m:t>
                    </m:r>
                  </m:oMath>
                </a14:m>
                <a:r>
                  <a:rPr kumimoji="0" lang="zh-CN" altLang="zh-CN"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t>
                </a:r>
                <a14:m>
                  <m:oMath xmlns:m="http://schemas.openxmlformats.org/officeDocument/2006/math">
                    <m:r>
                      <a:rPr kumimoji="0" lang="en-US" altLang="zh-CN" sz="1800"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𝑀</m:t>
                    </m:r>
                  </m:oMath>
                </a14:m>
                <a:r>
                  <a:rPr kumimoji="0" lang="en-US" altLang="zh-CN"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 the </a:t>
                </a:r>
                <a:r>
                  <a:rPr kumimoji="0" lang="zh-CN" altLang="zh-CN" sz="1800" b="1" i="1"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weights</a:t>
                </a:r>
                <a:r>
                  <a:rPr kumimoji="0" lang="zh-CN" altLang="zh-CN"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you control </a:t>
                </a:r>
                <a14:m>
                  <m:oMath xmlns:m="http://schemas.openxmlformats.org/officeDocument/2006/math">
                    <m:r>
                      <a:rPr lang="en-US" altLang="zh-CN" i="1">
                        <a:latin typeface="Cambria Math" panose="02040503050406030204" pitchFamily="18" charset="0"/>
                        <a:cs typeface="Times New Roman" panose="02020603050405020304" pitchFamily="18" charset="0"/>
                      </a:rPr>
                      <m:t>𝑀</m:t>
                    </m:r>
                  </m:oMath>
                </a14:m>
                <a:r>
                  <a:rPr kumimoji="0" lang="zh-CN" altLang="zh-CN"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you control the </a:t>
                </a:r>
                <a:r>
                  <a:rPr kumimoji="0" lang="zh-CN" altLang="zh-CN" sz="1800" b="1" i="1"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skeleton</a:t>
                </a:r>
                <a:r>
                  <a:rPr kumimoji="0" lang="zh-CN" altLang="zh-CN"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the generated image.</a:t>
                </a:r>
              </a:p>
            </p:txBody>
          </p:sp>
        </mc:Choice>
        <mc:Fallback xmlns="">
          <p:sp>
            <p:nvSpPr>
              <p:cNvPr id="35" name="Rectangle 4">
                <a:extLst>
                  <a:ext uri="{FF2B5EF4-FFF2-40B4-BE49-F238E27FC236}">
                    <a16:creationId xmlns:a16="http://schemas.microsoft.com/office/drawing/2014/main" id="{8A0EBA92-37A0-2526-DCCE-B68B05441FF2}"/>
                  </a:ext>
                </a:extLst>
              </p:cNvPr>
              <p:cNvSpPr>
                <a:spLocks noRot="1" noChangeAspect="1" noMove="1" noResize="1" noEditPoints="1" noAdjustHandles="1" noChangeArrowheads="1" noChangeShapeType="1" noTextEdit="1"/>
              </p:cNvSpPr>
              <p:nvPr/>
            </p:nvSpPr>
            <p:spPr bwMode="auto">
              <a:xfrm>
                <a:off x="370072" y="6088823"/>
                <a:ext cx="11658641" cy="600164"/>
              </a:xfrm>
              <a:prstGeom prst="rect">
                <a:avLst/>
              </a:prstGeom>
              <a:blipFill>
                <a:blip r:embed="rId13"/>
                <a:stretch>
                  <a:fillRect l="-471" t="-13265" b="-1632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7" name="文本框 36">
            <a:extLst>
              <a:ext uri="{FF2B5EF4-FFF2-40B4-BE49-F238E27FC236}">
                <a16:creationId xmlns:a16="http://schemas.microsoft.com/office/drawing/2014/main" id="{8849CE0F-5F73-6CFB-C90B-01F34A0067AA}"/>
              </a:ext>
            </a:extLst>
          </p:cNvPr>
          <p:cNvSpPr txBox="1"/>
          <p:nvPr/>
        </p:nvSpPr>
        <p:spPr>
          <a:xfrm>
            <a:off x="596102" y="5719491"/>
            <a:ext cx="6096000" cy="369332"/>
          </a:xfrm>
          <a:prstGeom prst="rect">
            <a:avLst/>
          </a:prstGeom>
          <a:noFill/>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kumimoji="0" lang="en-US" altLang="zh-CN" sz="18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endParaRPr lang="en-US" altLang="zh-CN" dirty="0">
              <a:latin typeface="Times New Roman" panose="02020603050405020304" pitchFamily="18" charset="0"/>
              <a:cs typeface="Times New Roman" panose="02020603050405020304" pitchFamily="18" charset="0"/>
            </a:endParaRPr>
          </a:p>
        </p:txBody>
      </p:sp>
      <p:sp>
        <p:nvSpPr>
          <p:cNvPr id="38" name="矩形 37">
            <a:extLst>
              <a:ext uri="{FF2B5EF4-FFF2-40B4-BE49-F238E27FC236}">
                <a16:creationId xmlns:a16="http://schemas.microsoft.com/office/drawing/2014/main" id="{01A0E4E8-EBDA-C45E-42ED-CE73C6513CF0}"/>
              </a:ext>
            </a:extLst>
          </p:cNvPr>
          <p:cNvSpPr/>
          <p:nvPr/>
        </p:nvSpPr>
        <p:spPr>
          <a:xfrm>
            <a:off x="3614057" y="4330065"/>
            <a:ext cx="870857" cy="181055"/>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915874C0-530B-9281-AC79-A4963604D294}"/>
              </a:ext>
            </a:extLst>
          </p:cNvPr>
          <p:cNvSpPr/>
          <p:nvPr/>
        </p:nvSpPr>
        <p:spPr>
          <a:xfrm>
            <a:off x="4688477" y="4330065"/>
            <a:ext cx="896983" cy="342900"/>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77DCEB41-D3FA-05F6-81C6-0184B1CFC715}"/>
              </a:ext>
            </a:extLst>
          </p:cNvPr>
          <p:cNvSpPr/>
          <p:nvPr/>
        </p:nvSpPr>
        <p:spPr>
          <a:xfrm>
            <a:off x="7329646" y="4339670"/>
            <a:ext cx="896983" cy="342900"/>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27566689-2167-1EF7-1EFD-FDA4CAB26E35}"/>
              </a:ext>
            </a:extLst>
          </p:cNvPr>
          <p:cNvSpPr>
            <a:spLocks noGrp="1"/>
          </p:cNvSpPr>
          <p:nvPr>
            <p:ph type="sldNum" sz="quarter" idx="12"/>
          </p:nvPr>
        </p:nvSpPr>
        <p:spPr/>
        <p:txBody>
          <a:bodyPr/>
          <a:lstStyle/>
          <a:p>
            <a:fld id="{E6518835-16E6-9244-9C02-6BFB876E5D3C}" type="slidenum">
              <a:rPr kumimoji="1" lang="zh-CN" altLang="en-US" smtClean="0"/>
              <a:t>15</a:t>
            </a:fld>
            <a:endParaRPr kumimoji="1" lang="zh-CN" altLang="en-US"/>
          </a:p>
        </p:txBody>
      </p:sp>
    </p:spTree>
    <p:extLst>
      <p:ext uri="{BB962C8B-B14F-4D97-AF65-F5344CB8AC3E}">
        <p14:creationId xmlns:p14="http://schemas.microsoft.com/office/powerpoint/2010/main" val="2194360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9EE73-CF0E-64BF-B154-60A85599B08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E2FC0283-7AD7-F9AB-75DC-3D6B4AED70B1}"/>
              </a:ext>
            </a:extLst>
          </p:cNvPr>
          <p:cNvSpPr/>
          <p:nvPr/>
        </p:nvSpPr>
        <p:spPr>
          <a:xfrm>
            <a:off x="-1" y="0"/>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9D8A88D7-DB05-023A-E195-463A29B0323A}"/>
              </a:ext>
            </a:extLst>
          </p:cNvPr>
          <p:cNvSpPr/>
          <p:nvPr/>
        </p:nvSpPr>
        <p:spPr>
          <a:xfrm>
            <a:off x="811930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6F41574D-2973-CDCA-3114-6F1C3B55A974}"/>
              </a:ext>
            </a:extLst>
          </p:cNvPr>
          <p:cNvSpPr txBox="1"/>
          <p:nvPr/>
        </p:nvSpPr>
        <p:spPr>
          <a:xfrm>
            <a:off x="8648668" y="186379"/>
            <a:ext cx="829073" cy="461665"/>
          </a:xfrm>
          <a:prstGeom prst="rect">
            <a:avLst/>
          </a:prstGeom>
          <a:noFill/>
        </p:spPr>
        <p:txBody>
          <a:bodyPr vert="horz" wrap="none" rtlCol="0">
            <a:spAutoFit/>
          </a:bodyPr>
          <a:lstStyle/>
          <a:p>
            <a:pPr algn="ctr"/>
            <a:r>
              <a:rPr kumimoji="1" lang="en-US" altLang="zh-CN" sz="2400" b="1" spc="300" dirty="0">
                <a:solidFill>
                  <a:schemeClr val="accent1"/>
                </a:solidFill>
                <a:latin typeface="Times New Roman" panose="02020603050405020304" pitchFamily="18" charset="0"/>
                <a:cs typeface="Times New Roman" panose="02020603050405020304" pitchFamily="18" charset="0"/>
              </a:rPr>
              <a:t>P2P</a:t>
            </a:r>
            <a:endParaRPr kumimoji="1" lang="zh-CN" altLang="en-US" sz="2000" b="1" spc="300" dirty="0">
              <a:solidFill>
                <a:schemeClr val="accent1"/>
              </a:solidFill>
              <a:latin typeface="Times New Roman" panose="02020603050405020304" pitchFamily="18" charset="0"/>
              <a:cs typeface="Times New Roman" panose="02020603050405020304" pitchFamily="18" charset="0"/>
            </a:endParaRPr>
          </a:p>
        </p:txBody>
      </p:sp>
      <p:grpSp>
        <p:nvGrpSpPr>
          <p:cNvPr id="31" name="组合 30">
            <a:extLst>
              <a:ext uri="{FF2B5EF4-FFF2-40B4-BE49-F238E27FC236}">
                <a16:creationId xmlns:a16="http://schemas.microsoft.com/office/drawing/2014/main" id="{93D20621-39C0-1F2C-EE1D-2C96F0F703AE}"/>
              </a:ext>
            </a:extLst>
          </p:cNvPr>
          <p:cNvGrpSpPr/>
          <p:nvPr/>
        </p:nvGrpSpPr>
        <p:grpSpPr>
          <a:xfrm>
            <a:off x="370072" y="219176"/>
            <a:ext cx="2150839" cy="449040"/>
            <a:chOff x="2085654" y="644950"/>
            <a:chExt cx="7772400" cy="1622679"/>
          </a:xfrm>
        </p:grpSpPr>
        <p:pic>
          <p:nvPicPr>
            <p:cNvPr id="32" name="图片 31">
              <a:extLst>
                <a:ext uri="{FF2B5EF4-FFF2-40B4-BE49-F238E27FC236}">
                  <a16:creationId xmlns:a16="http://schemas.microsoft.com/office/drawing/2014/main" id="{D2142D87-2789-17C4-12EE-154C9EC0FF86}"/>
                </a:ext>
              </a:extLst>
            </p:cNvPr>
            <p:cNvPicPr>
              <a:picLocks noChangeAspect="1"/>
            </p:cNvPicPr>
            <p:nvPr/>
          </p:nvPicPr>
          <p:blipFill rotWithShape="1">
            <a:blip r:embed="rId5"/>
            <a:srcRect r="78982"/>
            <a:stretch/>
          </p:blipFill>
          <p:spPr>
            <a:xfrm>
              <a:off x="2085654" y="644950"/>
              <a:ext cx="1633591" cy="1622679"/>
            </a:xfrm>
            <a:prstGeom prst="rect">
              <a:avLst/>
            </a:prstGeom>
          </p:spPr>
        </p:pic>
        <p:pic>
          <p:nvPicPr>
            <p:cNvPr id="33" name="图片 32">
              <a:extLst>
                <a:ext uri="{FF2B5EF4-FFF2-40B4-BE49-F238E27FC236}">
                  <a16:creationId xmlns:a16="http://schemas.microsoft.com/office/drawing/2014/main" id="{E8A4B93F-7D64-8CEA-97A0-BAD14ACDF1DC}"/>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9" name="文本框 8">
            <a:extLst>
              <a:ext uri="{FF2B5EF4-FFF2-40B4-BE49-F238E27FC236}">
                <a16:creationId xmlns:a16="http://schemas.microsoft.com/office/drawing/2014/main" id="{CFACC5B5-9940-1DA9-A05D-CB33E14B8FB1}"/>
              </a:ext>
            </a:extLst>
          </p:cNvPr>
          <p:cNvSpPr txBox="1"/>
          <p:nvPr/>
        </p:nvSpPr>
        <p:spPr>
          <a:xfrm>
            <a:off x="370072" y="888923"/>
            <a:ext cx="11189916" cy="400110"/>
          </a:xfrm>
          <a:prstGeom prst="rect">
            <a:avLst/>
          </a:prstGeom>
          <a:noFill/>
        </p:spPr>
        <p:txBody>
          <a:bodyPr wrap="square">
            <a:spAutoFit/>
          </a:bodyPr>
          <a:lstStyle/>
          <a:p>
            <a:r>
              <a:rPr lang="en-US" altLang="zh-CN" sz="2000" b="1" dirty="0">
                <a:gradFill>
                  <a:gsLst>
                    <a:gs pos="0">
                      <a:schemeClr val="accent1"/>
                    </a:gs>
                    <a:gs pos="100000">
                      <a:schemeClr val="accent1">
                        <a:lumMod val="75000"/>
                      </a:schemeClr>
                    </a:gs>
                  </a:gsLst>
                  <a:lin ang="0" scaled="0"/>
                </a:gradFill>
                <a:effectLst>
                  <a:outerShdw blurRad="228600" dist="114300" dir="5400000" algn="t" rotWithShape="0">
                    <a:schemeClr val="accent1">
                      <a:alpha val="1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t>3. How P2P Works</a:t>
            </a:r>
          </a:p>
        </p:txBody>
      </p:sp>
      <p:cxnSp>
        <p:nvCxnSpPr>
          <p:cNvPr id="12" name="PA-直接连接符 17">
            <a:extLst>
              <a:ext uri="{FF2B5EF4-FFF2-40B4-BE49-F238E27FC236}">
                <a16:creationId xmlns:a16="http://schemas.microsoft.com/office/drawing/2014/main" id="{88286BC9-DA77-6B78-B3E0-814A628E3FF6}"/>
              </a:ext>
            </a:extLst>
          </p:cNvPr>
          <p:cNvCxnSpPr>
            <a:cxnSpLocks/>
          </p:cNvCxnSpPr>
          <p:nvPr>
            <p:custDataLst>
              <p:tags r:id="rId1"/>
            </p:custDataLst>
          </p:nvPr>
        </p:nvCxnSpPr>
        <p:spPr>
          <a:xfrm>
            <a:off x="1473017" y="1296158"/>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3" name="PA-直接连接符 17">
            <a:extLst>
              <a:ext uri="{FF2B5EF4-FFF2-40B4-BE49-F238E27FC236}">
                <a16:creationId xmlns:a16="http://schemas.microsoft.com/office/drawing/2014/main" id="{A39F810A-09A8-8B2F-5306-9AD75B10E63A}"/>
              </a:ext>
            </a:extLst>
          </p:cNvPr>
          <p:cNvCxnSpPr>
            <a:cxnSpLocks/>
          </p:cNvCxnSpPr>
          <p:nvPr>
            <p:custDataLst>
              <p:tags r:id="rId2"/>
            </p:custDataLst>
          </p:nvPr>
        </p:nvCxnSpPr>
        <p:spPr>
          <a:xfrm>
            <a:off x="472333" y="1296158"/>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17" name="文本框 16">
            <a:extLst>
              <a:ext uri="{FF2B5EF4-FFF2-40B4-BE49-F238E27FC236}">
                <a16:creationId xmlns:a16="http://schemas.microsoft.com/office/drawing/2014/main" id="{0AB76A98-7EA1-ADEE-D9F0-D88BB40B48F6}"/>
              </a:ext>
            </a:extLst>
          </p:cNvPr>
          <p:cNvSpPr txBox="1"/>
          <p:nvPr/>
        </p:nvSpPr>
        <p:spPr>
          <a:xfrm>
            <a:off x="228934" y="1349136"/>
            <a:ext cx="6096000" cy="369332"/>
          </a:xfrm>
          <a:prstGeom prst="rect">
            <a:avLst/>
          </a:prstGeom>
          <a:noFill/>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The Core Concept </a:t>
            </a:r>
            <a:endParaRPr lang="zh-CN" altLang="en-US" b="1" dirty="0">
              <a:latin typeface="Times New Roman" panose="02020603050405020304" pitchFamily="18" charset="0"/>
              <a:cs typeface="Times New Roman" panose="02020603050405020304" pitchFamily="18" charset="0"/>
            </a:endParaRPr>
          </a:p>
        </p:txBody>
      </p:sp>
      <p:pic>
        <p:nvPicPr>
          <p:cNvPr id="19" name="图片 18">
            <a:extLst>
              <a:ext uri="{FF2B5EF4-FFF2-40B4-BE49-F238E27FC236}">
                <a16:creationId xmlns:a16="http://schemas.microsoft.com/office/drawing/2014/main" id="{9B4868DE-DDAF-5A90-703D-31399447E729}"/>
              </a:ext>
            </a:extLst>
          </p:cNvPr>
          <p:cNvPicPr>
            <a:picLocks noChangeAspect="1"/>
          </p:cNvPicPr>
          <p:nvPr/>
        </p:nvPicPr>
        <p:blipFill>
          <a:blip r:embed="rId8"/>
          <a:srcRect r="33006"/>
          <a:stretch>
            <a:fillRect/>
          </a:stretch>
        </p:blipFill>
        <p:spPr>
          <a:xfrm>
            <a:off x="472333" y="3593957"/>
            <a:ext cx="4528499" cy="2293005"/>
          </a:xfrm>
          <a:prstGeom prst="rect">
            <a:avLst/>
          </a:prstGeom>
        </p:spPr>
      </p:pic>
      <p:sp>
        <p:nvSpPr>
          <p:cNvPr id="21" name="文本框 20">
            <a:extLst>
              <a:ext uri="{FF2B5EF4-FFF2-40B4-BE49-F238E27FC236}">
                <a16:creationId xmlns:a16="http://schemas.microsoft.com/office/drawing/2014/main" id="{BA475A3D-9A5F-2047-CF87-ECCD5B6222DC}"/>
              </a:ext>
            </a:extLst>
          </p:cNvPr>
          <p:cNvSpPr txBox="1"/>
          <p:nvPr/>
        </p:nvSpPr>
        <p:spPr>
          <a:xfrm>
            <a:off x="416812" y="1686173"/>
            <a:ext cx="11546254" cy="1200329"/>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We "</a:t>
            </a:r>
            <a:r>
              <a:rPr lang="en-US" altLang="zh-CN" b="1" dirty="0">
                <a:latin typeface="Times New Roman" panose="02020603050405020304" pitchFamily="18" charset="0"/>
                <a:cs typeface="Times New Roman" panose="02020603050405020304" pitchFamily="18" charset="0"/>
              </a:rPr>
              <a:t>save</a:t>
            </a:r>
            <a:r>
              <a:rPr lang="en-US" altLang="zh-CN" dirty="0">
                <a:latin typeface="Times New Roman" panose="02020603050405020304" pitchFamily="18" charset="0"/>
                <a:cs typeface="Times New Roman" panose="02020603050405020304" pitchFamily="18" charset="0"/>
              </a:rPr>
              <a:t>" the attention maps from the original image generation process, and then "</a:t>
            </a:r>
            <a:r>
              <a:rPr lang="en-US" altLang="zh-CN" b="1" dirty="0">
                <a:latin typeface="Times New Roman" panose="02020603050405020304" pitchFamily="18" charset="0"/>
                <a:cs typeface="Times New Roman" panose="02020603050405020304" pitchFamily="18" charset="0"/>
              </a:rPr>
              <a:t>inject</a:t>
            </a:r>
            <a:r>
              <a:rPr lang="en-US" altLang="zh-CN" dirty="0">
                <a:latin typeface="Times New Roman" panose="02020603050405020304" pitchFamily="18" charset="0"/>
                <a:cs typeface="Times New Roman" panose="02020603050405020304" pitchFamily="18" charset="0"/>
              </a:rPr>
              <a:t>" them into the generation process of the new image, so that the new image </a:t>
            </a:r>
            <a:r>
              <a:rPr lang="en-US" altLang="zh-CN" b="1" dirty="0">
                <a:latin typeface="Times New Roman" panose="02020603050405020304" pitchFamily="18" charset="0"/>
                <a:cs typeface="Times New Roman" panose="02020603050405020304" pitchFamily="18" charset="0"/>
              </a:rPr>
              <a:t>inherits the spatial layout of the original image, but with the semantics of the new prompt</a:t>
            </a:r>
            <a:r>
              <a:rPr lang="en-US" altLang="zh-CN" dirty="0">
                <a:latin typeface="Times New Roman" panose="02020603050405020304" pitchFamily="18" charset="0"/>
                <a:cs typeface="Times New Roman" panose="02020603050405020304" pitchFamily="18" charset="0"/>
              </a:rPr>
              <a:t>. It is like telling the model: ‘Please draw a new picture with new words, but use the original layout for every object.’</a:t>
            </a:r>
          </a:p>
        </p:txBody>
      </p:sp>
      <p:sp>
        <p:nvSpPr>
          <p:cNvPr id="22" name="文本框 21">
            <a:extLst>
              <a:ext uri="{FF2B5EF4-FFF2-40B4-BE49-F238E27FC236}">
                <a16:creationId xmlns:a16="http://schemas.microsoft.com/office/drawing/2014/main" id="{F44EFF88-E1CF-1CD3-8541-D17AD90EC602}"/>
              </a:ext>
            </a:extLst>
          </p:cNvPr>
          <p:cNvSpPr txBox="1"/>
          <p:nvPr/>
        </p:nvSpPr>
        <p:spPr>
          <a:xfrm>
            <a:off x="228934" y="3219465"/>
            <a:ext cx="6096000" cy="369332"/>
          </a:xfrm>
          <a:prstGeom prst="rect">
            <a:avLst/>
          </a:prstGeom>
          <a:noFill/>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General Algorithm</a:t>
            </a:r>
            <a:endParaRPr lang="zh-CN" altLang="en-US" b="1"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824DEDF9-5700-3151-F36A-85BE0761D37A}"/>
              </a:ext>
            </a:extLst>
          </p:cNvPr>
          <p:cNvSpPr txBox="1"/>
          <p:nvPr/>
        </p:nvSpPr>
        <p:spPr>
          <a:xfrm>
            <a:off x="5419032" y="2853879"/>
            <a:ext cx="6544034" cy="646331"/>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The method runs two processes for both prompts simultaneously: one for the Source image, one for the Target image. </a:t>
            </a:r>
          </a:p>
        </p:txBody>
      </p:sp>
      <mc:AlternateContent xmlns:mc="http://schemas.openxmlformats.org/markup-compatibility/2006" xmlns:a14="http://schemas.microsoft.com/office/drawing/2010/main">
        <mc:Choice Requires="a14">
          <p:sp>
            <p:nvSpPr>
              <p:cNvPr id="25" name="Rectangle 1">
                <a:extLst>
                  <a:ext uri="{FF2B5EF4-FFF2-40B4-BE49-F238E27FC236}">
                    <a16:creationId xmlns:a16="http://schemas.microsoft.com/office/drawing/2014/main" id="{A0B99F5E-9241-85DB-C3B5-E8AC5704A5DE}"/>
                  </a:ext>
                </a:extLst>
              </p:cNvPr>
              <p:cNvSpPr>
                <a:spLocks noChangeArrowheads="1"/>
              </p:cNvSpPr>
              <p:nvPr/>
            </p:nvSpPr>
            <p:spPr bwMode="auto">
              <a:xfrm>
                <a:off x="5415130" y="4037753"/>
                <a:ext cx="6946340" cy="89255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lvl="0" indent="-285750" eaLnBrk="0" fontAlgn="base" hangingPunct="0">
                  <a:spcBef>
                    <a:spcPct val="0"/>
                  </a:spcBef>
                  <a:spcAft>
                    <a:spcPts val="600"/>
                  </a:spcAft>
                  <a:buFont typeface="Arial" panose="020B0604020202020204" pitchFamily="34" charset="0"/>
                  <a:buChar char="•"/>
                </a:pPr>
                <a:r>
                  <a:rPr kumimoji="0" lang="zh-CN" altLang="zh-CN" sz="1600" b="1"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Extract</a:t>
                </a:r>
                <a:r>
                  <a:rPr kumimoji="0" lang="zh-CN" altLang="zh-CN" sz="16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Save the Attention Map (</a:t>
                </a:r>
                <a14:m>
                  <m:oMath xmlns:m="http://schemas.openxmlformats.org/officeDocument/2006/math">
                    <m:sSub>
                      <m:sSubPr>
                        <m:ctrlPr>
                          <a:rPr lang="en-US" altLang="zh-CN" sz="1600" i="1" dirty="0" smtClean="0">
                            <a:latin typeface="Cambria Math" panose="02040503050406030204" pitchFamily="18" charset="0"/>
                            <a:cs typeface="Times New Roman" panose="02020603050405020304" pitchFamily="18" charset="0"/>
                          </a:rPr>
                        </m:ctrlPr>
                      </m:sSubPr>
                      <m:e>
                        <m:r>
                          <a:rPr lang="en-US" altLang="zh-CN" sz="1600" i="1" dirty="0">
                            <a:latin typeface="Cambria Math" panose="02040503050406030204" pitchFamily="18" charset="0"/>
                            <a:cs typeface="Times New Roman" panose="02020603050405020304" pitchFamily="18" charset="0"/>
                          </a:rPr>
                          <m:t>𝑀</m:t>
                        </m:r>
                      </m:e>
                      <m:sub>
                        <m:r>
                          <a:rPr lang="en-US" altLang="zh-CN" sz="1600" b="0" i="1" dirty="0" smtClean="0">
                            <a:latin typeface="Cambria Math" panose="02040503050406030204" pitchFamily="18" charset="0"/>
                            <a:cs typeface="Times New Roman" panose="02020603050405020304" pitchFamily="18" charset="0"/>
                          </a:rPr>
                          <m:t>𝑡</m:t>
                        </m:r>
                      </m:sub>
                    </m:sSub>
                  </m:oMath>
                </a14:m>
                <a:r>
                  <a:rPr kumimoji="0" lang="zh-CN" altLang="zh-CN" sz="16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from the original branch as </a:t>
                </a:r>
                <a:r>
                  <a:rPr lang="en-US" altLang="zh-CN" sz="1600" dirty="0">
                    <a:latin typeface="Times New Roman" panose="02020603050405020304" pitchFamily="18" charset="0"/>
                    <a:ea typeface="Google Sans Text"/>
                    <a:cs typeface="Times New Roman" panose="02020603050405020304" pitchFamily="18" charset="0"/>
                  </a:rPr>
                  <a:t>spatial layout reference and is passed to a core function called </a:t>
                </a:r>
                <a:r>
                  <a:rPr lang="en-US" altLang="zh-CN" sz="1600" i="1" dirty="0">
                    <a:latin typeface="Times New Roman" panose="02020603050405020304" pitchFamily="18" charset="0"/>
                    <a:ea typeface="Google Sans Text"/>
                    <a:cs typeface="Times New Roman" panose="02020603050405020304" pitchFamily="18" charset="0"/>
                  </a:rPr>
                  <a:t>Edit</a:t>
                </a:r>
                <a:r>
                  <a:rPr lang="en-US" altLang="zh-CN" sz="1600" dirty="0">
                    <a:latin typeface="Times New Roman" panose="02020603050405020304" pitchFamily="18" charset="0"/>
                    <a:ea typeface="Google Sans Text"/>
                    <a:cs typeface="Times New Roman" panose="02020603050405020304" pitchFamily="18" charset="0"/>
                  </a:rPr>
                  <a:t>().</a:t>
                </a:r>
                <a:endParaRPr kumimoji="0" lang="zh-CN" altLang="zh-CN" sz="16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sz="1600" b="1"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Inject</a:t>
                </a:r>
                <a:r>
                  <a:rPr kumimoji="0" lang="zh-CN" altLang="zh-CN" sz="1600" b="0" i="0" u="none" strike="noStrike" cap="none" normalizeH="0" baseline="0" dirty="0">
                    <a:ln>
                      <a:noFill/>
                    </a:ln>
                    <a:solidFill>
                      <a:schemeClr val="tx1"/>
                    </a:solidFill>
                    <a:effectLst/>
                    <a:latin typeface="Times New Roman" panose="02020603050405020304" pitchFamily="18" charset="0"/>
                    <a:ea typeface="Google Sans Text"/>
                    <a:cs typeface="Times New Roman" panose="02020603050405020304" pitchFamily="18" charset="0"/>
                  </a:rPr>
                  <a:t>: Replace the new image's map with the original </a:t>
                </a:r>
                <a14:m>
                  <m:oMath xmlns:m="http://schemas.openxmlformats.org/officeDocument/2006/math">
                    <m:sSub>
                      <m:sSubPr>
                        <m:ctrlPr>
                          <a:rPr lang="en-US" altLang="zh-CN" sz="1600" i="1" dirty="0" smtClean="0">
                            <a:latin typeface="Cambria Math" panose="02040503050406030204" pitchFamily="18" charset="0"/>
                            <a:cs typeface="Times New Roman" panose="02020603050405020304" pitchFamily="18" charset="0"/>
                          </a:rPr>
                        </m:ctrlPr>
                      </m:sSubPr>
                      <m:e>
                        <m:r>
                          <a:rPr lang="en-US" altLang="zh-CN" sz="1600" i="1" dirty="0">
                            <a:latin typeface="Cambria Math" panose="02040503050406030204" pitchFamily="18" charset="0"/>
                            <a:cs typeface="Times New Roman" panose="02020603050405020304" pitchFamily="18" charset="0"/>
                          </a:rPr>
                          <m:t>𝑀</m:t>
                        </m:r>
                      </m:e>
                      <m:sub>
                        <m:r>
                          <a:rPr lang="en-US" altLang="zh-CN" sz="1600" b="0" i="1" dirty="0" smtClean="0">
                            <a:latin typeface="Cambria Math" panose="02040503050406030204" pitchFamily="18" charset="0"/>
                            <a:cs typeface="Times New Roman" panose="02020603050405020304" pitchFamily="18" charset="0"/>
                          </a:rPr>
                          <m:t>𝑡</m:t>
                        </m:r>
                      </m:sub>
                    </m:sSub>
                  </m:oMath>
                </a14:m>
                <a:r>
                  <a:rPr kumimoji="0" lang="en-US"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25" name="Rectangle 1">
                <a:extLst>
                  <a:ext uri="{FF2B5EF4-FFF2-40B4-BE49-F238E27FC236}">
                    <a16:creationId xmlns:a16="http://schemas.microsoft.com/office/drawing/2014/main" id="{A0B99F5E-9241-85DB-C3B5-E8AC5704A5DE}"/>
                  </a:ext>
                </a:extLst>
              </p:cNvPr>
              <p:cNvSpPr>
                <a:spLocks noRot="1" noChangeAspect="1" noMove="1" noResize="1" noEditPoints="1" noAdjustHandles="1" noChangeArrowheads="1" noChangeShapeType="1" noTextEdit="1"/>
              </p:cNvSpPr>
              <p:nvPr/>
            </p:nvSpPr>
            <p:spPr bwMode="auto">
              <a:xfrm>
                <a:off x="5415130" y="4037753"/>
                <a:ext cx="6946340" cy="892552"/>
              </a:xfrm>
              <a:prstGeom prst="rect">
                <a:avLst/>
              </a:prstGeom>
              <a:blipFill>
                <a:blip r:embed="rId9"/>
                <a:stretch>
                  <a:fillRect l="-351" t="-4762" b="-680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7" name="文本框 26">
            <a:extLst>
              <a:ext uri="{FF2B5EF4-FFF2-40B4-BE49-F238E27FC236}">
                <a16:creationId xmlns:a16="http://schemas.microsoft.com/office/drawing/2014/main" id="{4A8EA02D-681E-7E07-0CD3-CA42E14EEEBE}"/>
              </a:ext>
            </a:extLst>
          </p:cNvPr>
          <p:cNvSpPr txBox="1"/>
          <p:nvPr/>
        </p:nvSpPr>
        <p:spPr>
          <a:xfrm>
            <a:off x="5415130" y="4928880"/>
            <a:ext cx="6467076" cy="584775"/>
          </a:xfrm>
          <a:prstGeom prst="rect">
            <a:avLst/>
          </a:prstGeom>
          <a:noFill/>
        </p:spPr>
        <p:txBody>
          <a:bodyPr wrap="square">
            <a:spAutoFit/>
          </a:bodyPr>
          <a:lstStyle/>
          <a:p>
            <a:pPr marL="285750" indent="-285750">
              <a:buFont typeface="Arial" panose="020B0604020202020204" pitchFamily="34" charset="0"/>
              <a:buChar char="•"/>
            </a:pPr>
            <a:r>
              <a:rPr lang="en-US" altLang="zh-CN" sz="1600" i="1" dirty="0">
                <a:latin typeface="Times New Roman" panose="02020603050405020304" pitchFamily="18" charset="0"/>
                <a:ea typeface="Google Sans Text"/>
                <a:cs typeface="Times New Roman" panose="02020603050405020304" pitchFamily="18" charset="0"/>
              </a:rPr>
              <a:t>Edit</a:t>
            </a:r>
            <a:r>
              <a:rPr lang="en-US" altLang="zh-CN" sz="1600" dirty="0">
                <a:latin typeface="Times New Roman" panose="02020603050405020304" pitchFamily="18" charset="0"/>
                <a:ea typeface="Google Sans Text"/>
                <a:cs typeface="Times New Roman" panose="02020603050405020304" pitchFamily="18" charset="0"/>
              </a:rPr>
              <a:t>(),</a:t>
            </a:r>
            <a:r>
              <a:rPr lang="en-US" altLang="zh-CN" sz="1600" i="1" dirty="0">
                <a:latin typeface="Times New Roman" panose="02020603050405020304" pitchFamily="18" charset="0"/>
                <a:ea typeface="Google Sans Text"/>
                <a:cs typeface="Times New Roman" panose="02020603050405020304" pitchFamily="18" charset="0"/>
              </a:rPr>
              <a:t> </a:t>
            </a:r>
            <a:r>
              <a:rPr lang="en-US" altLang="zh-CN" sz="1600" dirty="0">
                <a:latin typeface="Times New Roman" panose="02020603050405020304" pitchFamily="18" charset="0"/>
                <a:ea typeface="Google Sans Text"/>
                <a:cs typeface="Times New Roman" panose="02020603050405020304" pitchFamily="18" charset="0"/>
              </a:rPr>
              <a:t>a</a:t>
            </a:r>
            <a:r>
              <a:rPr lang="en-US" altLang="zh-CN" sz="1600" dirty="0">
                <a:latin typeface="Times New Roman" panose="02020603050405020304" pitchFamily="18" charset="0"/>
                <a:cs typeface="Times New Roman" panose="02020603050405020304" pitchFamily="18" charset="0"/>
              </a:rPr>
              <a:t> flexible function that chooses different injection strategies based on the edit type (Replace, Refine, or Re-weight).</a:t>
            </a:r>
            <a:endParaRPr lang="zh-CN" altLang="en-US"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96CBDE87-A9DA-AEBC-2C9D-D377EFC31DFF}"/>
                  </a:ext>
                </a:extLst>
              </p:cNvPr>
              <p:cNvSpPr txBox="1"/>
              <p:nvPr/>
            </p:nvSpPr>
            <p:spPr>
              <a:xfrm>
                <a:off x="5419032" y="3500210"/>
                <a:ext cx="6467076" cy="584775"/>
              </a:xfrm>
              <a:prstGeom prst="rect">
                <a:avLst/>
              </a:prstGeom>
              <a:noFill/>
            </p:spPr>
            <p:txBody>
              <a:bodyPr wrap="square">
                <a:spAutoFit/>
              </a:bodyPr>
              <a:lstStyle/>
              <a:p>
                <a:pPr marL="285750" lvl="1"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Both images start with the </a:t>
                </a:r>
                <a:r>
                  <a:rPr lang="en-US" altLang="zh-CN" sz="1600" b="1" dirty="0">
                    <a:latin typeface="Times New Roman" panose="02020603050405020304" pitchFamily="18" charset="0"/>
                    <a:cs typeface="Times New Roman" panose="02020603050405020304" pitchFamily="18" charset="0"/>
                  </a:rPr>
                  <a:t>same noise</a:t>
                </a:r>
                <a:r>
                  <a:rPr lang="en-US" altLang="zh-CN" sz="16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altLang="zh-CN" sz="1600" i="1">
                            <a:latin typeface="Cambria Math" panose="02040503050406030204" pitchFamily="18" charset="0"/>
                          </a:rPr>
                        </m:ctrlPr>
                      </m:sSubPr>
                      <m:e>
                        <m:r>
                          <a:rPr lang="zh-CN" altLang="ar-AE" sz="1600" i="1">
                            <a:latin typeface="Cambria Math" panose="02040503050406030204" pitchFamily="18" charset="0"/>
                          </a:rPr>
                          <m:t>𝑧</m:t>
                        </m:r>
                      </m:e>
                      <m:sub>
                        <m:r>
                          <a:rPr lang="zh-CN" altLang="ar-AE" sz="1600" i="1">
                            <a:latin typeface="Cambria Math" panose="02040503050406030204" pitchFamily="18" charset="0"/>
                          </a:rPr>
                          <m:t>𝑇</m:t>
                        </m:r>
                      </m:sub>
                    </m:sSub>
                    <m:r>
                      <a:rPr lang="zh-CN" altLang="ar-AE" sz="1600" i="1">
                        <a:latin typeface="Cambria Math" panose="02040503050406030204" pitchFamily="18" charset="0"/>
                      </a:rPr>
                      <m:t> </m:t>
                    </m:r>
                  </m:oMath>
                </a14:m>
                <a:r>
                  <a:rPr lang="en-US" altLang="zh-CN" sz="1600" dirty="0">
                    <a:latin typeface="Times New Roman" panose="02020603050405020304" pitchFamily="18" charset="0"/>
                    <a:cs typeface="Times New Roman" panose="02020603050405020304" pitchFamily="18" charset="0"/>
                  </a:rPr>
                  <a:t>to ensure a consistent “starting line.”</a:t>
                </a:r>
              </a:p>
            </p:txBody>
          </p:sp>
        </mc:Choice>
        <mc:Fallback xmlns="">
          <p:sp>
            <p:nvSpPr>
              <p:cNvPr id="29" name="文本框 28">
                <a:extLst>
                  <a:ext uri="{FF2B5EF4-FFF2-40B4-BE49-F238E27FC236}">
                    <a16:creationId xmlns:a16="http://schemas.microsoft.com/office/drawing/2014/main" id="{96CBDE87-A9DA-AEBC-2C9D-D377EFC31DFF}"/>
                  </a:ext>
                </a:extLst>
              </p:cNvPr>
              <p:cNvSpPr txBox="1">
                <a:spLocks noRot="1" noChangeAspect="1" noMove="1" noResize="1" noEditPoints="1" noAdjustHandles="1" noChangeArrowheads="1" noChangeShapeType="1" noTextEdit="1"/>
              </p:cNvSpPr>
              <p:nvPr/>
            </p:nvSpPr>
            <p:spPr>
              <a:xfrm>
                <a:off x="5419032" y="3500210"/>
                <a:ext cx="6467076" cy="584775"/>
              </a:xfrm>
              <a:prstGeom prst="rect">
                <a:avLst/>
              </a:prstGeom>
              <a:blipFill>
                <a:blip r:embed="rId10"/>
                <a:stretch>
                  <a:fillRect l="-377" t="-3125" r="-189" b="-12500"/>
                </a:stretch>
              </a:blipFill>
            </p:spPr>
            <p:txBody>
              <a:bodyPr/>
              <a:lstStyle/>
              <a:p>
                <a:r>
                  <a:rPr lang="zh-CN" altLang="en-US">
                    <a:noFill/>
                  </a:rPr>
                  <a:t> </a:t>
                </a:r>
              </a:p>
            </p:txBody>
          </p:sp>
        </mc:Fallback>
      </mc:AlternateContent>
      <p:sp>
        <p:nvSpPr>
          <p:cNvPr id="34" name="文本框 33">
            <a:extLst>
              <a:ext uri="{FF2B5EF4-FFF2-40B4-BE49-F238E27FC236}">
                <a16:creationId xmlns:a16="http://schemas.microsoft.com/office/drawing/2014/main" id="{22E2361B-59A4-0A06-ACAA-08FD598024B5}"/>
              </a:ext>
            </a:extLst>
          </p:cNvPr>
          <p:cNvSpPr txBox="1"/>
          <p:nvPr/>
        </p:nvSpPr>
        <p:spPr>
          <a:xfrm>
            <a:off x="5415130" y="6077445"/>
            <a:ext cx="6467076" cy="646331"/>
          </a:xfrm>
          <a:prstGeom prst="rect">
            <a:avLst/>
          </a:prstGeom>
          <a:noFill/>
        </p:spPr>
        <p:txBody>
          <a:bodyPr wrap="square">
            <a:spAutoFit/>
          </a:bodyPr>
          <a:lstStyle/>
          <a:p>
            <a:r>
              <a:rPr lang="en-US" altLang="zh-CN" sz="1800" b="0" i="0" kern="1200" dirty="0">
                <a:solidFill>
                  <a:schemeClr val="tx1"/>
                </a:solidFill>
                <a:effectLst/>
                <a:latin typeface="Times New Roman" panose="02020603050405020304" pitchFamily="18" charset="0"/>
                <a:cs typeface="Times New Roman" panose="02020603050405020304" pitchFamily="18" charset="0"/>
              </a:rPr>
              <a:t>Finally, the new image has the layout of the source, but the semantic content of the target prompt.</a:t>
            </a:r>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CBF6C897-76D4-6E68-DC85-57B31F438CF4}"/>
                  </a:ext>
                </a:extLst>
              </p:cNvPr>
              <p:cNvSpPr txBox="1"/>
              <p:nvPr/>
            </p:nvSpPr>
            <p:spPr>
              <a:xfrm>
                <a:off x="2324117" y="4542904"/>
                <a:ext cx="3094915" cy="246221"/>
              </a:xfrm>
              <a:prstGeom prst="rect">
                <a:avLst/>
              </a:prstGeom>
              <a:noFill/>
            </p:spPr>
            <p:txBody>
              <a:bodyPr wrap="square">
                <a:spAutoFit/>
              </a:bodyPr>
              <a:lstStyle/>
              <a:p>
                <a:r>
                  <a:rPr lang="en-US" altLang="zh-CN" sz="1000" dirty="0">
                    <a:solidFill>
                      <a:schemeClr val="accent1"/>
                    </a:solidFill>
                    <a:latin typeface="Times New Roman" panose="02020603050405020304" pitchFamily="18" charset="0"/>
                    <a:cs typeface="Times New Roman" panose="02020603050405020304" pitchFamily="18" charset="0"/>
                  </a:rPr>
                  <a:t>Computation of a single step </a:t>
                </a:r>
                <a14:m>
                  <m:oMath xmlns:m="http://schemas.openxmlformats.org/officeDocument/2006/math">
                    <m:r>
                      <a:rPr lang="en-US" altLang="zh-CN" sz="1000" i="1" dirty="0" smtClean="0">
                        <a:solidFill>
                          <a:schemeClr val="accent1"/>
                        </a:solidFill>
                        <a:latin typeface="Cambria Math" panose="02040503050406030204" pitchFamily="18" charset="0"/>
                        <a:cs typeface="Times New Roman" panose="02020603050405020304" pitchFamily="18" charset="0"/>
                      </a:rPr>
                      <m:t>𝑡</m:t>
                    </m:r>
                  </m:oMath>
                </a14:m>
                <a:r>
                  <a:rPr lang="en-US" altLang="zh-CN" sz="1000" dirty="0">
                    <a:solidFill>
                      <a:schemeClr val="accent1"/>
                    </a:solidFill>
                    <a:latin typeface="Times New Roman" panose="02020603050405020304" pitchFamily="18" charset="0"/>
                    <a:cs typeface="Times New Roman" panose="02020603050405020304" pitchFamily="18" charset="0"/>
                  </a:rPr>
                  <a:t> of the diffusion process</a:t>
                </a:r>
                <a:endParaRPr lang="zh-CN" altLang="en-US" sz="1000" dirty="0">
                  <a:solidFill>
                    <a:schemeClr val="accent1"/>
                  </a:solidFill>
                  <a:latin typeface="Times New Roman" panose="02020603050405020304" pitchFamily="18" charset="0"/>
                  <a:cs typeface="Times New Roman" panose="02020603050405020304" pitchFamily="18" charset="0"/>
                </a:endParaRPr>
              </a:p>
            </p:txBody>
          </p:sp>
        </mc:Choice>
        <mc:Fallback xmlns="">
          <p:sp>
            <p:nvSpPr>
              <p:cNvPr id="36" name="文本框 35">
                <a:extLst>
                  <a:ext uri="{FF2B5EF4-FFF2-40B4-BE49-F238E27FC236}">
                    <a16:creationId xmlns:a16="http://schemas.microsoft.com/office/drawing/2014/main" id="{CBF6C897-76D4-6E68-DC85-57B31F438CF4}"/>
                  </a:ext>
                </a:extLst>
              </p:cNvPr>
              <p:cNvSpPr txBox="1">
                <a:spLocks noRot="1" noChangeAspect="1" noMove="1" noResize="1" noEditPoints="1" noAdjustHandles="1" noChangeArrowheads="1" noChangeShapeType="1" noTextEdit="1"/>
              </p:cNvSpPr>
              <p:nvPr/>
            </p:nvSpPr>
            <p:spPr>
              <a:xfrm>
                <a:off x="2324117" y="4542904"/>
                <a:ext cx="3094915" cy="246221"/>
              </a:xfrm>
              <a:prstGeom prst="rect">
                <a:avLst/>
              </a:prstGeom>
              <a:blipFill>
                <a:blip r:embed="rId11"/>
                <a:stretch>
                  <a:fillRect b="-12195"/>
                </a:stretch>
              </a:blipFill>
            </p:spPr>
            <p:txBody>
              <a:bodyPr/>
              <a:lstStyle/>
              <a:p>
                <a:r>
                  <a:rPr lang="zh-CN" altLang="en-US">
                    <a:noFill/>
                  </a:rPr>
                  <a:t> </a:t>
                </a:r>
              </a:p>
            </p:txBody>
          </p:sp>
        </mc:Fallback>
      </mc:AlternateContent>
      <p:cxnSp>
        <p:nvCxnSpPr>
          <p:cNvPr id="38" name="直接连接符 37">
            <a:extLst>
              <a:ext uri="{FF2B5EF4-FFF2-40B4-BE49-F238E27FC236}">
                <a16:creationId xmlns:a16="http://schemas.microsoft.com/office/drawing/2014/main" id="{D36A520D-D5E6-172D-E415-4E64873BF8D8}"/>
              </a:ext>
            </a:extLst>
          </p:cNvPr>
          <p:cNvCxnSpPr/>
          <p:nvPr/>
        </p:nvCxnSpPr>
        <p:spPr>
          <a:xfrm>
            <a:off x="1668780" y="4859020"/>
            <a:ext cx="9867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2803A4DA-F078-CA0F-0BE3-9EBCC263C48B}"/>
              </a:ext>
            </a:extLst>
          </p:cNvPr>
          <p:cNvSpPr txBox="1"/>
          <p:nvPr/>
        </p:nvSpPr>
        <p:spPr>
          <a:xfrm>
            <a:off x="-47885" y="4604819"/>
            <a:ext cx="1534937" cy="338554"/>
          </a:xfrm>
          <a:prstGeom prst="rect">
            <a:avLst/>
          </a:prstGeom>
          <a:noFill/>
        </p:spPr>
        <p:txBody>
          <a:bodyPr wrap="square">
            <a:spAutoFit/>
          </a:bodyPr>
          <a:lstStyle/>
          <a:p>
            <a:r>
              <a:rPr lang="en-US" altLang="zh-CN" sz="800" dirty="0">
                <a:solidFill>
                  <a:schemeClr val="accent2"/>
                </a:solidFill>
                <a:latin typeface="Times New Roman" panose="02020603050405020304" pitchFamily="18" charset="0"/>
                <a:cs typeface="Times New Roman" panose="02020603050405020304" pitchFamily="18" charset="0"/>
              </a:rPr>
              <a:t>Output: the noisy image and the attention map</a:t>
            </a:r>
            <a:endParaRPr lang="zh-CN" altLang="en-US" sz="800" dirty="0">
              <a:solidFill>
                <a:schemeClr val="accent2"/>
              </a:solidFill>
              <a:latin typeface="Times New Roman" panose="02020603050405020304" pitchFamily="18" charset="0"/>
              <a:cs typeface="Times New Roman" panose="02020603050405020304" pitchFamily="18" charset="0"/>
            </a:endParaRPr>
          </a:p>
        </p:txBody>
      </p:sp>
      <p:cxnSp>
        <p:nvCxnSpPr>
          <p:cNvPr id="42" name="直接连接符 41">
            <a:extLst>
              <a:ext uri="{FF2B5EF4-FFF2-40B4-BE49-F238E27FC236}">
                <a16:creationId xmlns:a16="http://schemas.microsoft.com/office/drawing/2014/main" id="{274E915E-596B-BAB7-991A-D2C8A91ADB3A}"/>
              </a:ext>
            </a:extLst>
          </p:cNvPr>
          <p:cNvCxnSpPr>
            <a:cxnSpLocks/>
          </p:cNvCxnSpPr>
          <p:nvPr/>
        </p:nvCxnSpPr>
        <p:spPr>
          <a:xfrm>
            <a:off x="876152" y="4859020"/>
            <a:ext cx="55259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33F5B356-8A47-49B2-A1C7-068E8885DAFD}"/>
              </a:ext>
            </a:extLst>
          </p:cNvPr>
          <p:cNvCxnSpPr>
            <a:cxnSpLocks/>
          </p:cNvCxnSpPr>
          <p:nvPr/>
        </p:nvCxnSpPr>
        <p:spPr>
          <a:xfrm>
            <a:off x="1428750" y="5491480"/>
            <a:ext cx="1813560"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BC30032E-621F-D295-370B-C0B431EA3F6B}"/>
                  </a:ext>
                </a:extLst>
              </p:cNvPr>
              <p:cNvSpPr txBox="1"/>
              <p:nvPr/>
            </p:nvSpPr>
            <p:spPr>
              <a:xfrm>
                <a:off x="1607166" y="5440721"/>
                <a:ext cx="3811866" cy="385939"/>
              </a:xfrm>
              <a:prstGeom prst="rect">
                <a:avLst/>
              </a:prstGeom>
              <a:noFill/>
            </p:spPr>
            <p:txBody>
              <a:bodyPr wrap="square">
                <a:spAutoFit/>
              </a:bodyPr>
              <a:lstStyle/>
              <a:p>
                <a:r>
                  <a:rPr lang="en-US" altLang="zh-CN" sz="900" dirty="0">
                    <a:solidFill>
                      <a:schemeClr val="accent1"/>
                    </a:solidFill>
                    <a:latin typeface="Times New Roman" panose="02020603050405020304" pitchFamily="18" charset="0"/>
                    <a:cs typeface="Times New Roman" panose="02020603050405020304" pitchFamily="18" charset="0"/>
                  </a:rPr>
                  <a:t>The diffusion step where we override the attention map </a:t>
                </a:r>
                <a14:m>
                  <m:oMath xmlns:m="http://schemas.openxmlformats.org/officeDocument/2006/math">
                    <m:r>
                      <a:rPr lang="en-US" altLang="zh-CN" sz="900" i="1" dirty="0" smtClean="0">
                        <a:solidFill>
                          <a:schemeClr val="accent1"/>
                        </a:solidFill>
                        <a:latin typeface="Cambria Math" panose="02040503050406030204" pitchFamily="18" charset="0"/>
                        <a:cs typeface="Times New Roman" panose="02020603050405020304" pitchFamily="18" charset="0"/>
                      </a:rPr>
                      <m:t>𝑀</m:t>
                    </m:r>
                  </m:oMath>
                </a14:m>
                <a:r>
                  <a:rPr lang="en-US" altLang="zh-CN" sz="900" dirty="0">
                    <a:solidFill>
                      <a:schemeClr val="accent1"/>
                    </a:solidFill>
                    <a:latin typeface="Times New Roman" panose="02020603050405020304" pitchFamily="18" charset="0"/>
                    <a:cs typeface="Times New Roman" panose="02020603050405020304" pitchFamily="18" charset="0"/>
                  </a:rPr>
                  <a:t> with an additional given map </a:t>
                </a:r>
                <a14:m>
                  <m:oMath xmlns:m="http://schemas.openxmlformats.org/officeDocument/2006/math">
                    <m:acc>
                      <m:accPr>
                        <m:chr m:val="̂"/>
                        <m:ctrlPr>
                          <a:rPr lang="en-US" altLang="zh-CN" sz="900" i="1" dirty="0" smtClean="0">
                            <a:solidFill>
                              <a:schemeClr val="accent1"/>
                            </a:solidFill>
                            <a:latin typeface="Cambria Math" panose="02040503050406030204" pitchFamily="18" charset="0"/>
                            <a:cs typeface="Times New Roman" panose="02020603050405020304" pitchFamily="18" charset="0"/>
                          </a:rPr>
                        </m:ctrlPr>
                      </m:accPr>
                      <m:e>
                        <m:r>
                          <a:rPr lang="en-US" altLang="zh-CN" sz="900" b="0" i="1" dirty="0" smtClean="0">
                            <a:solidFill>
                              <a:schemeClr val="accent1"/>
                            </a:solidFill>
                            <a:latin typeface="Cambria Math" panose="02040503050406030204" pitchFamily="18" charset="0"/>
                            <a:cs typeface="Times New Roman" panose="02020603050405020304" pitchFamily="18" charset="0"/>
                          </a:rPr>
                          <m:t>𝑀</m:t>
                        </m:r>
                      </m:e>
                    </m:acc>
                  </m:oMath>
                </a14:m>
                <a:r>
                  <a:rPr lang="en-US" altLang="zh-CN" sz="900" dirty="0">
                    <a:solidFill>
                      <a:schemeClr val="accent1"/>
                    </a:solidFill>
                    <a:latin typeface="Times New Roman" panose="02020603050405020304" pitchFamily="18" charset="0"/>
                    <a:cs typeface="Times New Roman" panose="02020603050405020304" pitchFamily="18" charset="0"/>
                  </a:rPr>
                  <a:t>, but keep the values </a:t>
                </a:r>
                <a14:m>
                  <m:oMath xmlns:m="http://schemas.openxmlformats.org/officeDocument/2006/math">
                    <m:r>
                      <a:rPr lang="en-US" altLang="zh-CN" sz="900" i="1" dirty="0" smtClean="0">
                        <a:solidFill>
                          <a:schemeClr val="accent1"/>
                        </a:solidFill>
                        <a:latin typeface="Cambria Math" panose="02040503050406030204" pitchFamily="18" charset="0"/>
                        <a:cs typeface="Times New Roman" panose="02020603050405020304" pitchFamily="18" charset="0"/>
                      </a:rPr>
                      <m:t>𝑉</m:t>
                    </m:r>
                  </m:oMath>
                </a14:m>
                <a:r>
                  <a:rPr lang="en-US" altLang="zh-CN" sz="900" dirty="0">
                    <a:solidFill>
                      <a:schemeClr val="accent1"/>
                    </a:solidFill>
                    <a:latin typeface="Times New Roman" panose="02020603050405020304" pitchFamily="18" charset="0"/>
                    <a:cs typeface="Times New Roman" panose="02020603050405020304" pitchFamily="18" charset="0"/>
                  </a:rPr>
                  <a:t> from the supplied prompt</a:t>
                </a:r>
                <a:endParaRPr lang="zh-CN" altLang="en-US" sz="900" dirty="0">
                  <a:solidFill>
                    <a:schemeClr val="accent1"/>
                  </a:solidFill>
                  <a:latin typeface="Times New Roman" panose="02020603050405020304" pitchFamily="18" charset="0"/>
                  <a:cs typeface="Times New Roman" panose="02020603050405020304" pitchFamily="18" charset="0"/>
                </a:endParaRPr>
              </a:p>
            </p:txBody>
          </p:sp>
        </mc:Choice>
        <mc:Fallback xmlns="">
          <p:sp>
            <p:nvSpPr>
              <p:cNvPr id="47" name="文本框 46">
                <a:extLst>
                  <a:ext uri="{FF2B5EF4-FFF2-40B4-BE49-F238E27FC236}">
                    <a16:creationId xmlns:a16="http://schemas.microsoft.com/office/drawing/2014/main" id="{BC30032E-621F-D295-370B-C0B431EA3F6B}"/>
                  </a:ext>
                </a:extLst>
              </p:cNvPr>
              <p:cNvSpPr txBox="1">
                <a:spLocks noRot="1" noChangeAspect="1" noMove="1" noResize="1" noEditPoints="1" noAdjustHandles="1" noChangeArrowheads="1" noChangeShapeType="1" noTextEdit="1"/>
              </p:cNvSpPr>
              <p:nvPr/>
            </p:nvSpPr>
            <p:spPr>
              <a:xfrm>
                <a:off x="1607166" y="5440721"/>
                <a:ext cx="3811866" cy="385939"/>
              </a:xfrm>
              <a:prstGeom prst="rect">
                <a:avLst/>
              </a:prstGeom>
              <a:blipFill>
                <a:blip r:embed="rId12"/>
                <a:stretch>
                  <a:fillRect b="-15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9CC084BD-D3D0-0B85-FB9E-D26883E9E6FD}"/>
                  </a:ext>
                </a:extLst>
              </p:cNvPr>
              <p:cNvSpPr txBox="1"/>
              <p:nvPr/>
            </p:nvSpPr>
            <p:spPr>
              <a:xfrm>
                <a:off x="453883" y="5910331"/>
                <a:ext cx="3740467" cy="230832"/>
              </a:xfrm>
              <a:prstGeom prst="rect">
                <a:avLst/>
              </a:prstGeom>
              <a:noFill/>
            </p:spPr>
            <p:txBody>
              <a:bodyPr wrap="square">
                <a:spAutoFit/>
              </a:bodyPr>
              <a:lstStyle/>
              <a:p>
                <a14:m>
                  <m:oMath xmlns:m="http://schemas.openxmlformats.org/officeDocument/2006/math">
                    <m:sSubSup>
                      <m:sSubSupPr>
                        <m:ctrlPr>
                          <a:rPr lang="en-US" altLang="zh-CN" sz="900" i="1" dirty="0" smtClean="0">
                            <a:latin typeface="Cambria Math" panose="02040503050406030204" pitchFamily="18" charset="0"/>
                            <a:cs typeface="Times New Roman" panose="02020603050405020304" pitchFamily="18" charset="0"/>
                          </a:rPr>
                        </m:ctrlPr>
                      </m:sSubSupPr>
                      <m:e>
                        <m:r>
                          <a:rPr lang="en-US" altLang="zh-CN" sz="900" b="0" i="1" dirty="0" smtClean="0">
                            <a:latin typeface="Cambria Math" panose="02040503050406030204" pitchFamily="18" charset="0"/>
                            <a:cs typeface="Times New Roman" panose="02020603050405020304" pitchFamily="18" charset="0"/>
                          </a:rPr>
                          <m:t>𝑀</m:t>
                        </m:r>
                      </m:e>
                      <m:sub>
                        <m:r>
                          <a:rPr lang="en-US" altLang="zh-CN" sz="900" b="0" i="1" dirty="0" smtClean="0">
                            <a:latin typeface="Cambria Math" panose="02040503050406030204" pitchFamily="18" charset="0"/>
                            <a:cs typeface="Times New Roman" panose="02020603050405020304" pitchFamily="18" charset="0"/>
                          </a:rPr>
                          <m:t>𝑡</m:t>
                        </m:r>
                      </m:sub>
                      <m:sup>
                        <m:r>
                          <a:rPr lang="en-US" altLang="zh-CN" sz="900" b="0" i="1" dirty="0" smtClean="0">
                            <a:latin typeface="Cambria Math" panose="02040503050406030204" pitchFamily="18" charset="0"/>
                            <a:cs typeface="Times New Roman" panose="02020603050405020304" pitchFamily="18" charset="0"/>
                          </a:rPr>
                          <m:t>∗</m:t>
                        </m:r>
                      </m:sup>
                    </m:sSubSup>
                  </m:oMath>
                </a14:m>
                <a:r>
                  <a:rPr lang="en-US" altLang="zh-CN" sz="900" dirty="0">
                    <a:latin typeface="Times New Roman" panose="02020603050405020304" pitchFamily="18" charset="0"/>
                    <a:cs typeface="Times New Roman" panose="02020603050405020304" pitchFamily="18" charset="0"/>
                  </a:rPr>
                  <a:t> denotes the produced attention map using the edited prompt </a:t>
                </a:r>
                <a14:m>
                  <m:oMath xmlns:m="http://schemas.openxmlformats.org/officeDocument/2006/math">
                    <m:sSup>
                      <m:sSupPr>
                        <m:ctrlPr>
                          <a:rPr lang="en-US" altLang="zh-CN" sz="900" i="1" dirty="0" smtClean="0">
                            <a:latin typeface="Cambria Math" panose="02040503050406030204" pitchFamily="18" charset="0"/>
                            <a:cs typeface="Times New Roman" panose="02020603050405020304" pitchFamily="18" charset="0"/>
                          </a:rPr>
                        </m:ctrlPr>
                      </m:sSupPr>
                      <m:e>
                        <m:r>
                          <a:rPr lang="en-US" altLang="zh-CN" sz="900" b="0" i="1" dirty="0" smtClean="0">
                            <a:latin typeface="Cambria Math" panose="02040503050406030204" pitchFamily="18" charset="0"/>
                            <a:cs typeface="Times New Roman" panose="02020603050405020304" pitchFamily="18" charset="0"/>
                          </a:rPr>
                          <m:t>𝑃</m:t>
                        </m:r>
                      </m:e>
                      <m:sup>
                        <m:r>
                          <a:rPr lang="en-US" altLang="zh-CN" sz="900" b="0" i="1" dirty="0" smtClean="0">
                            <a:latin typeface="Cambria Math" panose="02040503050406030204" pitchFamily="18" charset="0"/>
                            <a:cs typeface="Times New Roman" panose="02020603050405020304" pitchFamily="18" charset="0"/>
                          </a:rPr>
                          <m:t>∗</m:t>
                        </m:r>
                      </m:sup>
                    </m:sSup>
                  </m:oMath>
                </a14:m>
                <a:endParaRPr lang="zh-CN" altLang="en-US" sz="900" dirty="0">
                  <a:latin typeface="Times New Roman" panose="02020603050405020304" pitchFamily="18" charset="0"/>
                  <a:cs typeface="Times New Roman" panose="02020603050405020304" pitchFamily="18" charset="0"/>
                </a:endParaRPr>
              </a:p>
            </p:txBody>
          </p:sp>
        </mc:Choice>
        <mc:Fallback xmlns="">
          <p:sp>
            <p:nvSpPr>
              <p:cNvPr id="49" name="文本框 48">
                <a:extLst>
                  <a:ext uri="{FF2B5EF4-FFF2-40B4-BE49-F238E27FC236}">
                    <a16:creationId xmlns:a16="http://schemas.microsoft.com/office/drawing/2014/main" id="{9CC084BD-D3D0-0B85-FB9E-D26883E9E6FD}"/>
                  </a:ext>
                </a:extLst>
              </p:cNvPr>
              <p:cNvSpPr txBox="1">
                <a:spLocks noRot="1" noChangeAspect="1" noMove="1" noResize="1" noEditPoints="1" noAdjustHandles="1" noChangeArrowheads="1" noChangeShapeType="1" noTextEdit="1"/>
              </p:cNvSpPr>
              <p:nvPr/>
            </p:nvSpPr>
            <p:spPr>
              <a:xfrm>
                <a:off x="453883" y="5910331"/>
                <a:ext cx="3740467" cy="230832"/>
              </a:xfrm>
              <a:prstGeom prst="rect">
                <a:avLst/>
              </a:prstGeom>
              <a:blipFill>
                <a:blip r:embed="rId13"/>
                <a:stretch>
                  <a:fillRect b="-108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54152B4A-E0C1-6135-CC10-287EBF7AB673}"/>
                  </a:ext>
                </a:extLst>
              </p:cNvPr>
              <p:cNvSpPr txBox="1"/>
              <p:nvPr/>
            </p:nvSpPr>
            <p:spPr>
              <a:xfrm>
                <a:off x="472332" y="6124084"/>
                <a:ext cx="4528499" cy="369332"/>
              </a:xfrm>
              <a:prstGeom prst="rect">
                <a:avLst/>
              </a:prstGeom>
              <a:noFill/>
            </p:spPr>
            <p:txBody>
              <a:bodyPr wrap="square">
                <a:spAutoFit/>
              </a:bodyPr>
              <a:lstStyle/>
              <a:p>
                <a14:m>
                  <m:oMath xmlns:m="http://schemas.openxmlformats.org/officeDocument/2006/math">
                    <m:r>
                      <a:rPr lang="en-US" altLang="zh-CN" sz="900" i="1" dirty="0" smtClean="0">
                        <a:latin typeface="Cambria Math" panose="02040503050406030204" pitchFamily="18" charset="0"/>
                        <a:cs typeface="Times New Roman" panose="02020603050405020304" pitchFamily="18" charset="0"/>
                      </a:rPr>
                      <m:t>𝐸𝑑𝑖𝑡</m:t>
                    </m:r>
                    <m:r>
                      <a:rPr lang="en-US" altLang="zh-CN" sz="900" i="1" dirty="0" smtClean="0">
                        <a:latin typeface="Cambria Math" panose="02040503050406030204" pitchFamily="18" charset="0"/>
                        <a:cs typeface="Times New Roman" panose="02020603050405020304" pitchFamily="18" charset="0"/>
                      </a:rPr>
                      <m:t>(</m:t>
                    </m:r>
                    <m:sSub>
                      <m:sSubPr>
                        <m:ctrlPr>
                          <a:rPr lang="en-US" altLang="zh-CN" sz="900" i="1" smtClean="0">
                            <a:latin typeface="Cambria Math" panose="02040503050406030204" pitchFamily="18" charset="0"/>
                            <a:cs typeface="Times New Roman" panose="02020603050405020304" pitchFamily="18" charset="0"/>
                          </a:rPr>
                        </m:ctrlPr>
                      </m:sSubPr>
                      <m:e>
                        <m:r>
                          <a:rPr lang="en-US" altLang="zh-CN" sz="900" b="0" i="1" smtClean="0">
                            <a:latin typeface="Cambria Math" panose="02040503050406030204" pitchFamily="18" charset="0"/>
                            <a:cs typeface="Times New Roman" panose="02020603050405020304" pitchFamily="18" charset="0"/>
                          </a:rPr>
                          <m:t>𝑀</m:t>
                        </m:r>
                      </m:e>
                      <m:sub>
                        <m:r>
                          <a:rPr lang="en-US" altLang="zh-CN" sz="900" b="0" i="1" smtClean="0">
                            <a:latin typeface="Cambria Math" panose="02040503050406030204" pitchFamily="18" charset="0"/>
                            <a:cs typeface="Times New Roman" panose="02020603050405020304" pitchFamily="18" charset="0"/>
                          </a:rPr>
                          <m:t>𝑡</m:t>
                        </m:r>
                      </m:sub>
                    </m:sSub>
                    <m:r>
                      <a:rPr lang="en-US" altLang="zh-CN" sz="900" i="1" dirty="0" smtClean="0">
                        <a:latin typeface="Cambria Math" panose="02040503050406030204" pitchFamily="18" charset="0"/>
                        <a:cs typeface="Times New Roman" panose="02020603050405020304" pitchFamily="18" charset="0"/>
                      </a:rPr>
                      <m:t>, </m:t>
                    </m:r>
                    <m:sSubSup>
                      <m:sSubSupPr>
                        <m:ctrlPr>
                          <a:rPr lang="en-US" altLang="zh-CN" sz="900" i="1" dirty="0" smtClean="0">
                            <a:latin typeface="Cambria Math" panose="02040503050406030204" pitchFamily="18" charset="0"/>
                            <a:cs typeface="Times New Roman" panose="02020603050405020304" pitchFamily="18" charset="0"/>
                          </a:rPr>
                        </m:ctrlPr>
                      </m:sSubSupPr>
                      <m:e>
                        <m:r>
                          <a:rPr lang="en-US" altLang="zh-CN" sz="900" b="0" i="1" dirty="0" smtClean="0">
                            <a:latin typeface="Cambria Math" panose="02040503050406030204" pitchFamily="18" charset="0"/>
                            <a:cs typeface="Times New Roman" panose="02020603050405020304" pitchFamily="18" charset="0"/>
                          </a:rPr>
                          <m:t>𝑀</m:t>
                        </m:r>
                      </m:e>
                      <m:sub>
                        <m:r>
                          <a:rPr lang="en-US" altLang="zh-CN" sz="900" b="0" i="1" dirty="0" smtClean="0">
                            <a:latin typeface="Cambria Math" panose="02040503050406030204" pitchFamily="18" charset="0"/>
                            <a:cs typeface="Times New Roman" panose="02020603050405020304" pitchFamily="18" charset="0"/>
                          </a:rPr>
                          <m:t>𝑡</m:t>
                        </m:r>
                      </m:sub>
                      <m:sup>
                        <m:r>
                          <a:rPr lang="en-US" altLang="zh-CN" sz="900" b="0" i="1" dirty="0" smtClean="0">
                            <a:latin typeface="Cambria Math" panose="02040503050406030204" pitchFamily="18" charset="0"/>
                            <a:cs typeface="Times New Roman" panose="02020603050405020304" pitchFamily="18" charset="0"/>
                          </a:rPr>
                          <m:t>∗</m:t>
                        </m:r>
                      </m:sup>
                    </m:sSubSup>
                    <m:r>
                      <a:rPr lang="en-US" altLang="zh-CN" sz="900" i="1" dirty="0" smtClean="0">
                        <a:latin typeface="Cambria Math" panose="02040503050406030204" pitchFamily="18" charset="0"/>
                        <a:cs typeface="Times New Roman" panose="02020603050405020304" pitchFamily="18" charset="0"/>
                      </a:rPr>
                      <m:t>, </m:t>
                    </m:r>
                    <m:r>
                      <a:rPr lang="en-US" altLang="zh-CN" sz="900" i="1" dirty="0" smtClean="0">
                        <a:latin typeface="Cambria Math" panose="02040503050406030204" pitchFamily="18" charset="0"/>
                        <a:cs typeface="Times New Roman" panose="02020603050405020304" pitchFamily="18" charset="0"/>
                      </a:rPr>
                      <m:t>𝑡</m:t>
                    </m:r>
                    <m:r>
                      <a:rPr lang="en-US" altLang="zh-CN" sz="900" i="1" dirty="0" smtClean="0">
                        <a:latin typeface="Cambria Math" panose="02040503050406030204" pitchFamily="18" charset="0"/>
                        <a:cs typeface="Times New Roman" panose="02020603050405020304" pitchFamily="18" charset="0"/>
                      </a:rPr>
                      <m:t>)</m:t>
                    </m:r>
                  </m:oMath>
                </a14:m>
                <a:r>
                  <a:rPr lang="en-US" altLang="zh-CN" sz="900" dirty="0">
                    <a:latin typeface="Times New Roman" panose="02020603050405020304" pitchFamily="18" charset="0"/>
                    <a:cs typeface="Times New Roman" panose="02020603050405020304" pitchFamily="18" charset="0"/>
                  </a:rPr>
                  <a:t> is a general edit function, receiving as input the </a:t>
                </a:r>
                <a14:m>
                  <m:oMath xmlns:m="http://schemas.openxmlformats.org/officeDocument/2006/math">
                    <m:r>
                      <a:rPr lang="en-US" altLang="zh-CN" sz="900" i="1" dirty="0" smtClean="0">
                        <a:latin typeface="Cambria Math" panose="02040503050406030204" pitchFamily="18" charset="0"/>
                        <a:cs typeface="Times New Roman" panose="02020603050405020304" pitchFamily="18" charset="0"/>
                      </a:rPr>
                      <m:t>𝑡</m:t>
                    </m:r>
                  </m:oMath>
                </a14:m>
                <a:r>
                  <a:rPr lang="en-US" altLang="zh-CN" sz="900" dirty="0">
                    <a:latin typeface="Times New Roman" panose="02020603050405020304" pitchFamily="18" charset="0"/>
                    <a:cs typeface="Times New Roman" panose="02020603050405020304" pitchFamily="18" charset="0"/>
                  </a:rPr>
                  <a:t>’ th attention maps of the original and edited images during their generation.</a:t>
                </a:r>
                <a:endParaRPr lang="zh-CN" altLang="en-US" sz="900" dirty="0">
                  <a:latin typeface="Times New Roman" panose="02020603050405020304" pitchFamily="18" charset="0"/>
                  <a:cs typeface="Times New Roman" panose="02020603050405020304" pitchFamily="18" charset="0"/>
                </a:endParaRPr>
              </a:p>
            </p:txBody>
          </p:sp>
        </mc:Choice>
        <mc:Fallback xmlns="">
          <p:sp>
            <p:nvSpPr>
              <p:cNvPr id="51" name="文本框 50">
                <a:extLst>
                  <a:ext uri="{FF2B5EF4-FFF2-40B4-BE49-F238E27FC236}">
                    <a16:creationId xmlns:a16="http://schemas.microsoft.com/office/drawing/2014/main" id="{54152B4A-E0C1-6135-CC10-287EBF7AB673}"/>
                  </a:ext>
                </a:extLst>
              </p:cNvPr>
              <p:cNvSpPr txBox="1">
                <a:spLocks noRot="1" noChangeAspect="1" noMove="1" noResize="1" noEditPoints="1" noAdjustHandles="1" noChangeArrowheads="1" noChangeShapeType="1" noTextEdit="1"/>
              </p:cNvSpPr>
              <p:nvPr/>
            </p:nvSpPr>
            <p:spPr>
              <a:xfrm>
                <a:off x="472332" y="6124084"/>
                <a:ext cx="4528499" cy="369332"/>
              </a:xfrm>
              <a:prstGeom prst="rect">
                <a:avLst/>
              </a:prstGeom>
              <a:blipFill>
                <a:blip r:embed="rId14"/>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B2AB116C-B680-04BF-4E96-7F455C87287A}"/>
                  </a:ext>
                </a:extLst>
              </p:cNvPr>
              <p:cNvSpPr txBox="1"/>
              <p:nvPr/>
            </p:nvSpPr>
            <p:spPr>
              <a:xfrm>
                <a:off x="5415128" y="5503319"/>
                <a:ext cx="6776871" cy="584775"/>
              </a:xfrm>
              <a:prstGeom prst="rect">
                <a:avLst/>
              </a:prstGeom>
              <a:noFill/>
            </p:spPr>
            <p:txBody>
              <a:bodyPr wrap="square">
                <a:spAutoFit/>
              </a:bodyPr>
              <a:lstStyle/>
              <a:p>
                <a:pPr marL="285750" indent="-285750">
                  <a:buFont typeface="Arial" panose="020B0604020202020204" pitchFamily="34" charset="0"/>
                  <a:buChar char="•"/>
                </a:pPr>
                <a:r>
                  <a:rPr lang="en-US" altLang="zh-CN" sz="1600" b="0" i="0" kern="1200" dirty="0">
                    <a:solidFill>
                      <a:schemeClr val="tx1"/>
                    </a:solidFill>
                    <a:effectLst/>
                    <a:latin typeface="Times New Roman" panose="02020603050405020304" pitchFamily="18" charset="0"/>
                    <a:cs typeface="Times New Roman" panose="02020603050405020304" pitchFamily="18" charset="0"/>
                  </a:rPr>
                  <a:t>During the forward process of the target image, we forcibly replace </a:t>
                </a:r>
                <a:r>
                  <a:rPr lang="en-US" altLang="zh-CN" sz="1600" dirty="0">
                    <a:latin typeface="Times New Roman" panose="02020603050405020304" pitchFamily="18" charset="0"/>
                    <a:cs typeface="Times New Roman" panose="02020603050405020304" pitchFamily="18" charset="0"/>
                  </a:rPr>
                  <a:t>or merge </a:t>
                </a:r>
                <a:r>
                  <a:rPr lang="en-US" altLang="zh-CN" sz="1600" b="0" i="0" kern="1200" dirty="0">
                    <a:solidFill>
                      <a:schemeClr val="tx1"/>
                    </a:solidFill>
                    <a:effectLst/>
                    <a:latin typeface="Times New Roman" panose="02020603050405020304" pitchFamily="18" charset="0"/>
                    <a:cs typeface="Times New Roman" panose="02020603050405020304" pitchFamily="18" charset="0"/>
                  </a:rPr>
                  <a:t> its original attention map with the </a:t>
                </a:r>
                <a14:m>
                  <m:oMath xmlns:m="http://schemas.openxmlformats.org/officeDocument/2006/math">
                    <m:sSub>
                      <m:sSubPr>
                        <m:ctrlPr>
                          <a:rPr lang="ar-AE" altLang="zh-CN" sz="1600" i="1" kern="1200">
                            <a:solidFill>
                              <a:schemeClr val="tx1"/>
                            </a:solidFill>
                            <a:latin typeface="Cambria Math" panose="02040503050406030204" pitchFamily="18" charset="0"/>
                          </a:rPr>
                        </m:ctrlPr>
                      </m:sSubPr>
                      <m:e>
                        <m:r>
                          <a:rPr lang="zh-CN" altLang="ar-AE" sz="1600" i="1" kern="1200">
                            <a:solidFill>
                              <a:schemeClr val="tx1"/>
                            </a:solidFill>
                            <a:latin typeface="Cambria Math" panose="02040503050406030204" pitchFamily="18" charset="0"/>
                          </a:rPr>
                          <m:t>𝑀</m:t>
                        </m:r>
                      </m:e>
                      <m:sub>
                        <m:r>
                          <a:rPr lang="zh-CN" altLang="ar-AE" sz="1600" i="1" kern="1200">
                            <a:solidFill>
                              <a:schemeClr val="tx1"/>
                            </a:solidFill>
                            <a:latin typeface="Cambria Math" panose="02040503050406030204" pitchFamily="18" charset="0"/>
                          </a:rPr>
                          <m:t>𝑡</m:t>
                        </m:r>
                      </m:sub>
                    </m:sSub>
                  </m:oMath>
                </a14:m>
                <a:r>
                  <a:rPr lang="ar-AE" altLang="zh-CN" sz="1600" b="0" i="0" kern="1200" dirty="0">
                    <a:solidFill>
                      <a:schemeClr val="tx1"/>
                    </a:solidFill>
                    <a:effectLst/>
                    <a:latin typeface="Times New Roman" panose="02020603050405020304" pitchFamily="18" charset="0"/>
                    <a:cs typeface="Times New Roman" panose="02020603050405020304" pitchFamily="18" charset="0"/>
                  </a:rPr>
                  <a:t> </a:t>
                </a:r>
                <a:r>
                  <a:rPr lang="en-US" altLang="zh-CN" sz="1600" b="0" i="0" kern="1200" dirty="0">
                    <a:solidFill>
                      <a:schemeClr val="tx1"/>
                    </a:solidFill>
                    <a:effectLst/>
                    <a:latin typeface="Times New Roman" panose="02020603050405020304" pitchFamily="18" charset="0"/>
                    <a:cs typeface="Times New Roman" panose="02020603050405020304" pitchFamily="18" charset="0"/>
                  </a:rPr>
                  <a:t>processed by the </a:t>
                </a:r>
                <a:r>
                  <a:rPr lang="en-US" altLang="zh-CN" sz="1600" b="0" i="1" kern="1200" dirty="0">
                    <a:solidFill>
                      <a:schemeClr val="tx1"/>
                    </a:solidFill>
                    <a:effectLst/>
                    <a:latin typeface="Times New Roman" panose="02020603050405020304" pitchFamily="18" charset="0"/>
                    <a:cs typeface="Times New Roman" panose="02020603050405020304" pitchFamily="18" charset="0"/>
                  </a:rPr>
                  <a:t>Edit</a:t>
                </a:r>
                <a:r>
                  <a:rPr lang="en-US" altLang="zh-CN" sz="1600" b="0" i="0" kern="1200" dirty="0">
                    <a:solidFill>
                      <a:schemeClr val="tx1"/>
                    </a:solidFill>
                    <a:effectLst/>
                    <a:latin typeface="Times New Roman" panose="02020603050405020304" pitchFamily="18" charset="0"/>
                    <a:cs typeface="Times New Roman" panose="02020603050405020304" pitchFamily="18" charset="0"/>
                  </a:rPr>
                  <a:t>() function.</a:t>
                </a:r>
              </a:p>
            </p:txBody>
          </p:sp>
        </mc:Choice>
        <mc:Fallback xmlns="">
          <p:sp>
            <p:nvSpPr>
              <p:cNvPr id="53" name="文本框 52">
                <a:extLst>
                  <a:ext uri="{FF2B5EF4-FFF2-40B4-BE49-F238E27FC236}">
                    <a16:creationId xmlns:a16="http://schemas.microsoft.com/office/drawing/2014/main" id="{B2AB116C-B680-04BF-4E96-7F455C87287A}"/>
                  </a:ext>
                </a:extLst>
              </p:cNvPr>
              <p:cNvSpPr txBox="1">
                <a:spLocks noRot="1" noChangeAspect="1" noMove="1" noResize="1" noEditPoints="1" noAdjustHandles="1" noChangeArrowheads="1" noChangeShapeType="1" noTextEdit="1"/>
              </p:cNvSpPr>
              <p:nvPr/>
            </p:nvSpPr>
            <p:spPr>
              <a:xfrm>
                <a:off x="5415128" y="5503319"/>
                <a:ext cx="6776871" cy="584775"/>
              </a:xfrm>
              <a:prstGeom prst="rect">
                <a:avLst/>
              </a:prstGeom>
              <a:blipFill>
                <a:blip r:embed="rId15"/>
                <a:stretch>
                  <a:fillRect l="-360" t="-3125" r="-719" b="-12500"/>
                </a:stretch>
              </a:blipFill>
            </p:spPr>
            <p:txBody>
              <a:bodyPr/>
              <a:lstStyle/>
              <a:p>
                <a:r>
                  <a:rPr lang="zh-CN" altLang="en-US">
                    <a:noFill/>
                  </a:rPr>
                  <a:t> </a:t>
                </a:r>
              </a:p>
            </p:txBody>
          </p:sp>
        </mc:Fallback>
      </mc:AlternateContent>
      <p:sp>
        <p:nvSpPr>
          <p:cNvPr id="2" name="灯片编号占位符 1">
            <a:extLst>
              <a:ext uri="{FF2B5EF4-FFF2-40B4-BE49-F238E27FC236}">
                <a16:creationId xmlns:a16="http://schemas.microsoft.com/office/drawing/2014/main" id="{48167BAA-B4F3-9DE0-4B7C-3559B39D5FF3}"/>
              </a:ext>
            </a:extLst>
          </p:cNvPr>
          <p:cNvSpPr>
            <a:spLocks noGrp="1"/>
          </p:cNvSpPr>
          <p:nvPr>
            <p:ph type="sldNum" sz="quarter" idx="12"/>
          </p:nvPr>
        </p:nvSpPr>
        <p:spPr/>
        <p:txBody>
          <a:bodyPr/>
          <a:lstStyle/>
          <a:p>
            <a:fld id="{E6518835-16E6-9244-9C02-6BFB876E5D3C}" type="slidenum">
              <a:rPr kumimoji="1" lang="zh-CN" altLang="en-US" smtClean="0"/>
              <a:t>16</a:t>
            </a:fld>
            <a:endParaRPr kumimoji="1" lang="zh-CN" altLang="en-US"/>
          </a:p>
        </p:txBody>
      </p:sp>
    </p:spTree>
    <p:extLst>
      <p:ext uri="{BB962C8B-B14F-4D97-AF65-F5344CB8AC3E}">
        <p14:creationId xmlns:p14="http://schemas.microsoft.com/office/powerpoint/2010/main" val="3671491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06695-787C-8491-C08C-365A04179993}"/>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A0C79E1-E4C1-8672-8CD7-1B3FD176283B}"/>
              </a:ext>
            </a:extLst>
          </p:cNvPr>
          <p:cNvSpPr/>
          <p:nvPr/>
        </p:nvSpPr>
        <p:spPr>
          <a:xfrm>
            <a:off x="-1" y="0"/>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55451323-DA98-6737-3716-0A10732F0C5E}"/>
              </a:ext>
            </a:extLst>
          </p:cNvPr>
          <p:cNvSpPr/>
          <p:nvPr/>
        </p:nvSpPr>
        <p:spPr>
          <a:xfrm>
            <a:off x="811930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C259E186-CCEE-33F0-0AA0-FE0717AFF581}"/>
              </a:ext>
            </a:extLst>
          </p:cNvPr>
          <p:cNvSpPr txBox="1"/>
          <p:nvPr/>
        </p:nvSpPr>
        <p:spPr>
          <a:xfrm>
            <a:off x="8648668" y="186379"/>
            <a:ext cx="829073" cy="461665"/>
          </a:xfrm>
          <a:prstGeom prst="rect">
            <a:avLst/>
          </a:prstGeom>
          <a:noFill/>
        </p:spPr>
        <p:txBody>
          <a:bodyPr vert="horz" wrap="none" rtlCol="0">
            <a:spAutoFit/>
          </a:bodyPr>
          <a:lstStyle/>
          <a:p>
            <a:pPr algn="ctr"/>
            <a:r>
              <a:rPr kumimoji="1" lang="en-US" altLang="zh-CN" sz="2400" b="1" spc="300" dirty="0">
                <a:solidFill>
                  <a:schemeClr val="accent1"/>
                </a:solidFill>
                <a:latin typeface="Times New Roman" panose="02020603050405020304" pitchFamily="18" charset="0"/>
                <a:cs typeface="Times New Roman" panose="02020603050405020304" pitchFamily="18" charset="0"/>
              </a:rPr>
              <a:t>P2P</a:t>
            </a:r>
            <a:endParaRPr kumimoji="1" lang="zh-CN" altLang="en-US" sz="2000" b="1" spc="300" dirty="0">
              <a:solidFill>
                <a:schemeClr val="accent1"/>
              </a:solidFill>
              <a:latin typeface="Times New Roman" panose="02020603050405020304" pitchFamily="18" charset="0"/>
              <a:cs typeface="Times New Roman" panose="02020603050405020304" pitchFamily="18" charset="0"/>
            </a:endParaRPr>
          </a:p>
        </p:txBody>
      </p:sp>
      <p:grpSp>
        <p:nvGrpSpPr>
          <p:cNvPr id="31" name="组合 30">
            <a:extLst>
              <a:ext uri="{FF2B5EF4-FFF2-40B4-BE49-F238E27FC236}">
                <a16:creationId xmlns:a16="http://schemas.microsoft.com/office/drawing/2014/main" id="{CC6A7993-64EC-737B-945F-C846EF998BE5}"/>
              </a:ext>
            </a:extLst>
          </p:cNvPr>
          <p:cNvGrpSpPr/>
          <p:nvPr/>
        </p:nvGrpSpPr>
        <p:grpSpPr>
          <a:xfrm>
            <a:off x="370072" y="219176"/>
            <a:ext cx="2150839" cy="449040"/>
            <a:chOff x="2085654" y="644950"/>
            <a:chExt cx="7772400" cy="1622679"/>
          </a:xfrm>
        </p:grpSpPr>
        <p:pic>
          <p:nvPicPr>
            <p:cNvPr id="32" name="图片 31">
              <a:extLst>
                <a:ext uri="{FF2B5EF4-FFF2-40B4-BE49-F238E27FC236}">
                  <a16:creationId xmlns:a16="http://schemas.microsoft.com/office/drawing/2014/main" id="{5F33236F-E420-7FD2-77C5-33D0DCADBA8C}"/>
                </a:ext>
              </a:extLst>
            </p:cNvPr>
            <p:cNvPicPr>
              <a:picLocks noChangeAspect="1"/>
            </p:cNvPicPr>
            <p:nvPr/>
          </p:nvPicPr>
          <p:blipFill rotWithShape="1">
            <a:blip r:embed="rId5"/>
            <a:srcRect r="78982"/>
            <a:stretch/>
          </p:blipFill>
          <p:spPr>
            <a:xfrm>
              <a:off x="2085654" y="644950"/>
              <a:ext cx="1633591" cy="1622679"/>
            </a:xfrm>
            <a:prstGeom prst="rect">
              <a:avLst/>
            </a:prstGeom>
          </p:spPr>
        </p:pic>
        <p:pic>
          <p:nvPicPr>
            <p:cNvPr id="33" name="图片 32">
              <a:extLst>
                <a:ext uri="{FF2B5EF4-FFF2-40B4-BE49-F238E27FC236}">
                  <a16:creationId xmlns:a16="http://schemas.microsoft.com/office/drawing/2014/main" id="{338281B2-F582-D1DF-266E-507AB1E5B6C6}"/>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9" name="文本框 8">
            <a:extLst>
              <a:ext uri="{FF2B5EF4-FFF2-40B4-BE49-F238E27FC236}">
                <a16:creationId xmlns:a16="http://schemas.microsoft.com/office/drawing/2014/main" id="{06E9FC6B-08C1-DE0A-0898-38A68B359E67}"/>
              </a:ext>
            </a:extLst>
          </p:cNvPr>
          <p:cNvSpPr txBox="1"/>
          <p:nvPr/>
        </p:nvSpPr>
        <p:spPr>
          <a:xfrm>
            <a:off x="370072" y="888923"/>
            <a:ext cx="11189916" cy="400110"/>
          </a:xfrm>
          <a:prstGeom prst="rect">
            <a:avLst/>
          </a:prstGeom>
          <a:noFill/>
        </p:spPr>
        <p:txBody>
          <a:bodyPr wrap="square">
            <a:spAutoFit/>
          </a:bodyPr>
          <a:lstStyle/>
          <a:p>
            <a:r>
              <a:rPr lang="en-US" altLang="zh-CN" sz="2000" b="1" dirty="0">
                <a:gradFill>
                  <a:gsLst>
                    <a:gs pos="0">
                      <a:schemeClr val="accent1"/>
                    </a:gs>
                    <a:gs pos="100000">
                      <a:schemeClr val="accent1">
                        <a:lumMod val="75000"/>
                      </a:schemeClr>
                    </a:gs>
                  </a:gsLst>
                  <a:lin ang="0" scaled="0"/>
                </a:gradFill>
                <a:effectLst>
                  <a:outerShdw blurRad="228600" dist="114300" dir="5400000" algn="t" rotWithShape="0">
                    <a:schemeClr val="accent1">
                      <a:alpha val="1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t>4. Three Operations/Injection Strategies </a:t>
            </a:r>
          </a:p>
        </p:txBody>
      </p:sp>
      <p:cxnSp>
        <p:nvCxnSpPr>
          <p:cNvPr id="12" name="PA-直接连接符 17">
            <a:extLst>
              <a:ext uri="{FF2B5EF4-FFF2-40B4-BE49-F238E27FC236}">
                <a16:creationId xmlns:a16="http://schemas.microsoft.com/office/drawing/2014/main" id="{62211C8C-99FD-1634-8824-480ECCE62E92}"/>
              </a:ext>
            </a:extLst>
          </p:cNvPr>
          <p:cNvCxnSpPr>
            <a:cxnSpLocks/>
          </p:cNvCxnSpPr>
          <p:nvPr>
            <p:custDataLst>
              <p:tags r:id="rId1"/>
            </p:custDataLst>
          </p:nvPr>
        </p:nvCxnSpPr>
        <p:spPr>
          <a:xfrm>
            <a:off x="1473017" y="1296158"/>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3" name="PA-直接连接符 17">
            <a:extLst>
              <a:ext uri="{FF2B5EF4-FFF2-40B4-BE49-F238E27FC236}">
                <a16:creationId xmlns:a16="http://schemas.microsoft.com/office/drawing/2014/main" id="{9F92B730-ADFD-A207-5780-932FAB4D54B6}"/>
              </a:ext>
            </a:extLst>
          </p:cNvPr>
          <p:cNvCxnSpPr>
            <a:cxnSpLocks/>
          </p:cNvCxnSpPr>
          <p:nvPr>
            <p:custDataLst>
              <p:tags r:id="rId2"/>
            </p:custDataLst>
          </p:nvPr>
        </p:nvCxnSpPr>
        <p:spPr>
          <a:xfrm>
            <a:off x="472333" y="1296158"/>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pic>
        <p:nvPicPr>
          <p:cNvPr id="14" name="图片 13">
            <a:extLst>
              <a:ext uri="{FF2B5EF4-FFF2-40B4-BE49-F238E27FC236}">
                <a16:creationId xmlns:a16="http://schemas.microsoft.com/office/drawing/2014/main" id="{5BD5F4BE-4B2D-435F-E40F-9B45A3DA9C9A}"/>
              </a:ext>
            </a:extLst>
          </p:cNvPr>
          <p:cNvPicPr>
            <a:picLocks noChangeAspect="1"/>
          </p:cNvPicPr>
          <p:nvPr/>
        </p:nvPicPr>
        <p:blipFill>
          <a:blip r:embed="rId8"/>
          <a:srcRect r="67973"/>
          <a:stretch>
            <a:fillRect/>
          </a:stretch>
        </p:blipFill>
        <p:spPr>
          <a:xfrm>
            <a:off x="5690085" y="1359731"/>
            <a:ext cx="2199747" cy="1924319"/>
          </a:xfrm>
          <a:prstGeom prst="rect">
            <a:avLst/>
          </a:prstGeom>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E8842D8-3334-B168-6027-53B98CA6260A}"/>
                  </a:ext>
                </a:extLst>
              </p:cNvPr>
              <p:cNvSpPr txBox="1"/>
              <p:nvPr/>
            </p:nvSpPr>
            <p:spPr>
              <a:xfrm>
                <a:off x="472333" y="1543510"/>
                <a:ext cx="4851507" cy="1354217"/>
              </a:xfrm>
              <a:prstGeom prst="rect">
                <a:avLst/>
              </a:prstGeom>
              <a:noFill/>
            </p:spPr>
            <p:txBody>
              <a:bodyPr wrap="square">
                <a:spAutoFit/>
              </a:bodyPr>
              <a:lstStyle/>
              <a:p>
                <a:pPr marL="285750" indent="-285750">
                  <a:spcBef>
                    <a:spcPts val="1200"/>
                  </a:spcBef>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4.1 Word Swap</a:t>
                </a:r>
              </a:p>
              <a:p>
                <a:pPr>
                  <a:spcBef>
                    <a:spcPts val="1200"/>
                  </a:spcBef>
                </a:pPr>
                <a:r>
                  <a:rPr lang="en-US" altLang="zh-CN" dirty="0">
                    <a:latin typeface="Times New Roman" panose="02020603050405020304" pitchFamily="18" charset="0"/>
                    <a:cs typeface="Times New Roman" panose="02020603050405020304" pitchFamily="18" charset="0"/>
                  </a:rPr>
                  <a:t>When swapping a word in the prompt, we inject the source image maps </a:t>
                </a:r>
                <a14:m>
                  <m:oMath xmlns:m="http://schemas.openxmlformats.org/officeDocument/2006/math">
                    <m:sSub>
                      <m:sSubPr>
                        <m:ctrlPr>
                          <a:rPr lang="en-US" altLang="zh-CN" i="1" dirty="0" smtClean="0">
                            <a:latin typeface="Cambria Math" panose="02040503050406030204" pitchFamily="18" charset="0"/>
                            <a:cs typeface="Times New Roman" panose="02020603050405020304" pitchFamily="18" charset="0"/>
                          </a:rPr>
                        </m:ctrlPr>
                      </m:sSubPr>
                      <m:e>
                        <m:r>
                          <a:rPr lang="en-US" altLang="zh-CN" b="0" i="1" dirty="0" smtClean="0">
                            <a:latin typeface="Cambria Math" panose="02040503050406030204" pitchFamily="18" charset="0"/>
                            <a:cs typeface="Times New Roman" panose="02020603050405020304" pitchFamily="18" charset="0"/>
                          </a:rPr>
                          <m:t>𝑀</m:t>
                        </m:r>
                      </m:e>
                      <m:sub>
                        <m:r>
                          <a:rPr lang="en-US" altLang="zh-CN" b="0" i="1" dirty="0" smtClean="0">
                            <a:latin typeface="Cambria Math" panose="02040503050406030204" pitchFamily="18" charset="0"/>
                            <a:cs typeface="Times New Roman" panose="02020603050405020304" pitchFamily="18" charset="0"/>
                          </a:rPr>
                          <m:t>𝑡</m:t>
                        </m:r>
                      </m:sub>
                    </m:sSub>
                  </m:oMath>
                </a14:m>
                <a:r>
                  <a:rPr lang="en-US" altLang="zh-CN" dirty="0">
                    <a:latin typeface="Times New Roman" panose="02020603050405020304" pitchFamily="18" charset="0"/>
                    <a:cs typeface="Times New Roman" panose="02020603050405020304" pitchFamily="18" charset="0"/>
                  </a:rPr>
                  <a:t>, overriding the target image maps </a:t>
                </a:r>
                <a14:m>
                  <m:oMath xmlns:m="http://schemas.openxmlformats.org/officeDocument/2006/math">
                    <m:sSubSup>
                      <m:sSubSupPr>
                        <m:ctrlPr>
                          <a:rPr lang="en-US" altLang="zh-CN" i="1" smtClean="0">
                            <a:latin typeface="Cambria Math" panose="02040503050406030204" pitchFamily="18" charset="0"/>
                            <a:cs typeface="Times New Roman" panose="02020603050405020304" pitchFamily="18" charset="0"/>
                          </a:rPr>
                        </m:ctrlPr>
                      </m:sSubSupPr>
                      <m:e>
                        <m:r>
                          <a:rPr lang="en-US" altLang="zh-CN" b="0" i="1" smtClean="0">
                            <a:latin typeface="Cambria Math" panose="02040503050406030204" pitchFamily="18" charset="0"/>
                            <a:cs typeface="Times New Roman" panose="02020603050405020304" pitchFamily="18" charset="0"/>
                          </a:rPr>
                          <m:t>𝑀</m:t>
                        </m:r>
                      </m:e>
                      <m:sub>
                        <m:r>
                          <a:rPr lang="en-US" altLang="zh-CN" b="0" i="1" smtClean="0">
                            <a:latin typeface="Cambria Math" panose="02040503050406030204" pitchFamily="18" charset="0"/>
                            <a:cs typeface="Times New Roman" panose="02020603050405020304" pitchFamily="18" charset="0"/>
                          </a:rPr>
                          <m:t>𝑡</m:t>
                        </m:r>
                      </m:sub>
                      <m:sup>
                        <m:r>
                          <a:rPr lang="en-US" altLang="zh-CN" b="0" i="1" smtClean="0">
                            <a:latin typeface="Cambria Math" panose="02040503050406030204" pitchFamily="18" charset="0"/>
                            <a:cs typeface="Times New Roman" panose="02020603050405020304" pitchFamily="18" charset="0"/>
                          </a:rPr>
                          <m:t>∗</m:t>
                        </m:r>
                      </m:sup>
                    </m:sSubSup>
                  </m:oMath>
                </a14:m>
                <a:r>
                  <a:rPr lang="en-US" altLang="zh-CN" dirty="0">
                    <a:latin typeface="Times New Roman" panose="02020603050405020304" pitchFamily="18" charset="0"/>
                    <a:cs typeface="Times New Roman" panose="02020603050405020304" pitchFamily="18" charset="0"/>
                  </a:rPr>
                  <a:t>, to preserve the spatial layout.</a:t>
                </a:r>
              </a:p>
            </p:txBody>
          </p:sp>
        </mc:Choice>
        <mc:Fallback xmlns="">
          <p:sp>
            <p:nvSpPr>
              <p:cNvPr id="16" name="文本框 15">
                <a:extLst>
                  <a:ext uri="{FF2B5EF4-FFF2-40B4-BE49-F238E27FC236}">
                    <a16:creationId xmlns:a16="http://schemas.microsoft.com/office/drawing/2014/main" id="{7E8842D8-3334-B168-6027-53B98CA6260A}"/>
                  </a:ext>
                </a:extLst>
              </p:cNvPr>
              <p:cNvSpPr txBox="1">
                <a:spLocks noRot="1" noChangeAspect="1" noMove="1" noResize="1" noEditPoints="1" noAdjustHandles="1" noChangeArrowheads="1" noChangeShapeType="1" noTextEdit="1"/>
              </p:cNvSpPr>
              <p:nvPr/>
            </p:nvSpPr>
            <p:spPr>
              <a:xfrm>
                <a:off x="472333" y="1543510"/>
                <a:ext cx="4851507" cy="1354217"/>
              </a:xfrm>
              <a:prstGeom prst="rect">
                <a:avLst/>
              </a:prstGeom>
              <a:blipFill>
                <a:blip r:embed="rId9"/>
                <a:stretch>
                  <a:fillRect l="-1005" t="-2252" b="-6306"/>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AE353CA8-EDDA-CD96-47CC-0D377C169C2F}"/>
              </a:ext>
            </a:extLst>
          </p:cNvPr>
          <p:cNvSpPr txBox="1"/>
          <p:nvPr/>
        </p:nvSpPr>
        <p:spPr>
          <a:xfrm>
            <a:off x="2060478" y="3679349"/>
            <a:ext cx="9458960" cy="442814"/>
          </a:xfrm>
          <a:prstGeom prst="rect">
            <a:avLst/>
          </a:prstGeom>
          <a:noFill/>
        </p:spPr>
        <p:txBody>
          <a:bodyPr wrap="square">
            <a:spAutoFit/>
          </a:bodyPr>
          <a:lstStyle/>
          <a:p>
            <a:pPr>
              <a:lnSpc>
                <a:spcPts val="1425"/>
              </a:lnSpc>
              <a:buNone/>
            </a:pPr>
            <a:r>
              <a:rPr lang="en-US" altLang="zh-CN" sz="1100" b="0" dirty="0">
                <a:solidFill>
                  <a:srgbClr val="3B3B3B"/>
                </a:solidFill>
                <a:effectLst/>
                <a:latin typeface="Consolas" panose="020B0609020204030204" pitchFamily="49" charset="0"/>
              </a:rPr>
              <a:t>    </a:t>
            </a:r>
            <a:r>
              <a:rPr lang="en-US" altLang="zh-CN" sz="1100" b="0" dirty="0">
                <a:solidFill>
                  <a:srgbClr val="0000FF"/>
                </a:solidFill>
                <a:effectLst/>
                <a:latin typeface="Consolas" panose="020B0609020204030204" pitchFamily="49" charset="0"/>
              </a:rPr>
              <a:t>def</a:t>
            </a:r>
            <a:r>
              <a:rPr lang="en-US" altLang="zh-CN" sz="1100" b="0" dirty="0">
                <a:solidFill>
                  <a:srgbClr val="3B3B3B"/>
                </a:solidFill>
                <a:effectLst/>
                <a:latin typeface="Consolas" panose="020B0609020204030204" pitchFamily="49" charset="0"/>
              </a:rPr>
              <a:t> </a:t>
            </a:r>
            <a:r>
              <a:rPr lang="en-US" altLang="zh-CN" sz="1100" b="0" dirty="0" err="1">
                <a:solidFill>
                  <a:srgbClr val="795E26"/>
                </a:solidFill>
                <a:effectLst/>
                <a:latin typeface="Consolas" panose="020B0609020204030204" pitchFamily="49" charset="0"/>
              </a:rPr>
              <a:t>replace_cross_attention</a:t>
            </a:r>
            <a:r>
              <a:rPr lang="en-US" altLang="zh-CN" sz="1100" b="0" dirty="0">
                <a:solidFill>
                  <a:srgbClr val="3B3B3B"/>
                </a:solidFill>
                <a:effectLst/>
                <a:latin typeface="Consolas" panose="020B0609020204030204" pitchFamily="49" charset="0"/>
              </a:rPr>
              <a:t>(</a:t>
            </a:r>
            <a:r>
              <a:rPr lang="en-US" altLang="zh-CN" sz="1100" b="0" dirty="0">
                <a:solidFill>
                  <a:srgbClr val="001080"/>
                </a:solidFill>
                <a:effectLst/>
                <a:latin typeface="Consolas" panose="020B0609020204030204" pitchFamily="49" charset="0"/>
              </a:rPr>
              <a:t>self</a:t>
            </a: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attn_base</a:t>
            </a: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att_replace</a:t>
            </a:r>
            <a:r>
              <a:rPr lang="en-US" altLang="zh-CN" sz="1100" b="0" dirty="0">
                <a:solidFill>
                  <a:srgbClr val="3B3B3B"/>
                </a:solidFill>
                <a:effectLst/>
                <a:latin typeface="Consolas" panose="020B0609020204030204" pitchFamily="49" charset="0"/>
              </a:rPr>
              <a:t>):</a:t>
            </a:r>
          </a:p>
          <a:p>
            <a:pPr>
              <a:lnSpc>
                <a:spcPts val="1425"/>
              </a:lnSpc>
              <a:buNone/>
            </a:pPr>
            <a:r>
              <a:rPr lang="en-US" altLang="zh-CN" sz="1100" b="0" dirty="0">
                <a:solidFill>
                  <a:srgbClr val="3B3B3B"/>
                </a:solidFill>
                <a:effectLst/>
                <a:latin typeface="Consolas" panose="020B0609020204030204" pitchFamily="49" charset="0"/>
              </a:rPr>
              <a:t>        </a:t>
            </a:r>
            <a:r>
              <a:rPr lang="en-US" altLang="zh-CN" sz="1100" b="0" dirty="0">
                <a:solidFill>
                  <a:srgbClr val="AF00DB"/>
                </a:solidFill>
                <a:effectLst/>
                <a:latin typeface="Consolas" panose="020B0609020204030204" pitchFamily="49" charset="0"/>
              </a:rPr>
              <a:t>return</a:t>
            </a:r>
            <a:r>
              <a:rPr lang="en-US" altLang="zh-CN" sz="1100" b="0" dirty="0">
                <a:solidFill>
                  <a:srgbClr val="3B3B3B"/>
                </a:solidFill>
                <a:effectLst/>
                <a:latin typeface="Consolas" panose="020B0609020204030204" pitchFamily="49" charset="0"/>
              </a:rPr>
              <a:t> </a:t>
            </a:r>
            <a:r>
              <a:rPr lang="en-US" altLang="zh-CN" sz="1100" b="0" dirty="0" err="1">
                <a:solidFill>
                  <a:srgbClr val="267F99"/>
                </a:solidFill>
                <a:effectLst/>
                <a:latin typeface="Consolas" panose="020B0609020204030204" pitchFamily="49" charset="0"/>
              </a:rPr>
              <a:t>torch</a:t>
            </a:r>
            <a:r>
              <a:rPr lang="en-US" altLang="zh-CN" sz="1100" b="0" dirty="0" err="1">
                <a:solidFill>
                  <a:srgbClr val="3B3B3B"/>
                </a:solidFill>
                <a:effectLst/>
                <a:latin typeface="Consolas" panose="020B0609020204030204" pitchFamily="49" charset="0"/>
              </a:rPr>
              <a:t>.</a:t>
            </a:r>
            <a:r>
              <a:rPr lang="en-US" altLang="zh-CN" sz="1100" b="0" dirty="0" err="1">
                <a:solidFill>
                  <a:srgbClr val="795E26"/>
                </a:solidFill>
                <a:effectLst/>
                <a:latin typeface="Consolas" panose="020B0609020204030204" pitchFamily="49" charset="0"/>
              </a:rPr>
              <a:t>einsum</a:t>
            </a:r>
            <a:r>
              <a:rPr lang="en-US" altLang="zh-CN" sz="1100" b="0" dirty="0">
                <a:solidFill>
                  <a:srgbClr val="3B3B3B"/>
                </a:solidFill>
                <a:effectLst/>
                <a:latin typeface="Consolas" panose="020B0609020204030204" pitchFamily="49" charset="0"/>
              </a:rPr>
              <a:t>(</a:t>
            </a:r>
            <a:r>
              <a:rPr lang="en-US" altLang="zh-CN" sz="1100" b="0" dirty="0">
                <a:solidFill>
                  <a:srgbClr val="A31515"/>
                </a:solidFill>
                <a:effectLst/>
                <a:latin typeface="Consolas" panose="020B0609020204030204" pitchFamily="49" charset="0"/>
              </a:rPr>
              <a:t>'</a:t>
            </a:r>
            <a:r>
              <a:rPr lang="en-US" altLang="zh-CN" sz="1100" b="0" dirty="0" err="1">
                <a:solidFill>
                  <a:srgbClr val="A31515"/>
                </a:solidFill>
                <a:effectLst/>
                <a:latin typeface="Consolas" panose="020B0609020204030204" pitchFamily="49" charset="0"/>
              </a:rPr>
              <a:t>hpw,bwn</a:t>
            </a:r>
            <a:r>
              <a:rPr lang="en-US" altLang="zh-CN" sz="1100" b="0" dirty="0">
                <a:solidFill>
                  <a:srgbClr val="A31515"/>
                </a:solidFill>
                <a:effectLst/>
                <a:latin typeface="Consolas" panose="020B0609020204030204" pitchFamily="49" charset="0"/>
              </a:rPr>
              <a:t>-&gt;</a:t>
            </a:r>
            <a:r>
              <a:rPr lang="en-US" altLang="zh-CN" sz="1100" b="0" dirty="0" err="1">
                <a:solidFill>
                  <a:srgbClr val="A31515"/>
                </a:solidFill>
                <a:effectLst/>
                <a:latin typeface="Consolas" panose="020B0609020204030204" pitchFamily="49" charset="0"/>
              </a:rPr>
              <a:t>bhpn</a:t>
            </a:r>
            <a:r>
              <a:rPr lang="en-US" altLang="zh-CN" sz="1100" b="0" dirty="0">
                <a:solidFill>
                  <a:srgbClr val="A31515"/>
                </a:solidFill>
                <a:effectLst/>
                <a:latin typeface="Consolas" panose="020B0609020204030204" pitchFamily="49" charset="0"/>
              </a:rPr>
              <a:t>'</a:t>
            </a: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attn_base</a:t>
            </a: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self</a:t>
            </a:r>
            <a:r>
              <a:rPr lang="en-US" altLang="zh-CN" sz="1100" b="0" dirty="0" err="1">
                <a:solidFill>
                  <a:srgbClr val="3B3B3B"/>
                </a:solidFill>
                <a:effectLst/>
                <a:latin typeface="Consolas" panose="020B0609020204030204" pitchFamily="49" charset="0"/>
              </a:rPr>
              <a:t>.</a:t>
            </a:r>
            <a:r>
              <a:rPr lang="en-US" altLang="zh-CN" sz="1100" b="0" dirty="0" err="1">
                <a:solidFill>
                  <a:srgbClr val="001080"/>
                </a:solidFill>
                <a:effectLst/>
                <a:latin typeface="Consolas" panose="020B0609020204030204" pitchFamily="49" charset="0"/>
              </a:rPr>
              <a:t>mapper</a:t>
            </a:r>
            <a:r>
              <a:rPr lang="en-US" altLang="zh-CN" sz="1100" b="0" dirty="0">
                <a:solidFill>
                  <a:srgbClr val="3B3B3B"/>
                </a:solidFill>
                <a:effectLst/>
                <a:latin typeface="Consolas" panose="020B0609020204030204" pitchFamily="49" charset="0"/>
              </a:rPr>
              <a:t>)</a:t>
            </a: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2160C77A-4C34-9949-AF07-2168FF52CA0D}"/>
                  </a:ext>
                </a:extLst>
              </p:cNvPr>
              <p:cNvSpPr txBox="1"/>
              <p:nvPr/>
            </p:nvSpPr>
            <p:spPr>
              <a:xfrm>
                <a:off x="101716" y="4303977"/>
                <a:ext cx="12090284" cy="2300630"/>
              </a:xfrm>
              <a:prstGeom prst="rect">
                <a:avLst/>
              </a:prstGeom>
              <a:noFill/>
            </p:spPr>
            <p:txBody>
              <a:bodyPr wrap="square">
                <a:spAutoFit/>
              </a:bodyPr>
              <a:lstStyle/>
              <a:p>
                <a:pPr marL="285750" indent="-285750">
                  <a:spcBef>
                    <a:spcPts val="1200"/>
                  </a:spcBef>
                  <a:spcAft>
                    <a:spcPts val="1200"/>
                  </a:spcAft>
                  <a:buFont typeface="Arial" panose="020B0604020202020204" pitchFamily="34" charset="0"/>
                  <a:buChar char="•"/>
                </a:pPr>
                <a:r>
                  <a:rPr lang="en-US" altLang="zh-CN" sz="1400" dirty="0">
                    <a:solidFill>
                      <a:srgbClr val="001080"/>
                    </a:solidFill>
                    <a:latin typeface="Consolas" panose="020B0609020204030204" pitchFamily="49" charset="0"/>
                  </a:rPr>
                  <a:t>mapper</a:t>
                </a:r>
                <a:r>
                  <a:rPr lang="en-US" altLang="zh-CN" sz="1600" b="0" i="0" dirty="0">
                    <a:solidFill>
                      <a:srgbClr val="0F1115"/>
                    </a:solidFill>
                    <a:effectLst/>
                    <a:latin typeface="Times New Roman" panose="02020603050405020304" pitchFamily="18" charset="0"/>
                    <a:cs typeface="Times New Roman" panose="02020603050405020304" pitchFamily="18" charset="0"/>
                  </a:rPr>
                  <a:t>: a matrix that tells the program "word </a:t>
                </a:r>
                <a14:m>
                  <m:oMath xmlns:m="http://schemas.openxmlformats.org/officeDocument/2006/math">
                    <m:r>
                      <a:rPr lang="en-US" altLang="zh-CN" sz="1600" b="0" i="1" dirty="0" smtClean="0">
                        <a:solidFill>
                          <a:srgbClr val="0F1115"/>
                        </a:solidFill>
                        <a:effectLst/>
                        <a:latin typeface="Cambria Math" panose="02040503050406030204" pitchFamily="18" charset="0"/>
                        <a:cs typeface="Times New Roman" panose="02020603050405020304" pitchFamily="18" charset="0"/>
                      </a:rPr>
                      <m:t>𝑖</m:t>
                    </m:r>
                  </m:oMath>
                </a14:m>
                <a:r>
                  <a:rPr lang="en-US" altLang="zh-CN" sz="1600" b="0" i="0" dirty="0">
                    <a:solidFill>
                      <a:srgbClr val="0F1115"/>
                    </a:solidFill>
                    <a:effectLst/>
                    <a:latin typeface="Times New Roman" panose="02020603050405020304" pitchFamily="18" charset="0"/>
                    <a:cs typeface="Times New Roman" panose="02020603050405020304" pitchFamily="18" charset="0"/>
                  </a:rPr>
                  <a:t> in the original prompt → which word in the target prompt it should map to".</a:t>
                </a:r>
              </a:p>
              <a:p>
                <a:pPr marL="285750" indent="-285750">
                  <a:lnSpc>
                    <a:spcPts val="1650"/>
                  </a:lnSpc>
                  <a:spcBef>
                    <a:spcPts val="450"/>
                  </a:spcBef>
                  <a:spcAft>
                    <a:spcPts val="1200"/>
                  </a:spcAft>
                  <a:buFont typeface="Arial" panose="020B0604020202020204" pitchFamily="34" charset="0"/>
                  <a:buChar char="•"/>
                </a:pPr>
                <a:r>
                  <a:rPr lang="en-US" altLang="zh-CN" sz="1600" b="1" i="0" dirty="0">
                    <a:solidFill>
                      <a:srgbClr val="0F1115"/>
                    </a:solidFill>
                    <a:effectLst/>
                    <a:latin typeface="Times New Roman" panose="02020603050405020304" pitchFamily="18" charset="0"/>
                    <a:cs typeface="Times New Roman" panose="02020603050405020304" pitchFamily="18" charset="0"/>
                  </a:rPr>
                  <a:t>Computation</a:t>
                </a:r>
                <a:r>
                  <a:rPr lang="en-US" altLang="zh-CN" sz="1600" b="0" i="0" dirty="0">
                    <a:solidFill>
                      <a:srgbClr val="0F1115"/>
                    </a:solidFill>
                    <a:effectLst/>
                    <a:latin typeface="Times New Roman" panose="02020603050405020304" pitchFamily="18" charset="0"/>
                    <a:cs typeface="Times New Roman" panose="02020603050405020304" pitchFamily="18" charset="0"/>
                  </a:rPr>
                  <a:t>: </a:t>
                </a:r>
                <a:r>
                  <a:rPr lang="en-US" altLang="zh-CN" sz="1600" b="0" dirty="0">
                    <a:solidFill>
                      <a:srgbClr val="001080"/>
                    </a:solidFill>
                    <a:effectLst/>
                    <a:latin typeface="Consolas" panose="020B0609020204030204" pitchFamily="49" charset="0"/>
                  </a:rPr>
                  <a:t> </a:t>
                </a:r>
                <a:r>
                  <a:rPr lang="en-US" altLang="zh-CN" sz="1200" dirty="0" err="1">
                    <a:solidFill>
                      <a:srgbClr val="001080"/>
                    </a:solidFill>
                    <a:latin typeface="Consolas" panose="020B0609020204030204" pitchFamily="49" charset="0"/>
                  </a:rPr>
                  <a:t>attn_base</a:t>
                </a:r>
                <a:r>
                  <a:rPr lang="en-US" altLang="zh-CN" sz="1200" dirty="0">
                    <a:latin typeface="Consolas" panose="020B0609020204030204" pitchFamily="49" charset="0"/>
                  </a:rPr>
                  <a:t> </a:t>
                </a:r>
                <a:r>
                  <a:rPr lang="en-US" altLang="zh-CN" sz="1600" b="0" i="0" dirty="0">
                    <a:solidFill>
                      <a:srgbClr val="0F1115"/>
                    </a:solidFill>
                    <a:effectLst/>
                    <a:latin typeface="Times New Roman" panose="02020603050405020304" pitchFamily="18" charset="0"/>
                    <a:cs typeface="Times New Roman" panose="02020603050405020304" pitchFamily="18" charset="0"/>
                  </a:rPr>
                  <a:t>represents how much the original words attend to each image position [shape: heads × positions × source tokens].</a:t>
                </a:r>
                <a:br>
                  <a:rPr lang="en-US" altLang="zh-CN" sz="1600" b="0" i="0" dirty="0">
                    <a:solidFill>
                      <a:srgbClr val="0F1115"/>
                    </a:solidFill>
                    <a:effectLst/>
                    <a:latin typeface="Times New Roman" panose="02020603050405020304" pitchFamily="18" charset="0"/>
                    <a:cs typeface="Times New Roman" panose="02020603050405020304" pitchFamily="18" charset="0"/>
                  </a:rPr>
                </a:br>
                <a:r>
                  <a:rPr lang="en-US" altLang="zh-CN" sz="1600" b="0" i="0" dirty="0">
                    <a:solidFill>
                      <a:srgbClr val="0F1115"/>
                    </a:solidFill>
                    <a:effectLst/>
                    <a:latin typeface="Times New Roman" panose="02020603050405020304" pitchFamily="18" charset="0"/>
                    <a:cs typeface="Times New Roman" panose="02020603050405020304" pitchFamily="18" charset="0"/>
                  </a:rPr>
                  <a:t>Multiplying with </a:t>
                </a:r>
                <a:r>
                  <a:rPr lang="en-US" altLang="zh-CN" sz="1200" dirty="0">
                    <a:solidFill>
                      <a:srgbClr val="001080"/>
                    </a:solidFill>
                    <a:latin typeface="Consolas" panose="020B0609020204030204" pitchFamily="49" charset="0"/>
                  </a:rPr>
                  <a:t> mapper</a:t>
                </a:r>
                <a:r>
                  <a:rPr lang="en-US" altLang="zh-CN" sz="1200" b="0" i="0" dirty="0">
                    <a:solidFill>
                      <a:srgbClr val="0F1115"/>
                    </a:solidFill>
                    <a:effectLst/>
                    <a:latin typeface="Times New Roman" panose="02020603050405020304" pitchFamily="18" charset="0"/>
                    <a:cs typeface="Times New Roman" panose="02020603050405020304" pitchFamily="18" charset="0"/>
                  </a:rPr>
                  <a:t> </a:t>
                </a:r>
                <a:r>
                  <a:rPr lang="en-US" altLang="zh-CN" sz="1600" b="0" i="0" dirty="0">
                    <a:solidFill>
                      <a:srgbClr val="0F1115"/>
                    </a:solidFill>
                    <a:effectLst/>
                    <a:latin typeface="Times New Roman" panose="02020603050405020304" pitchFamily="18" charset="0"/>
                    <a:cs typeface="Times New Roman" panose="02020603050405020304" pitchFamily="18" charset="0"/>
                  </a:rPr>
                  <a:t>[shape: batch size × </a:t>
                </a:r>
                <a:r>
                  <a:rPr lang="en-US" altLang="zh-CN" sz="1600" dirty="0">
                    <a:solidFill>
                      <a:srgbClr val="0F1115"/>
                    </a:solidFill>
                    <a:latin typeface="Times New Roman" panose="02020603050405020304" pitchFamily="18" charset="0"/>
                    <a:cs typeface="Times New Roman" panose="02020603050405020304" pitchFamily="18" charset="0"/>
                  </a:rPr>
                  <a:t>number of source tokens </a:t>
                </a:r>
                <a:r>
                  <a:rPr lang="en-US" altLang="zh-CN" sz="1600" b="0" i="0" dirty="0">
                    <a:solidFill>
                      <a:srgbClr val="0F1115"/>
                    </a:solidFill>
                    <a:effectLst/>
                    <a:latin typeface="Times New Roman" panose="02020603050405020304" pitchFamily="18" charset="0"/>
                    <a:cs typeface="Times New Roman" panose="02020603050405020304" pitchFamily="18" charset="0"/>
                  </a:rPr>
                  <a:t>× number of target </a:t>
                </a:r>
                <a:r>
                  <a:rPr lang="en-US" altLang="zh-CN" sz="1600" dirty="0">
                    <a:solidFill>
                      <a:srgbClr val="0F1115"/>
                    </a:solidFill>
                    <a:latin typeface="Times New Roman" panose="02020603050405020304" pitchFamily="18" charset="0"/>
                    <a:cs typeface="Times New Roman" panose="02020603050405020304" pitchFamily="18" charset="0"/>
                  </a:rPr>
                  <a:t>token</a:t>
                </a:r>
                <a:r>
                  <a:rPr lang="en-US" altLang="zh-CN" sz="1600" b="0" i="0" dirty="0">
                    <a:solidFill>
                      <a:srgbClr val="0F1115"/>
                    </a:solidFill>
                    <a:effectLst/>
                    <a:latin typeface="Times New Roman" panose="02020603050405020304" pitchFamily="18" charset="0"/>
                    <a:cs typeface="Times New Roman" panose="02020603050405020304" pitchFamily="18" charset="0"/>
                  </a:rPr>
                  <a:t>s]</a:t>
                </a:r>
                <a:r>
                  <a:rPr lang="en-US" altLang="zh-CN" sz="1400" b="0" i="0" dirty="0">
                    <a:solidFill>
                      <a:srgbClr val="0F1115"/>
                    </a:solidFill>
                    <a:effectLst/>
                    <a:latin typeface="Times New Roman" panose="02020603050405020304" pitchFamily="18" charset="0"/>
                    <a:cs typeface="Times New Roman" panose="02020603050405020304" pitchFamily="18" charset="0"/>
                  </a:rPr>
                  <a:t> </a:t>
                </a:r>
                <a:r>
                  <a:rPr lang="en-US" altLang="zh-CN" sz="1600" b="0" i="0" dirty="0">
                    <a:solidFill>
                      <a:srgbClr val="0F1115"/>
                    </a:solidFill>
                    <a:effectLst/>
                    <a:latin typeface="Times New Roman" panose="02020603050405020304" pitchFamily="18" charset="0"/>
                    <a:cs typeface="Times New Roman" panose="02020603050405020304" pitchFamily="18" charset="0"/>
                  </a:rPr>
                  <a:t>via </a:t>
                </a:r>
                <a:r>
                  <a:rPr lang="en-US" altLang="zh-CN" sz="1200" dirty="0" err="1">
                    <a:solidFill>
                      <a:srgbClr val="795E26"/>
                    </a:solidFill>
                    <a:latin typeface="Consolas" panose="020B0609020204030204" pitchFamily="49" charset="0"/>
                  </a:rPr>
                  <a:t>einsum</a:t>
                </a:r>
                <a:r>
                  <a:rPr lang="en-US" altLang="zh-CN" sz="1600" dirty="0">
                    <a:solidFill>
                      <a:srgbClr val="0F1115"/>
                    </a:solidFill>
                    <a:latin typeface="Times New Roman" panose="02020603050405020304" pitchFamily="18" charset="0"/>
                    <a:cs typeface="Times New Roman" panose="02020603050405020304" pitchFamily="18" charset="0"/>
                  </a:rPr>
                  <a:t>, </a:t>
                </a:r>
                <a:r>
                  <a:rPr lang="en-US" altLang="zh-CN" sz="1600" b="1" dirty="0">
                    <a:solidFill>
                      <a:srgbClr val="0F1115"/>
                    </a:solidFill>
                    <a:latin typeface="Times New Roman" panose="02020603050405020304" pitchFamily="18" charset="0"/>
                    <a:cs typeface="Times New Roman" panose="02020603050405020304" pitchFamily="18" charset="0"/>
                  </a:rPr>
                  <a:t>mapping the source attention from the word </a:t>
                </a:r>
                <a:r>
                  <a:rPr lang="en-US" altLang="zh-CN" sz="1600" b="1" i="1" dirty="0">
                    <a:solidFill>
                      <a:srgbClr val="0F1115"/>
                    </a:solidFill>
                    <a:latin typeface="Times New Roman" panose="02020603050405020304" pitchFamily="18" charset="0"/>
                    <a:cs typeface="Times New Roman" panose="02020603050405020304" pitchFamily="18" charset="0"/>
                  </a:rPr>
                  <a:t>w</a:t>
                </a:r>
                <a:r>
                  <a:rPr lang="en-US" altLang="zh-CN" sz="1600" b="1" dirty="0">
                    <a:solidFill>
                      <a:srgbClr val="0F1115"/>
                    </a:solidFill>
                    <a:latin typeface="Times New Roman" panose="02020603050405020304" pitchFamily="18" charset="0"/>
                    <a:cs typeface="Times New Roman" panose="02020603050405020304" pitchFamily="18" charset="0"/>
                  </a:rPr>
                  <a:t> dimension to the target word </a:t>
                </a:r>
                <a:r>
                  <a:rPr lang="en-US" altLang="zh-CN" sz="1600" b="1" i="1" dirty="0">
                    <a:solidFill>
                      <a:srgbClr val="0F1115"/>
                    </a:solidFill>
                    <a:latin typeface="Times New Roman" panose="02020603050405020304" pitchFamily="18" charset="0"/>
                    <a:cs typeface="Times New Roman" panose="02020603050405020304" pitchFamily="18" charset="0"/>
                  </a:rPr>
                  <a:t>n</a:t>
                </a:r>
                <a:r>
                  <a:rPr lang="en-US" altLang="zh-CN" sz="1600" b="1" dirty="0">
                    <a:solidFill>
                      <a:srgbClr val="0F1115"/>
                    </a:solidFill>
                    <a:latin typeface="Times New Roman" panose="02020603050405020304" pitchFamily="18" charset="0"/>
                    <a:cs typeface="Times New Roman" panose="02020603050405020304" pitchFamily="18" charset="0"/>
                  </a:rPr>
                  <a:t> ​​dimension</a:t>
                </a:r>
                <a:r>
                  <a:rPr lang="en-US" altLang="zh-CN" sz="1600" dirty="0">
                    <a:solidFill>
                      <a:srgbClr val="0F1115"/>
                    </a:solidFill>
                    <a:latin typeface="Times New Roman" panose="02020603050405020304" pitchFamily="18" charset="0"/>
                    <a:cs typeface="Times New Roman" panose="02020603050405020304" pitchFamily="18" charset="0"/>
                  </a:rPr>
                  <a:t>, </a:t>
                </a:r>
                <a:r>
                  <a:rPr lang="en-US" altLang="zh-CN" sz="1600" b="0" i="0" dirty="0">
                    <a:solidFill>
                      <a:srgbClr val="0F1115"/>
                    </a:solidFill>
                    <a:effectLst/>
                    <a:latin typeface="Times New Roman" panose="02020603050405020304" pitchFamily="18" charset="0"/>
                    <a:cs typeface="Times New Roman" panose="02020603050405020304" pitchFamily="18" charset="0"/>
                  </a:rPr>
                  <a:t>produces an output that gives the attention of </a:t>
                </a:r>
                <a:r>
                  <a:rPr lang="en-US" altLang="zh-CN" sz="1600" b="1" i="0" dirty="0">
                    <a:solidFill>
                      <a:srgbClr val="0F1115"/>
                    </a:solidFill>
                    <a:effectLst/>
                    <a:latin typeface="Times New Roman" panose="02020603050405020304" pitchFamily="18" charset="0"/>
                    <a:cs typeface="Times New Roman" panose="02020603050405020304" pitchFamily="18" charset="0"/>
                  </a:rPr>
                  <a:t>each word in the target prompt</a:t>
                </a:r>
                <a:r>
                  <a:rPr lang="en-US" altLang="zh-CN" sz="1600" b="0" i="0" dirty="0">
                    <a:solidFill>
                      <a:srgbClr val="0F1115"/>
                    </a:solidFill>
                    <a:effectLst/>
                    <a:latin typeface="Times New Roman" panose="02020603050405020304" pitchFamily="18" charset="0"/>
                    <a:cs typeface="Times New Roman" panose="02020603050405020304" pitchFamily="18" charset="0"/>
                  </a:rPr>
                  <a:t> to each image position. </a:t>
                </a:r>
              </a:p>
              <a:p>
                <a:pPr marL="285750" indent="-285750">
                  <a:lnSpc>
                    <a:spcPts val="1650"/>
                  </a:lnSpc>
                  <a:spcBef>
                    <a:spcPts val="450"/>
                  </a:spcBef>
                  <a:spcAft>
                    <a:spcPts val="1200"/>
                  </a:spcAft>
                  <a:buFont typeface="Arial" panose="020B0604020202020204" pitchFamily="34" charset="0"/>
                  <a:buChar char="•"/>
                </a:pPr>
                <a:r>
                  <a:rPr lang="en-US" altLang="zh-CN" sz="1600" b="1" i="0" dirty="0">
                    <a:solidFill>
                      <a:srgbClr val="0F1115"/>
                    </a:solidFill>
                    <a:effectLst/>
                    <a:latin typeface="Times New Roman" panose="02020603050405020304" pitchFamily="18" charset="0"/>
                    <a:cs typeface="Times New Roman" panose="02020603050405020304" pitchFamily="18" charset="0"/>
                  </a:rPr>
                  <a:t>Effect</a:t>
                </a:r>
                <a:r>
                  <a:rPr lang="en-US" altLang="zh-CN" sz="1600" b="0" i="0" dirty="0">
                    <a:solidFill>
                      <a:srgbClr val="0F1115"/>
                    </a:solidFill>
                    <a:effectLst/>
                    <a:latin typeface="Times New Roman" panose="02020603050405020304" pitchFamily="18" charset="0"/>
                    <a:cs typeface="Times New Roman" panose="02020603050405020304" pitchFamily="18" charset="0"/>
                  </a:rPr>
                  <a:t>: </a:t>
                </a:r>
                <a:r>
                  <a:rPr lang="en-US" altLang="zh-CN" sz="1600" dirty="0">
                    <a:solidFill>
                      <a:srgbClr val="0F1115"/>
                    </a:solidFill>
                    <a:latin typeface="Times New Roman" panose="02020603050405020304" pitchFamily="18" charset="0"/>
                    <a:cs typeface="Times New Roman" panose="02020603050405020304" pitchFamily="18" charset="0"/>
                  </a:rPr>
                  <a:t>The attention originally for "bicycle" is forcibly redirected to "car," so the car appears in the original position of the bicycle while other areas remain unchanged.</a:t>
                </a:r>
                <a:br>
                  <a:rPr lang="en-US" altLang="zh-CN" sz="1600" b="0" i="0" dirty="0">
                    <a:solidFill>
                      <a:srgbClr val="0F1115"/>
                    </a:solidFill>
                    <a:effectLst/>
                    <a:latin typeface="Times New Roman" panose="02020603050405020304" pitchFamily="18" charset="0"/>
                    <a:cs typeface="Times New Roman" panose="02020603050405020304" pitchFamily="18" charset="0"/>
                  </a:rPr>
                </a:br>
                <a:r>
                  <a:rPr lang="en-US" altLang="zh-CN" sz="1600" b="0" i="0" dirty="0">
                    <a:solidFill>
                      <a:srgbClr val="0F1115"/>
                    </a:solidFill>
                    <a:effectLst/>
                    <a:latin typeface="Times New Roman" panose="02020603050405020304" pitchFamily="18" charset="0"/>
                    <a:cs typeface="Times New Roman" panose="02020603050405020304" pitchFamily="18" charset="0"/>
                  </a:rPr>
                  <a:t>→ Suitable for </a:t>
                </a:r>
                <a:r>
                  <a:rPr lang="en-US" altLang="zh-CN" sz="1600" b="1" i="0" dirty="0">
                    <a:solidFill>
                      <a:srgbClr val="0F1115"/>
                    </a:solidFill>
                    <a:effectLst/>
                    <a:latin typeface="Times New Roman" panose="02020603050405020304" pitchFamily="18" charset="0"/>
                    <a:cs typeface="Times New Roman" panose="02020603050405020304" pitchFamily="18" charset="0"/>
                  </a:rPr>
                  <a:t>word substitution</a:t>
                </a:r>
                <a:r>
                  <a:rPr lang="en-US" altLang="zh-CN" sz="1600" b="0" i="0" dirty="0">
                    <a:solidFill>
                      <a:srgbClr val="0F1115"/>
                    </a:solidFill>
                    <a:effectLst/>
                    <a:latin typeface="Times New Roman" panose="02020603050405020304" pitchFamily="18" charset="0"/>
                    <a:cs typeface="Times New Roman" panose="02020603050405020304" pitchFamily="18" charset="0"/>
                  </a:rPr>
                  <a:t> (e.g., “bicycle → car").</a:t>
                </a:r>
              </a:p>
            </p:txBody>
          </p:sp>
        </mc:Choice>
        <mc:Fallback xmlns="">
          <p:sp>
            <p:nvSpPr>
              <p:cNvPr id="22" name="文本框 21">
                <a:extLst>
                  <a:ext uri="{FF2B5EF4-FFF2-40B4-BE49-F238E27FC236}">
                    <a16:creationId xmlns:a16="http://schemas.microsoft.com/office/drawing/2014/main" id="{2160C77A-4C34-9949-AF07-2168FF52CA0D}"/>
                  </a:ext>
                </a:extLst>
              </p:cNvPr>
              <p:cNvSpPr txBox="1">
                <a:spLocks noRot="1" noChangeAspect="1" noMove="1" noResize="1" noEditPoints="1" noAdjustHandles="1" noChangeArrowheads="1" noChangeShapeType="1" noTextEdit="1"/>
              </p:cNvSpPr>
              <p:nvPr/>
            </p:nvSpPr>
            <p:spPr>
              <a:xfrm>
                <a:off x="101716" y="4303977"/>
                <a:ext cx="12090284" cy="2300630"/>
              </a:xfrm>
              <a:prstGeom prst="rect">
                <a:avLst/>
              </a:prstGeom>
              <a:blipFill>
                <a:blip r:embed="rId10"/>
                <a:stretch>
                  <a:fillRect l="-202" t="-796" b="-2653"/>
                </a:stretch>
              </a:blipFill>
            </p:spPr>
            <p:txBody>
              <a:bodyPr/>
              <a:lstStyle/>
              <a:p>
                <a:r>
                  <a:rPr lang="zh-CN" altLang="en-US">
                    <a:noFill/>
                  </a:rPr>
                  <a:t> </a:t>
                </a:r>
              </a:p>
            </p:txBody>
          </p:sp>
        </mc:Fallback>
      </mc:AlternateContent>
      <p:pic>
        <p:nvPicPr>
          <p:cNvPr id="25" name="图片 24">
            <a:extLst>
              <a:ext uri="{FF2B5EF4-FFF2-40B4-BE49-F238E27FC236}">
                <a16:creationId xmlns:a16="http://schemas.microsoft.com/office/drawing/2014/main" id="{C4B291EB-F38B-F463-779A-B7AFF1BDDA7E}"/>
              </a:ext>
            </a:extLst>
          </p:cNvPr>
          <p:cNvPicPr>
            <a:picLocks noChangeAspect="1"/>
          </p:cNvPicPr>
          <p:nvPr/>
        </p:nvPicPr>
        <p:blipFill>
          <a:blip r:embed="rId11"/>
          <a:stretch>
            <a:fillRect/>
          </a:stretch>
        </p:blipFill>
        <p:spPr>
          <a:xfrm>
            <a:off x="8579774" y="1497998"/>
            <a:ext cx="3480146" cy="1921040"/>
          </a:xfrm>
          <a:prstGeom prst="rect">
            <a:avLst/>
          </a:prstGeom>
        </p:spPr>
      </p:pic>
      <p:sp>
        <p:nvSpPr>
          <p:cNvPr id="2" name="灯片编号占位符 1">
            <a:extLst>
              <a:ext uri="{FF2B5EF4-FFF2-40B4-BE49-F238E27FC236}">
                <a16:creationId xmlns:a16="http://schemas.microsoft.com/office/drawing/2014/main" id="{7B3AC9BD-5DAE-F57C-0145-870BF181D567}"/>
              </a:ext>
            </a:extLst>
          </p:cNvPr>
          <p:cNvSpPr>
            <a:spLocks noGrp="1"/>
          </p:cNvSpPr>
          <p:nvPr>
            <p:ph type="sldNum" sz="quarter" idx="12"/>
          </p:nvPr>
        </p:nvSpPr>
        <p:spPr/>
        <p:txBody>
          <a:bodyPr/>
          <a:lstStyle/>
          <a:p>
            <a:fld id="{E6518835-16E6-9244-9C02-6BFB876E5D3C}" type="slidenum">
              <a:rPr kumimoji="1" lang="zh-CN" altLang="en-US" smtClean="0"/>
              <a:t>17</a:t>
            </a:fld>
            <a:endParaRPr kumimoji="1" lang="zh-CN" altLang="en-US"/>
          </a:p>
        </p:txBody>
      </p:sp>
    </p:spTree>
    <p:extLst>
      <p:ext uri="{BB962C8B-B14F-4D97-AF65-F5344CB8AC3E}">
        <p14:creationId xmlns:p14="http://schemas.microsoft.com/office/powerpoint/2010/main" val="1023613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1E501-8B33-F556-0D3B-F372E3ABAE89}"/>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FD930E20-37A9-F0EE-3810-4578890D2038}"/>
              </a:ext>
            </a:extLst>
          </p:cNvPr>
          <p:cNvSpPr/>
          <p:nvPr/>
        </p:nvSpPr>
        <p:spPr>
          <a:xfrm>
            <a:off x="-1" y="0"/>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DFD69DB9-EF02-DB10-6505-9016B3EC699C}"/>
              </a:ext>
            </a:extLst>
          </p:cNvPr>
          <p:cNvSpPr/>
          <p:nvPr/>
        </p:nvSpPr>
        <p:spPr>
          <a:xfrm>
            <a:off x="811930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6BCC7675-CFC3-9258-C3AB-DC6B32874B0E}"/>
              </a:ext>
            </a:extLst>
          </p:cNvPr>
          <p:cNvSpPr txBox="1"/>
          <p:nvPr/>
        </p:nvSpPr>
        <p:spPr>
          <a:xfrm>
            <a:off x="8648668" y="186379"/>
            <a:ext cx="829073" cy="461665"/>
          </a:xfrm>
          <a:prstGeom prst="rect">
            <a:avLst/>
          </a:prstGeom>
          <a:noFill/>
        </p:spPr>
        <p:txBody>
          <a:bodyPr vert="horz" wrap="none" rtlCol="0">
            <a:spAutoFit/>
          </a:bodyPr>
          <a:lstStyle/>
          <a:p>
            <a:pPr algn="ctr"/>
            <a:r>
              <a:rPr kumimoji="1" lang="en-US" altLang="zh-CN" sz="2400" b="1" spc="300" dirty="0">
                <a:solidFill>
                  <a:schemeClr val="accent1"/>
                </a:solidFill>
                <a:latin typeface="Times New Roman" panose="02020603050405020304" pitchFamily="18" charset="0"/>
                <a:cs typeface="Times New Roman" panose="02020603050405020304" pitchFamily="18" charset="0"/>
              </a:rPr>
              <a:t>P2P</a:t>
            </a:r>
            <a:endParaRPr kumimoji="1" lang="zh-CN" altLang="en-US" sz="2000" b="1" spc="300" dirty="0">
              <a:solidFill>
                <a:schemeClr val="accent1"/>
              </a:solidFill>
              <a:latin typeface="Times New Roman" panose="02020603050405020304" pitchFamily="18" charset="0"/>
              <a:cs typeface="Times New Roman" panose="02020603050405020304" pitchFamily="18" charset="0"/>
            </a:endParaRPr>
          </a:p>
        </p:txBody>
      </p:sp>
      <p:grpSp>
        <p:nvGrpSpPr>
          <p:cNvPr id="31" name="组合 30">
            <a:extLst>
              <a:ext uri="{FF2B5EF4-FFF2-40B4-BE49-F238E27FC236}">
                <a16:creationId xmlns:a16="http://schemas.microsoft.com/office/drawing/2014/main" id="{DDF924A6-7DB4-2CD8-463F-FF01A5A50B4E}"/>
              </a:ext>
            </a:extLst>
          </p:cNvPr>
          <p:cNvGrpSpPr/>
          <p:nvPr/>
        </p:nvGrpSpPr>
        <p:grpSpPr>
          <a:xfrm>
            <a:off x="370072" y="219176"/>
            <a:ext cx="2150839" cy="449040"/>
            <a:chOff x="2085654" y="644950"/>
            <a:chExt cx="7772400" cy="1622679"/>
          </a:xfrm>
        </p:grpSpPr>
        <p:pic>
          <p:nvPicPr>
            <p:cNvPr id="32" name="图片 31">
              <a:extLst>
                <a:ext uri="{FF2B5EF4-FFF2-40B4-BE49-F238E27FC236}">
                  <a16:creationId xmlns:a16="http://schemas.microsoft.com/office/drawing/2014/main" id="{7A6E056B-D6B7-109C-FA3C-8E5E8EB817AD}"/>
                </a:ext>
              </a:extLst>
            </p:cNvPr>
            <p:cNvPicPr>
              <a:picLocks noChangeAspect="1"/>
            </p:cNvPicPr>
            <p:nvPr/>
          </p:nvPicPr>
          <p:blipFill rotWithShape="1">
            <a:blip r:embed="rId3"/>
            <a:srcRect r="78982"/>
            <a:stretch/>
          </p:blipFill>
          <p:spPr>
            <a:xfrm>
              <a:off x="2085654" y="644950"/>
              <a:ext cx="1633591" cy="1622679"/>
            </a:xfrm>
            <a:prstGeom prst="rect">
              <a:avLst/>
            </a:prstGeom>
          </p:spPr>
        </p:pic>
        <p:pic>
          <p:nvPicPr>
            <p:cNvPr id="33" name="图片 32">
              <a:extLst>
                <a:ext uri="{FF2B5EF4-FFF2-40B4-BE49-F238E27FC236}">
                  <a16:creationId xmlns:a16="http://schemas.microsoft.com/office/drawing/2014/main" id="{A5D18AF8-4E51-3C05-CD5F-07D9C228BE7D}"/>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Lst>
            </a:blip>
            <a:srcRect l="23530"/>
            <a:stretch/>
          </p:blipFill>
          <p:spPr>
            <a:xfrm>
              <a:off x="3914454" y="644950"/>
              <a:ext cx="5943600" cy="1622679"/>
            </a:xfrm>
            <a:prstGeom prst="rect">
              <a:avLst/>
            </a:prstGeom>
          </p:spPr>
        </p:pic>
      </p:grpSp>
      <p:pic>
        <p:nvPicPr>
          <p:cNvPr id="2" name="图片 1">
            <a:extLst>
              <a:ext uri="{FF2B5EF4-FFF2-40B4-BE49-F238E27FC236}">
                <a16:creationId xmlns:a16="http://schemas.microsoft.com/office/drawing/2014/main" id="{0373B5C3-EA21-3663-3003-5198F360CD1C}"/>
              </a:ext>
            </a:extLst>
          </p:cNvPr>
          <p:cNvPicPr>
            <a:picLocks noChangeAspect="1"/>
          </p:cNvPicPr>
          <p:nvPr/>
        </p:nvPicPr>
        <p:blipFill>
          <a:blip r:embed="rId6"/>
          <a:srcRect l="33581" r="32693"/>
          <a:stretch>
            <a:fillRect/>
          </a:stretch>
        </p:blipFill>
        <p:spPr>
          <a:xfrm>
            <a:off x="6284098" y="1176766"/>
            <a:ext cx="1835206" cy="1524520"/>
          </a:xfrm>
          <a:prstGeom prst="rect">
            <a:avLst/>
          </a:prstGeom>
        </p:spPr>
      </p:pic>
      <p:sp>
        <p:nvSpPr>
          <p:cNvPr id="9" name="文本框 8">
            <a:extLst>
              <a:ext uri="{FF2B5EF4-FFF2-40B4-BE49-F238E27FC236}">
                <a16:creationId xmlns:a16="http://schemas.microsoft.com/office/drawing/2014/main" id="{666A8C20-DD20-A11C-1AD2-2338834E5B90}"/>
              </a:ext>
            </a:extLst>
          </p:cNvPr>
          <p:cNvSpPr txBox="1"/>
          <p:nvPr/>
        </p:nvSpPr>
        <p:spPr>
          <a:xfrm>
            <a:off x="416812" y="1063239"/>
            <a:ext cx="6096000" cy="1631216"/>
          </a:xfrm>
          <a:prstGeom prst="rect">
            <a:avLst/>
          </a:prstGeom>
          <a:noFill/>
        </p:spPr>
        <p:txBody>
          <a:bodyPr wrap="square">
            <a:spAutoFit/>
          </a:bodyPr>
          <a:lstStyle/>
          <a:p>
            <a:pPr marL="285750" indent="-285750">
              <a:spcBef>
                <a:spcPts val="1200"/>
              </a:spcBef>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4.2 Adding a New Phrase</a:t>
            </a:r>
          </a:p>
          <a:p>
            <a:pPr>
              <a:spcBef>
                <a:spcPts val="1200"/>
              </a:spcBef>
            </a:pPr>
            <a:r>
              <a:rPr lang="en-US" altLang="zh-CN" dirty="0">
                <a:latin typeface="Times New Roman" panose="02020603050405020304" pitchFamily="18" charset="0"/>
                <a:cs typeface="Times New Roman" panose="02020603050405020304" pitchFamily="18" charset="0"/>
              </a:rPr>
              <a:t>Inject only the maps that correspond to the unchanged part of the prompt, which enables editing of image details or styles while preserving the original image's spatial layout. The edit function is:</a:t>
            </a:r>
          </a:p>
        </p:txBody>
      </p:sp>
      <p:sp>
        <p:nvSpPr>
          <p:cNvPr id="13" name="文本框 12">
            <a:extLst>
              <a:ext uri="{FF2B5EF4-FFF2-40B4-BE49-F238E27FC236}">
                <a16:creationId xmlns:a16="http://schemas.microsoft.com/office/drawing/2014/main" id="{0B74FCB8-2BE1-BC26-79E0-9FBC479C55DE}"/>
              </a:ext>
            </a:extLst>
          </p:cNvPr>
          <p:cNvSpPr txBox="1"/>
          <p:nvPr/>
        </p:nvSpPr>
        <p:spPr>
          <a:xfrm>
            <a:off x="2838264" y="3545655"/>
            <a:ext cx="8398238" cy="981423"/>
          </a:xfrm>
          <a:prstGeom prst="rect">
            <a:avLst/>
          </a:prstGeom>
          <a:noFill/>
        </p:spPr>
        <p:txBody>
          <a:bodyPr wrap="square">
            <a:spAutoFit/>
          </a:bodyPr>
          <a:lstStyle/>
          <a:p>
            <a:pPr>
              <a:lnSpc>
                <a:spcPts val="1425"/>
              </a:lnSpc>
              <a:buNone/>
            </a:pPr>
            <a:r>
              <a:rPr lang="en-US" altLang="zh-CN" sz="1100" b="0" dirty="0">
                <a:solidFill>
                  <a:srgbClr val="3B3B3B"/>
                </a:solidFill>
                <a:effectLst/>
                <a:latin typeface="Consolas" panose="020B0609020204030204" pitchFamily="49" charset="0"/>
              </a:rPr>
              <a:t>    </a:t>
            </a:r>
            <a:r>
              <a:rPr lang="en-US" altLang="zh-CN" sz="1100" b="0" dirty="0">
                <a:solidFill>
                  <a:srgbClr val="0000FF"/>
                </a:solidFill>
                <a:effectLst/>
                <a:latin typeface="Consolas" panose="020B0609020204030204" pitchFamily="49" charset="0"/>
              </a:rPr>
              <a:t>def</a:t>
            </a:r>
            <a:r>
              <a:rPr lang="en-US" altLang="zh-CN" sz="1100" b="0" dirty="0">
                <a:solidFill>
                  <a:srgbClr val="3B3B3B"/>
                </a:solidFill>
                <a:effectLst/>
                <a:latin typeface="Consolas" panose="020B0609020204030204" pitchFamily="49" charset="0"/>
              </a:rPr>
              <a:t> </a:t>
            </a:r>
            <a:r>
              <a:rPr lang="en-US" altLang="zh-CN" sz="1100" b="0" dirty="0" err="1">
                <a:solidFill>
                  <a:srgbClr val="795E26"/>
                </a:solidFill>
                <a:effectLst/>
                <a:latin typeface="Consolas" panose="020B0609020204030204" pitchFamily="49" charset="0"/>
              </a:rPr>
              <a:t>replace_cross_attention</a:t>
            </a:r>
            <a:r>
              <a:rPr lang="en-US" altLang="zh-CN" sz="1100" b="0" dirty="0">
                <a:solidFill>
                  <a:srgbClr val="3B3B3B"/>
                </a:solidFill>
                <a:effectLst/>
                <a:latin typeface="Consolas" panose="020B0609020204030204" pitchFamily="49" charset="0"/>
              </a:rPr>
              <a:t>(</a:t>
            </a:r>
            <a:r>
              <a:rPr lang="en-US" altLang="zh-CN" sz="1100" b="0" dirty="0">
                <a:solidFill>
                  <a:srgbClr val="001080"/>
                </a:solidFill>
                <a:effectLst/>
                <a:latin typeface="Consolas" panose="020B0609020204030204" pitchFamily="49" charset="0"/>
              </a:rPr>
              <a:t>self</a:t>
            </a: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attn_base</a:t>
            </a: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att_replace</a:t>
            </a:r>
            <a:r>
              <a:rPr lang="en-US" altLang="zh-CN" sz="1100" b="0" dirty="0">
                <a:solidFill>
                  <a:srgbClr val="3B3B3B"/>
                </a:solidFill>
                <a:effectLst/>
                <a:latin typeface="Consolas" panose="020B0609020204030204" pitchFamily="49" charset="0"/>
              </a:rPr>
              <a:t>):</a:t>
            </a:r>
          </a:p>
          <a:p>
            <a:pPr>
              <a:lnSpc>
                <a:spcPts val="1425"/>
              </a:lnSpc>
              <a:buNone/>
            </a:pP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attn_base_replace</a:t>
            </a:r>
            <a:r>
              <a:rPr lang="en-US" altLang="zh-CN" sz="1100" b="0" dirty="0">
                <a:solidFill>
                  <a:srgbClr val="3B3B3B"/>
                </a:solidFill>
                <a:effectLst/>
                <a:latin typeface="Consolas" panose="020B0609020204030204" pitchFamily="49" charset="0"/>
              </a:rPr>
              <a:t> </a:t>
            </a:r>
            <a:r>
              <a:rPr lang="en-US" altLang="zh-CN" sz="1100" b="0" dirty="0">
                <a:solidFill>
                  <a:srgbClr val="000000"/>
                </a:solidFill>
                <a:effectLst/>
                <a:latin typeface="Consolas" panose="020B0609020204030204" pitchFamily="49" charset="0"/>
              </a:rPr>
              <a:t>=</a:t>
            </a: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attn_base</a:t>
            </a:r>
            <a:r>
              <a:rPr lang="en-US" altLang="zh-CN" sz="1100" b="0" dirty="0">
                <a:solidFill>
                  <a:srgbClr val="3B3B3B"/>
                </a:solidFill>
                <a:effectLst/>
                <a:latin typeface="Consolas" panose="020B0609020204030204" pitchFamily="49" charset="0"/>
              </a:rPr>
              <a:t>[:, :, </a:t>
            </a:r>
            <a:r>
              <a:rPr lang="en-US" altLang="zh-CN" sz="1100" b="0" dirty="0" err="1">
                <a:solidFill>
                  <a:srgbClr val="001080"/>
                </a:solidFill>
                <a:effectLst/>
                <a:latin typeface="Consolas" panose="020B0609020204030204" pitchFamily="49" charset="0"/>
              </a:rPr>
              <a:t>self</a:t>
            </a:r>
            <a:r>
              <a:rPr lang="en-US" altLang="zh-CN" sz="1100" b="0" dirty="0" err="1">
                <a:solidFill>
                  <a:srgbClr val="3B3B3B"/>
                </a:solidFill>
                <a:effectLst/>
                <a:latin typeface="Consolas" panose="020B0609020204030204" pitchFamily="49" charset="0"/>
              </a:rPr>
              <a:t>.</a:t>
            </a:r>
            <a:r>
              <a:rPr lang="en-US" altLang="zh-CN" sz="1100" b="0" dirty="0" err="1">
                <a:solidFill>
                  <a:srgbClr val="001080"/>
                </a:solidFill>
                <a:effectLst/>
                <a:latin typeface="Consolas" panose="020B0609020204030204" pitchFamily="49" charset="0"/>
              </a:rPr>
              <a:t>mapper</a:t>
            </a:r>
            <a:r>
              <a:rPr lang="en-US" altLang="zh-CN" sz="1100" b="0" dirty="0">
                <a:solidFill>
                  <a:srgbClr val="3B3B3B"/>
                </a:solidFill>
                <a:effectLst/>
                <a:latin typeface="Consolas" panose="020B0609020204030204" pitchFamily="49" charset="0"/>
              </a:rPr>
              <a:t>].permute(</a:t>
            </a:r>
            <a:r>
              <a:rPr lang="en-US" altLang="zh-CN" sz="1100" b="0" dirty="0">
                <a:solidFill>
                  <a:srgbClr val="098658"/>
                </a:solidFill>
                <a:effectLst/>
                <a:latin typeface="Consolas" panose="020B0609020204030204" pitchFamily="49" charset="0"/>
              </a:rPr>
              <a:t>2</a:t>
            </a:r>
            <a:r>
              <a:rPr lang="en-US" altLang="zh-CN" sz="1100" b="0" dirty="0">
                <a:solidFill>
                  <a:srgbClr val="3B3B3B"/>
                </a:solidFill>
                <a:effectLst/>
                <a:latin typeface="Consolas" panose="020B0609020204030204" pitchFamily="49" charset="0"/>
              </a:rPr>
              <a:t>, </a:t>
            </a:r>
            <a:r>
              <a:rPr lang="en-US" altLang="zh-CN" sz="1100" b="0" dirty="0">
                <a:solidFill>
                  <a:srgbClr val="098658"/>
                </a:solidFill>
                <a:effectLst/>
                <a:latin typeface="Consolas" panose="020B0609020204030204" pitchFamily="49" charset="0"/>
              </a:rPr>
              <a:t>0</a:t>
            </a:r>
            <a:r>
              <a:rPr lang="en-US" altLang="zh-CN" sz="1100" b="0" dirty="0">
                <a:solidFill>
                  <a:srgbClr val="3B3B3B"/>
                </a:solidFill>
                <a:effectLst/>
                <a:latin typeface="Consolas" panose="020B0609020204030204" pitchFamily="49" charset="0"/>
              </a:rPr>
              <a:t>, </a:t>
            </a:r>
            <a:r>
              <a:rPr lang="en-US" altLang="zh-CN" sz="1100" b="0" dirty="0">
                <a:solidFill>
                  <a:srgbClr val="098658"/>
                </a:solidFill>
                <a:effectLst/>
                <a:latin typeface="Consolas" panose="020B0609020204030204" pitchFamily="49" charset="0"/>
              </a:rPr>
              <a:t>1</a:t>
            </a:r>
            <a:r>
              <a:rPr lang="en-US" altLang="zh-CN" sz="1100" b="0" dirty="0">
                <a:solidFill>
                  <a:srgbClr val="3B3B3B"/>
                </a:solidFill>
                <a:effectLst/>
                <a:latin typeface="Consolas" panose="020B0609020204030204" pitchFamily="49" charset="0"/>
              </a:rPr>
              <a:t>, </a:t>
            </a:r>
            <a:r>
              <a:rPr lang="en-US" altLang="zh-CN" sz="1100" b="0" dirty="0">
                <a:solidFill>
                  <a:srgbClr val="098658"/>
                </a:solidFill>
                <a:effectLst/>
                <a:latin typeface="Consolas" panose="020B0609020204030204" pitchFamily="49" charset="0"/>
              </a:rPr>
              <a:t>3</a:t>
            </a:r>
            <a:r>
              <a:rPr lang="en-US" altLang="zh-CN" sz="1100" b="0" dirty="0">
                <a:solidFill>
                  <a:srgbClr val="3B3B3B"/>
                </a:solidFill>
                <a:effectLst/>
                <a:latin typeface="Consolas" panose="020B0609020204030204" pitchFamily="49" charset="0"/>
              </a:rPr>
              <a:t>)</a:t>
            </a:r>
          </a:p>
          <a:p>
            <a:pPr>
              <a:lnSpc>
                <a:spcPts val="1425"/>
              </a:lnSpc>
              <a:buNone/>
            </a:pP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attn_replace</a:t>
            </a:r>
            <a:r>
              <a:rPr lang="en-US" altLang="zh-CN" sz="1100" b="0" dirty="0">
                <a:solidFill>
                  <a:srgbClr val="3B3B3B"/>
                </a:solidFill>
                <a:effectLst/>
                <a:latin typeface="Consolas" panose="020B0609020204030204" pitchFamily="49" charset="0"/>
              </a:rPr>
              <a:t> </a:t>
            </a:r>
            <a:r>
              <a:rPr lang="en-US" altLang="zh-CN" sz="1100" b="0" dirty="0">
                <a:solidFill>
                  <a:srgbClr val="000000"/>
                </a:solidFill>
                <a:effectLst/>
                <a:latin typeface="Consolas" panose="020B0609020204030204" pitchFamily="49" charset="0"/>
              </a:rPr>
              <a:t>=</a:t>
            </a: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attn_base_replace</a:t>
            </a:r>
            <a:r>
              <a:rPr lang="en-US" altLang="zh-CN" sz="1100" b="0" dirty="0">
                <a:solidFill>
                  <a:srgbClr val="3B3B3B"/>
                </a:solidFill>
                <a:effectLst/>
                <a:latin typeface="Consolas" panose="020B0609020204030204" pitchFamily="49" charset="0"/>
              </a:rPr>
              <a:t> </a:t>
            </a:r>
            <a:r>
              <a:rPr lang="en-US" altLang="zh-CN" sz="1100" b="0" dirty="0">
                <a:solidFill>
                  <a:srgbClr val="795E26"/>
                </a:solidFill>
                <a:effectLst/>
                <a:latin typeface="Consolas" panose="020B0609020204030204" pitchFamily="49" charset="0"/>
              </a:rPr>
              <a:t>*</a:t>
            </a: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self</a:t>
            </a:r>
            <a:r>
              <a:rPr lang="en-US" altLang="zh-CN" sz="1100" b="0" dirty="0" err="1">
                <a:solidFill>
                  <a:srgbClr val="3B3B3B"/>
                </a:solidFill>
                <a:effectLst/>
                <a:latin typeface="Consolas" panose="020B0609020204030204" pitchFamily="49" charset="0"/>
              </a:rPr>
              <a:t>.</a:t>
            </a:r>
            <a:r>
              <a:rPr lang="en-US" altLang="zh-CN" sz="1100" b="0" dirty="0" err="1">
                <a:solidFill>
                  <a:srgbClr val="001080"/>
                </a:solidFill>
                <a:effectLst/>
                <a:latin typeface="Consolas" panose="020B0609020204030204" pitchFamily="49" charset="0"/>
              </a:rPr>
              <a:t>alphas</a:t>
            </a:r>
            <a:r>
              <a:rPr lang="en-US" altLang="zh-CN" sz="1100" b="0" dirty="0">
                <a:solidFill>
                  <a:srgbClr val="3B3B3B"/>
                </a:solidFill>
                <a:effectLst/>
                <a:latin typeface="Consolas" panose="020B0609020204030204" pitchFamily="49" charset="0"/>
              </a:rPr>
              <a:t> </a:t>
            </a:r>
            <a:r>
              <a:rPr lang="en-US" altLang="zh-CN" sz="1100" b="0" dirty="0">
                <a:solidFill>
                  <a:srgbClr val="000000"/>
                </a:solidFill>
                <a:effectLst/>
                <a:latin typeface="Consolas" panose="020B0609020204030204" pitchFamily="49" charset="0"/>
              </a:rPr>
              <a:t>+</a:t>
            </a: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att_replace</a:t>
            </a:r>
            <a:r>
              <a:rPr lang="en-US" altLang="zh-CN" sz="1100" b="0" dirty="0">
                <a:solidFill>
                  <a:srgbClr val="3B3B3B"/>
                </a:solidFill>
                <a:effectLst/>
                <a:latin typeface="Consolas" panose="020B0609020204030204" pitchFamily="49" charset="0"/>
              </a:rPr>
              <a:t> </a:t>
            </a:r>
            <a:r>
              <a:rPr lang="en-US" altLang="zh-CN" sz="1100" b="0" dirty="0">
                <a:solidFill>
                  <a:srgbClr val="795E26"/>
                </a:solidFill>
                <a:effectLst/>
                <a:latin typeface="Consolas" panose="020B0609020204030204" pitchFamily="49" charset="0"/>
              </a:rPr>
              <a:t>*</a:t>
            </a:r>
            <a:r>
              <a:rPr lang="en-US" altLang="zh-CN" sz="1100" b="0" dirty="0">
                <a:solidFill>
                  <a:srgbClr val="3B3B3B"/>
                </a:solidFill>
                <a:effectLst/>
                <a:latin typeface="Consolas" panose="020B0609020204030204" pitchFamily="49" charset="0"/>
              </a:rPr>
              <a:t> (</a:t>
            </a:r>
            <a:r>
              <a:rPr lang="en-US" altLang="zh-CN" sz="1100" b="0" dirty="0">
                <a:solidFill>
                  <a:srgbClr val="098658"/>
                </a:solidFill>
                <a:effectLst/>
                <a:latin typeface="Consolas" panose="020B0609020204030204" pitchFamily="49" charset="0"/>
              </a:rPr>
              <a:t>1</a:t>
            </a:r>
            <a:r>
              <a:rPr lang="en-US" altLang="zh-CN" sz="1100" b="0" dirty="0">
                <a:solidFill>
                  <a:srgbClr val="3B3B3B"/>
                </a:solidFill>
                <a:effectLst/>
                <a:latin typeface="Consolas" panose="020B0609020204030204" pitchFamily="49" charset="0"/>
              </a:rPr>
              <a:t> </a:t>
            </a:r>
            <a:r>
              <a:rPr lang="en-US" altLang="zh-CN" sz="1100" b="0" dirty="0">
                <a:solidFill>
                  <a:srgbClr val="000000"/>
                </a:solidFill>
                <a:effectLst/>
                <a:latin typeface="Consolas" panose="020B0609020204030204" pitchFamily="49" charset="0"/>
              </a:rPr>
              <a:t>-</a:t>
            </a: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self</a:t>
            </a:r>
            <a:r>
              <a:rPr lang="en-US" altLang="zh-CN" sz="1100" b="0" dirty="0" err="1">
                <a:solidFill>
                  <a:srgbClr val="3B3B3B"/>
                </a:solidFill>
                <a:effectLst/>
                <a:latin typeface="Consolas" panose="020B0609020204030204" pitchFamily="49" charset="0"/>
              </a:rPr>
              <a:t>.</a:t>
            </a:r>
            <a:r>
              <a:rPr lang="en-US" altLang="zh-CN" sz="1100" b="0" dirty="0" err="1">
                <a:solidFill>
                  <a:srgbClr val="001080"/>
                </a:solidFill>
                <a:effectLst/>
                <a:latin typeface="Consolas" panose="020B0609020204030204" pitchFamily="49" charset="0"/>
              </a:rPr>
              <a:t>alphas</a:t>
            </a:r>
            <a:r>
              <a:rPr lang="en-US" altLang="zh-CN" sz="1100" b="0" dirty="0">
                <a:solidFill>
                  <a:srgbClr val="3B3B3B"/>
                </a:solidFill>
                <a:effectLst/>
                <a:latin typeface="Consolas" panose="020B0609020204030204" pitchFamily="49" charset="0"/>
              </a:rPr>
              <a:t>)</a:t>
            </a:r>
          </a:p>
          <a:p>
            <a:pPr>
              <a:lnSpc>
                <a:spcPts val="1425"/>
              </a:lnSpc>
              <a:buNone/>
            </a:pPr>
            <a:r>
              <a:rPr lang="en-US" altLang="zh-CN" sz="1100" b="0" dirty="0">
                <a:solidFill>
                  <a:srgbClr val="3B3B3B"/>
                </a:solidFill>
                <a:effectLst/>
                <a:latin typeface="Consolas" panose="020B0609020204030204" pitchFamily="49" charset="0"/>
              </a:rPr>
              <a:t>        </a:t>
            </a:r>
            <a:r>
              <a:rPr lang="en-US" altLang="zh-CN" sz="1100" b="0" dirty="0">
                <a:solidFill>
                  <a:srgbClr val="008000"/>
                </a:solidFill>
                <a:effectLst/>
                <a:latin typeface="Consolas" panose="020B0609020204030204" pitchFamily="49" charset="0"/>
              </a:rPr>
              <a:t># </a:t>
            </a:r>
            <a:r>
              <a:rPr lang="en-US" altLang="zh-CN" sz="1100" b="0" dirty="0" err="1">
                <a:solidFill>
                  <a:srgbClr val="008000"/>
                </a:solidFill>
                <a:effectLst/>
                <a:latin typeface="Consolas" panose="020B0609020204030204" pitchFamily="49" charset="0"/>
              </a:rPr>
              <a:t>attn_replace</a:t>
            </a:r>
            <a:r>
              <a:rPr lang="en-US" altLang="zh-CN" sz="1100" b="0" dirty="0">
                <a:solidFill>
                  <a:srgbClr val="008000"/>
                </a:solidFill>
                <a:effectLst/>
                <a:latin typeface="Consolas" panose="020B0609020204030204" pitchFamily="49" charset="0"/>
              </a:rPr>
              <a:t> = </a:t>
            </a:r>
            <a:r>
              <a:rPr lang="en-US" altLang="zh-CN" sz="1100" b="0" dirty="0" err="1">
                <a:solidFill>
                  <a:srgbClr val="008000"/>
                </a:solidFill>
                <a:effectLst/>
                <a:latin typeface="Consolas" panose="020B0609020204030204" pitchFamily="49" charset="0"/>
              </a:rPr>
              <a:t>attn_replace</a:t>
            </a:r>
            <a:r>
              <a:rPr lang="en-US" altLang="zh-CN" sz="1100" b="0" dirty="0">
                <a:solidFill>
                  <a:srgbClr val="008000"/>
                </a:solidFill>
                <a:effectLst/>
                <a:latin typeface="Consolas" panose="020B0609020204030204" pitchFamily="49" charset="0"/>
              </a:rPr>
              <a:t> / </a:t>
            </a:r>
            <a:r>
              <a:rPr lang="en-US" altLang="zh-CN" sz="1100" b="0" dirty="0" err="1">
                <a:solidFill>
                  <a:srgbClr val="008000"/>
                </a:solidFill>
                <a:effectLst/>
                <a:latin typeface="Consolas" panose="020B0609020204030204" pitchFamily="49" charset="0"/>
              </a:rPr>
              <a:t>attn_replace.sum</a:t>
            </a:r>
            <a:r>
              <a:rPr lang="en-US" altLang="zh-CN" sz="1100" b="0" dirty="0">
                <a:solidFill>
                  <a:srgbClr val="008000"/>
                </a:solidFill>
                <a:effectLst/>
                <a:latin typeface="Consolas" panose="020B0609020204030204" pitchFamily="49" charset="0"/>
              </a:rPr>
              <a:t>(-1, </a:t>
            </a:r>
            <a:r>
              <a:rPr lang="en-US" altLang="zh-CN" sz="1100" b="0" dirty="0" err="1">
                <a:solidFill>
                  <a:srgbClr val="008000"/>
                </a:solidFill>
                <a:effectLst/>
                <a:latin typeface="Consolas" panose="020B0609020204030204" pitchFamily="49" charset="0"/>
              </a:rPr>
              <a:t>keepdims</a:t>
            </a:r>
            <a:r>
              <a:rPr lang="en-US" altLang="zh-CN" sz="1100" b="0" dirty="0">
                <a:solidFill>
                  <a:srgbClr val="008000"/>
                </a:solidFill>
                <a:effectLst/>
                <a:latin typeface="Consolas" panose="020B0609020204030204" pitchFamily="49" charset="0"/>
              </a:rPr>
              <a:t>=True)</a:t>
            </a:r>
            <a:endParaRPr lang="en-US" altLang="zh-CN" sz="1100" b="0" dirty="0">
              <a:solidFill>
                <a:srgbClr val="3B3B3B"/>
              </a:solidFill>
              <a:effectLst/>
              <a:latin typeface="Consolas" panose="020B0609020204030204" pitchFamily="49" charset="0"/>
            </a:endParaRPr>
          </a:p>
          <a:p>
            <a:pPr>
              <a:lnSpc>
                <a:spcPts val="1425"/>
              </a:lnSpc>
              <a:buNone/>
            </a:pPr>
            <a:r>
              <a:rPr lang="en-US" altLang="zh-CN" sz="1100" b="0" dirty="0">
                <a:solidFill>
                  <a:srgbClr val="3B3B3B"/>
                </a:solidFill>
                <a:effectLst/>
                <a:latin typeface="Consolas" panose="020B0609020204030204" pitchFamily="49" charset="0"/>
              </a:rPr>
              <a:t>        </a:t>
            </a:r>
            <a:r>
              <a:rPr lang="en-US" altLang="zh-CN" sz="1100" b="0" dirty="0">
                <a:solidFill>
                  <a:srgbClr val="AF00DB"/>
                </a:solidFill>
                <a:effectLst/>
                <a:latin typeface="Consolas" panose="020B0609020204030204" pitchFamily="49" charset="0"/>
              </a:rPr>
              <a:t>return</a:t>
            </a:r>
            <a:r>
              <a:rPr lang="en-US" altLang="zh-CN" sz="1100" b="0" dirty="0">
                <a:solidFill>
                  <a:srgbClr val="3B3B3B"/>
                </a:solidFill>
                <a:effectLst/>
                <a:latin typeface="Consolas" panose="020B0609020204030204" pitchFamily="49" charset="0"/>
              </a:rPr>
              <a:t> </a:t>
            </a:r>
            <a:r>
              <a:rPr lang="en-US" altLang="zh-CN" sz="1100" b="0" dirty="0" err="1">
                <a:solidFill>
                  <a:srgbClr val="001080"/>
                </a:solidFill>
                <a:effectLst/>
                <a:latin typeface="Consolas" panose="020B0609020204030204" pitchFamily="49" charset="0"/>
              </a:rPr>
              <a:t>attn_replace</a:t>
            </a:r>
            <a:endParaRPr lang="en-US" altLang="zh-CN" sz="1100" b="0" dirty="0">
              <a:solidFill>
                <a:srgbClr val="3B3B3B"/>
              </a:solidFill>
              <a:effectLst/>
              <a:latin typeface="Consolas" panose="020B0609020204030204" pitchFamily="49" charset="0"/>
            </a:endParaRPr>
          </a:p>
        </p:txBody>
      </p:sp>
      <p:sp>
        <p:nvSpPr>
          <p:cNvPr id="15" name="文本框 14">
            <a:extLst>
              <a:ext uri="{FF2B5EF4-FFF2-40B4-BE49-F238E27FC236}">
                <a16:creationId xmlns:a16="http://schemas.microsoft.com/office/drawing/2014/main" id="{CB6D2558-C7F4-3370-B67B-B16B35F9DBA6}"/>
              </a:ext>
            </a:extLst>
          </p:cNvPr>
          <p:cNvSpPr txBox="1"/>
          <p:nvPr/>
        </p:nvSpPr>
        <p:spPr>
          <a:xfrm>
            <a:off x="554400" y="4527078"/>
            <a:ext cx="11571988" cy="2190343"/>
          </a:xfrm>
          <a:prstGeom prst="rect">
            <a:avLst/>
          </a:prstGeom>
          <a:noFill/>
        </p:spPr>
        <p:txBody>
          <a:bodyPr wrap="square">
            <a:spAutoFit/>
          </a:bodyPr>
          <a:lstStyle/>
          <a:p>
            <a:pPr marL="285750" indent="-285750" algn="l">
              <a:spcBef>
                <a:spcPts val="450"/>
              </a:spcBef>
              <a:spcAft>
                <a:spcPts val="1200"/>
              </a:spcAft>
              <a:buFont typeface="Arial" panose="020B0604020202020204" pitchFamily="34" charset="0"/>
              <a:buChar char="•"/>
            </a:pPr>
            <a:r>
              <a:rPr lang="en-US" altLang="zh-CN" i="0" dirty="0">
                <a:solidFill>
                  <a:srgbClr val="0F1115"/>
                </a:solidFill>
                <a:effectLst/>
                <a:latin typeface="Times New Roman" panose="02020603050405020304" pitchFamily="18" charset="0"/>
                <a:cs typeface="Times New Roman" panose="02020603050405020304" pitchFamily="18" charset="0"/>
              </a:rPr>
              <a:t>For words that appear only in the original prompt and are also retained in the target prompt, we inject the original attention map.</a:t>
            </a:r>
          </a:p>
          <a:p>
            <a:pPr marL="285750" indent="-285750">
              <a:spcBef>
                <a:spcPts val="450"/>
              </a:spcBef>
              <a:spcAft>
                <a:spcPts val="1200"/>
              </a:spcAft>
              <a:buFont typeface="Arial" panose="020B0604020202020204" pitchFamily="34" charset="0"/>
              <a:buChar char="•"/>
            </a:pPr>
            <a:r>
              <a:rPr lang="en-US" altLang="zh-CN" dirty="0">
                <a:solidFill>
                  <a:srgbClr val="0F1115"/>
                </a:solidFill>
                <a:latin typeface="Times New Roman" panose="02020603050405020304" pitchFamily="18" charset="0"/>
                <a:cs typeface="Times New Roman" panose="02020603050405020304" pitchFamily="18" charset="0"/>
              </a:rPr>
              <a:t>W</a:t>
            </a:r>
            <a:r>
              <a:rPr lang="en-US" altLang="zh-CN" i="0" dirty="0">
                <a:solidFill>
                  <a:srgbClr val="0F1115"/>
                </a:solidFill>
                <a:effectLst/>
                <a:latin typeface="Times New Roman" panose="02020603050405020304" pitchFamily="18" charset="0"/>
                <a:cs typeface="Times New Roman" panose="02020603050405020304" pitchFamily="18" charset="0"/>
              </a:rPr>
              <a:t>hile for newly appearing words, we retain the attention map generated by the target model itself. The two are mixed by a coefficient </a:t>
            </a:r>
            <a:r>
              <a:rPr lang="en-US" altLang="zh-CN" sz="1600" dirty="0">
                <a:solidFill>
                  <a:srgbClr val="001080"/>
                </a:solidFill>
                <a:latin typeface="Consolas" panose="020B0609020204030204" pitchFamily="49" charset="0"/>
              </a:rPr>
              <a:t>alphas</a:t>
            </a:r>
            <a:r>
              <a:rPr lang="en-US" altLang="zh-CN" i="0" dirty="0">
                <a:solidFill>
                  <a:srgbClr val="0F1115"/>
                </a:solidFill>
                <a:effectLst/>
                <a:latin typeface="Times New Roman" panose="02020603050405020304" pitchFamily="18" charset="0"/>
                <a:cs typeface="Times New Roman" panose="02020603050405020304" pitchFamily="18" charset="0"/>
              </a:rPr>
              <a:t>, which is larger in the early stages of generation to retain more of the original structure, and then gradually decreases to allow the new content to be naturally integrated</a:t>
            </a:r>
            <a:r>
              <a:rPr lang="en-US" altLang="zh-CN" b="1" i="0" dirty="0">
                <a:solidFill>
                  <a:srgbClr val="0F1115"/>
                </a:solidFill>
                <a:effectLst/>
                <a:latin typeface="Times New Roman" panose="02020603050405020304" pitchFamily="18" charset="0"/>
                <a:cs typeface="Times New Roman" panose="02020603050405020304" pitchFamily="18" charset="0"/>
              </a:rPr>
              <a:t>.</a:t>
            </a:r>
          </a:p>
          <a:p>
            <a:pPr marL="285750" indent="-285750" algn="l">
              <a:spcBef>
                <a:spcPts val="450"/>
              </a:spcBef>
              <a:spcAft>
                <a:spcPts val="1200"/>
              </a:spcAft>
              <a:buFont typeface="Arial" panose="020B0604020202020204" pitchFamily="34" charset="0"/>
              <a:buChar char="•"/>
            </a:pPr>
            <a:r>
              <a:rPr lang="en-US" altLang="zh-CN" b="1" i="0" dirty="0">
                <a:solidFill>
                  <a:srgbClr val="0F1115"/>
                </a:solidFill>
                <a:effectLst/>
                <a:latin typeface="Times New Roman" panose="02020603050405020304" pitchFamily="18" charset="0"/>
                <a:cs typeface="Times New Roman" panose="02020603050405020304" pitchFamily="18" charset="0"/>
              </a:rPr>
              <a:t>Effect</a:t>
            </a:r>
            <a:r>
              <a:rPr lang="en-US" altLang="zh-CN" b="0" i="0" dirty="0">
                <a:solidFill>
                  <a:srgbClr val="0F1115"/>
                </a:solidFill>
                <a:effectLst/>
                <a:latin typeface="Times New Roman" panose="02020603050405020304" pitchFamily="18" charset="0"/>
                <a:cs typeface="Times New Roman" panose="02020603050405020304" pitchFamily="18" charset="0"/>
              </a:rPr>
              <a:t>: Smooth transition without abrupt changes → suitable for </a:t>
            </a:r>
            <a:r>
              <a:rPr lang="en-US" altLang="zh-CN" b="1" i="0" dirty="0">
                <a:solidFill>
                  <a:srgbClr val="0F1115"/>
                </a:solidFill>
                <a:effectLst/>
                <a:latin typeface="Times New Roman" panose="02020603050405020304" pitchFamily="18" charset="0"/>
                <a:cs typeface="Times New Roman" panose="02020603050405020304" pitchFamily="18" charset="0"/>
              </a:rPr>
              <a:t>fine‑tuning details</a:t>
            </a:r>
            <a:r>
              <a:rPr lang="en-US" altLang="zh-CN" b="0" i="0" dirty="0">
                <a:solidFill>
                  <a:srgbClr val="0F1115"/>
                </a:solidFill>
                <a:effectLst/>
                <a:latin typeface="Times New Roman" panose="02020603050405020304" pitchFamily="18" charset="0"/>
                <a:cs typeface="Times New Roman" panose="02020603050405020304" pitchFamily="18" charset="0"/>
              </a:rPr>
              <a:t> or </a:t>
            </a:r>
            <a:r>
              <a:rPr lang="en-US" altLang="zh-CN" b="1" i="0" dirty="0">
                <a:solidFill>
                  <a:srgbClr val="0F1115"/>
                </a:solidFill>
                <a:effectLst/>
                <a:latin typeface="Times New Roman" panose="02020603050405020304" pitchFamily="18" charset="0"/>
                <a:cs typeface="Times New Roman" panose="02020603050405020304" pitchFamily="18" charset="0"/>
              </a:rPr>
              <a:t>style transfer</a:t>
            </a:r>
            <a:r>
              <a:rPr lang="en-US" altLang="zh-CN" b="0" i="0" dirty="0">
                <a:solidFill>
                  <a:srgbClr val="0F1115"/>
                </a:solidFill>
                <a:effectLst/>
                <a:latin typeface="Times New Roman" panose="02020603050405020304" pitchFamily="18" charset="0"/>
                <a:cs typeface="Times New Roman" panose="02020603050405020304" pitchFamily="18" charset="0"/>
              </a:rPr>
              <a:t>.</a:t>
            </a:r>
          </a:p>
        </p:txBody>
      </p:sp>
      <p:pic>
        <p:nvPicPr>
          <p:cNvPr id="19" name="图片 18">
            <a:extLst>
              <a:ext uri="{FF2B5EF4-FFF2-40B4-BE49-F238E27FC236}">
                <a16:creationId xmlns:a16="http://schemas.microsoft.com/office/drawing/2014/main" id="{814D04B6-1403-57EC-B729-6EE82FE99B72}"/>
              </a:ext>
            </a:extLst>
          </p:cNvPr>
          <p:cNvPicPr>
            <a:picLocks noChangeAspect="1"/>
          </p:cNvPicPr>
          <p:nvPr/>
        </p:nvPicPr>
        <p:blipFill>
          <a:blip r:embed="rId7"/>
          <a:stretch>
            <a:fillRect/>
          </a:stretch>
        </p:blipFill>
        <p:spPr>
          <a:xfrm>
            <a:off x="913497" y="2716627"/>
            <a:ext cx="5182502" cy="613174"/>
          </a:xfrm>
          <a:prstGeom prst="rect">
            <a:avLst/>
          </a:prstGeom>
        </p:spPr>
      </p:pic>
      <p:pic>
        <p:nvPicPr>
          <p:cNvPr id="12" name="图片 11">
            <a:extLst>
              <a:ext uri="{FF2B5EF4-FFF2-40B4-BE49-F238E27FC236}">
                <a16:creationId xmlns:a16="http://schemas.microsoft.com/office/drawing/2014/main" id="{2B94243D-2323-E186-20EA-B9AAEC61EB9E}"/>
              </a:ext>
            </a:extLst>
          </p:cNvPr>
          <p:cNvPicPr>
            <a:picLocks noChangeAspect="1"/>
          </p:cNvPicPr>
          <p:nvPr/>
        </p:nvPicPr>
        <p:blipFill>
          <a:blip r:embed="rId8"/>
          <a:srcRect t="7203"/>
          <a:stretch>
            <a:fillRect/>
          </a:stretch>
        </p:blipFill>
        <p:spPr>
          <a:xfrm>
            <a:off x="8438038" y="1080656"/>
            <a:ext cx="3434659" cy="1828386"/>
          </a:xfrm>
          <a:prstGeom prst="rect">
            <a:avLst/>
          </a:prstGeom>
        </p:spPr>
      </p:pic>
      <p:sp>
        <p:nvSpPr>
          <p:cNvPr id="16" name="文本框 15">
            <a:extLst>
              <a:ext uri="{FF2B5EF4-FFF2-40B4-BE49-F238E27FC236}">
                <a16:creationId xmlns:a16="http://schemas.microsoft.com/office/drawing/2014/main" id="{A2339692-4EAD-0421-69F9-5BA2A0E07557}"/>
              </a:ext>
            </a:extLst>
          </p:cNvPr>
          <p:cNvSpPr txBox="1"/>
          <p:nvPr/>
        </p:nvSpPr>
        <p:spPr>
          <a:xfrm>
            <a:off x="8366995" y="911165"/>
            <a:ext cx="3576744" cy="253916"/>
          </a:xfrm>
          <a:prstGeom prst="rect">
            <a:avLst/>
          </a:prstGeom>
          <a:noFill/>
        </p:spPr>
        <p:txBody>
          <a:bodyPr wrap="square">
            <a:spAutoFit/>
          </a:bodyPr>
          <a:lstStyle/>
          <a:p>
            <a:pPr algn="ctr"/>
            <a:r>
              <a:rPr lang="en-US" altLang="zh-CN" sz="1050" dirty="0">
                <a:latin typeface="Times New Roman" panose="02020603050405020304" pitchFamily="18" charset="0"/>
                <a:cs typeface="Times New Roman" panose="02020603050405020304" pitchFamily="18" charset="0"/>
              </a:rPr>
              <a:t>“A photo of a bear wearing sunglasses on and having a drink.”</a:t>
            </a:r>
            <a:endParaRPr lang="zh-CN" altLang="en-US" sz="1050" dirty="0">
              <a:latin typeface="Times New Roman" panose="02020603050405020304" pitchFamily="18" charset="0"/>
              <a:cs typeface="Times New Roman" panose="02020603050405020304" pitchFamily="18" charset="0"/>
            </a:endParaRPr>
          </a:p>
        </p:txBody>
      </p:sp>
      <p:cxnSp>
        <p:nvCxnSpPr>
          <p:cNvPr id="20" name="直接连接符 19">
            <a:extLst>
              <a:ext uri="{FF2B5EF4-FFF2-40B4-BE49-F238E27FC236}">
                <a16:creationId xmlns:a16="http://schemas.microsoft.com/office/drawing/2014/main" id="{522472CB-EDB2-666F-F161-FB52F7B1259F}"/>
              </a:ext>
            </a:extLst>
          </p:cNvPr>
          <p:cNvCxnSpPr/>
          <p:nvPr/>
        </p:nvCxnSpPr>
        <p:spPr>
          <a:xfrm>
            <a:off x="10892790" y="2876550"/>
            <a:ext cx="255270" cy="0"/>
          </a:xfrm>
          <a:prstGeom prst="line">
            <a:avLst/>
          </a:prstGeom>
          <a:ln w="12700">
            <a:solidFill>
              <a:srgbClr val="F117D2"/>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210AC0C7-DA09-7D03-75B9-33DF5DEDABEB}"/>
              </a:ext>
            </a:extLst>
          </p:cNvPr>
          <p:cNvCxnSpPr/>
          <p:nvPr/>
        </p:nvCxnSpPr>
        <p:spPr>
          <a:xfrm>
            <a:off x="3286615" y="3030583"/>
            <a:ext cx="2639345" cy="0"/>
          </a:xfrm>
          <a:prstGeom prst="line">
            <a:avLst/>
          </a:prstGeom>
          <a:ln w="12700">
            <a:solidFill>
              <a:srgbClr val="F117D2"/>
            </a:solidFill>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13D618B4-C681-0E35-9956-0BFD360A1FCD}"/>
              </a:ext>
            </a:extLst>
          </p:cNvPr>
          <p:cNvSpPr>
            <a:spLocks noGrp="1"/>
          </p:cNvSpPr>
          <p:nvPr>
            <p:ph type="sldNum" sz="quarter" idx="12"/>
          </p:nvPr>
        </p:nvSpPr>
        <p:spPr/>
        <p:txBody>
          <a:bodyPr/>
          <a:lstStyle/>
          <a:p>
            <a:fld id="{E6518835-16E6-9244-9C02-6BFB876E5D3C}" type="slidenum">
              <a:rPr kumimoji="1" lang="zh-CN" altLang="en-US" smtClean="0"/>
              <a:t>18</a:t>
            </a:fld>
            <a:endParaRPr kumimoji="1" lang="zh-CN" altLang="en-US"/>
          </a:p>
        </p:txBody>
      </p:sp>
    </p:spTree>
    <p:extLst>
      <p:ext uri="{BB962C8B-B14F-4D97-AF65-F5344CB8AC3E}">
        <p14:creationId xmlns:p14="http://schemas.microsoft.com/office/powerpoint/2010/main" val="2285843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9ACA2-A270-F487-4AE6-DAD3C42BA2D3}"/>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64307730-2FF3-B72C-A64C-5ABBBFF955FF}"/>
              </a:ext>
            </a:extLst>
          </p:cNvPr>
          <p:cNvPicPr>
            <a:picLocks noChangeAspect="1"/>
          </p:cNvPicPr>
          <p:nvPr/>
        </p:nvPicPr>
        <p:blipFill>
          <a:blip r:embed="rId3"/>
          <a:srcRect l="70857" t="10601"/>
          <a:stretch>
            <a:fillRect/>
          </a:stretch>
        </p:blipFill>
        <p:spPr>
          <a:xfrm>
            <a:off x="198987" y="2842761"/>
            <a:ext cx="2001681" cy="1720336"/>
          </a:xfrm>
          <a:prstGeom prst="rect">
            <a:avLst/>
          </a:prstGeom>
        </p:spPr>
      </p:pic>
      <p:pic>
        <p:nvPicPr>
          <p:cNvPr id="19" name="图片 18">
            <a:extLst>
              <a:ext uri="{FF2B5EF4-FFF2-40B4-BE49-F238E27FC236}">
                <a16:creationId xmlns:a16="http://schemas.microsoft.com/office/drawing/2014/main" id="{B5A09C24-902C-9F34-847B-D9BFB613A5E0}"/>
              </a:ext>
            </a:extLst>
          </p:cNvPr>
          <p:cNvPicPr>
            <a:picLocks noChangeAspect="1"/>
          </p:cNvPicPr>
          <p:nvPr/>
        </p:nvPicPr>
        <p:blipFill>
          <a:blip r:embed="rId4"/>
          <a:stretch>
            <a:fillRect/>
          </a:stretch>
        </p:blipFill>
        <p:spPr>
          <a:xfrm>
            <a:off x="721982" y="2512088"/>
            <a:ext cx="3772426" cy="562053"/>
          </a:xfrm>
          <a:prstGeom prst="rect">
            <a:avLst/>
          </a:prstGeom>
        </p:spPr>
      </p:pic>
      <p:sp>
        <p:nvSpPr>
          <p:cNvPr id="4" name="矩形 3">
            <a:extLst>
              <a:ext uri="{FF2B5EF4-FFF2-40B4-BE49-F238E27FC236}">
                <a16:creationId xmlns:a16="http://schemas.microsoft.com/office/drawing/2014/main" id="{EE8CA124-64FC-FC1C-D473-DAB190128750}"/>
              </a:ext>
            </a:extLst>
          </p:cNvPr>
          <p:cNvSpPr/>
          <p:nvPr/>
        </p:nvSpPr>
        <p:spPr>
          <a:xfrm>
            <a:off x="-1" y="0"/>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C5D57B10-4509-3552-44EF-9C67152F5AF8}"/>
              </a:ext>
            </a:extLst>
          </p:cNvPr>
          <p:cNvSpPr/>
          <p:nvPr/>
        </p:nvSpPr>
        <p:spPr>
          <a:xfrm>
            <a:off x="811930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4E9B0FD0-2920-1095-43AD-CAB2D9DE8327}"/>
              </a:ext>
            </a:extLst>
          </p:cNvPr>
          <p:cNvSpPr txBox="1"/>
          <p:nvPr/>
        </p:nvSpPr>
        <p:spPr>
          <a:xfrm>
            <a:off x="8648668" y="186379"/>
            <a:ext cx="829073" cy="461665"/>
          </a:xfrm>
          <a:prstGeom prst="rect">
            <a:avLst/>
          </a:prstGeom>
          <a:noFill/>
        </p:spPr>
        <p:txBody>
          <a:bodyPr vert="horz" wrap="none" rtlCol="0">
            <a:spAutoFit/>
          </a:bodyPr>
          <a:lstStyle/>
          <a:p>
            <a:pPr algn="ctr"/>
            <a:r>
              <a:rPr kumimoji="1" lang="en-US" altLang="zh-CN" sz="2400" b="1" spc="300" dirty="0">
                <a:solidFill>
                  <a:schemeClr val="accent1"/>
                </a:solidFill>
                <a:latin typeface="Times New Roman" panose="02020603050405020304" pitchFamily="18" charset="0"/>
                <a:cs typeface="Times New Roman" panose="02020603050405020304" pitchFamily="18" charset="0"/>
              </a:rPr>
              <a:t>P2P</a:t>
            </a:r>
            <a:endParaRPr kumimoji="1" lang="zh-CN" altLang="en-US" sz="2000" b="1" spc="300" dirty="0">
              <a:solidFill>
                <a:schemeClr val="accent1"/>
              </a:solidFill>
              <a:latin typeface="Times New Roman" panose="02020603050405020304" pitchFamily="18" charset="0"/>
              <a:cs typeface="Times New Roman" panose="02020603050405020304" pitchFamily="18" charset="0"/>
            </a:endParaRPr>
          </a:p>
        </p:txBody>
      </p:sp>
      <p:grpSp>
        <p:nvGrpSpPr>
          <p:cNvPr id="31" name="组合 30">
            <a:extLst>
              <a:ext uri="{FF2B5EF4-FFF2-40B4-BE49-F238E27FC236}">
                <a16:creationId xmlns:a16="http://schemas.microsoft.com/office/drawing/2014/main" id="{E038F677-4856-B1E5-76E3-BF3843E73F21}"/>
              </a:ext>
            </a:extLst>
          </p:cNvPr>
          <p:cNvGrpSpPr/>
          <p:nvPr/>
        </p:nvGrpSpPr>
        <p:grpSpPr>
          <a:xfrm>
            <a:off x="370072" y="219176"/>
            <a:ext cx="2150839" cy="449040"/>
            <a:chOff x="2085654" y="644950"/>
            <a:chExt cx="7772400" cy="1622679"/>
          </a:xfrm>
        </p:grpSpPr>
        <p:pic>
          <p:nvPicPr>
            <p:cNvPr id="32" name="图片 31">
              <a:extLst>
                <a:ext uri="{FF2B5EF4-FFF2-40B4-BE49-F238E27FC236}">
                  <a16:creationId xmlns:a16="http://schemas.microsoft.com/office/drawing/2014/main" id="{F77795EB-F02C-0B64-A723-F2826598D6FE}"/>
                </a:ext>
              </a:extLst>
            </p:cNvPr>
            <p:cNvPicPr>
              <a:picLocks noChangeAspect="1"/>
            </p:cNvPicPr>
            <p:nvPr/>
          </p:nvPicPr>
          <p:blipFill rotWithShape="1">
            <a:blip r:embed="rId5"/>
            <a:srcRect r="78982"/>
            <a:stretch/>
          </p:blipFill>
          <p:spPr>
            <a:xfrm>
              <a:off x="2085654" y="644950"/>
              <a:ext cx="1633591" cy="1622679"/>
            </a:xfrm>
            <a:prstGeom prst="rect">
              <a:avLst/>
            </a:prstGeom>
          </p:spPr>
        </p:pic>
        <p:pic>
          <p:nvPicPr>
            <p:cNvPr id="33" name="图片 32">
              <a:extLst>
                <a:ext uri="{FF2B5EF4-FFF2-40B4-BE49-F238E27FC236}">
                  <a16:creationId xmlns:a16="http://schemas.microsoft.com/office/drawing/2014/main" id="{585860D1-8931-A28F-6BBF-1C2179CC65D8}"/>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9" name="文本框 8">
            <a:extLst>
              <a:ext uri="{FF2B5EF4-FFF2-40B4-BE49-F238E27FC236}">
                <a16:creationId xmlns:a16="http://schemas.microsoft.com/office/drawing/2014/main" id="{14046D9D-DDB3-3869-3ED1-C4EA32254339}"/>
              </a:ext>
            </a:extLst>
          </p:cNvPr>
          <p:cNvSpPr txBox="1"/>
          <p:nvPr/>
        </p:nvSpPr>
        <p:spPr>
          <a:xfrm>
            <a:off x="370072" y="1049012"/>
            <a:ext cx="4476247" cy="1354217"/>
          </a:xfrm>
          <a:prstGeom prst="rect">
            <a:avLst/>
          </a:prstGeom>
          <a:noFill/>
        </p:spPr>
        <p:txBody>
          <a:bodyPr wrap="square">
            <a:spAutoFit/>
          </a:bodyPr>
          <a:lstStyle/>
          <a:p>
            <a:pPr marL="285750" indent="-285750">
              <a:spcBef>
                <a:spcPts val="1200"/>
              </a:spcBef>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4.3 Attention Re–weighting</a:t>
            </a:r>
          </a:p>
          <a:p>
            <a:pPr>
              <a:spcBef>
                <a:spcPts val="1200"/>
              </a:spcBef>
            </a:pPr>
            <a:r>
              <a:rPr lang="en-US" altLang="zh-CN" dirty="0">
                <a:latin typeface="Times New Roman" panose="02020603050405020304" pitchFamily="18" charset="0"/>
                <a:cs typeface="Times New Roman" panose="02020603050405020304" pitchFamily="18" charset="0"/>
              </a:rPr>
              <a:t>To amplify or attenuate the semantic effect of a word, simply re-weighting the corresponding attention map. The edit function is:</a:t>
            </a:r>
          </a:p>
        </p:txBody>
      </p:sp>
      <p:sp>
        <p:nvSpPr>
          <p:cNvPr id="13" name="文本框 12">
            <a:extLst>
              <a:ext uri="{FF2B5EF4-FFF2-40B4-BE49-F238E27FC236}">
                <a16:creationId xmlns:a16="http://schemas.microsoft.com/office/drawing/2014/main" id="{7B248A19-EB41-19AB-B6A3-F6C538B4A184}"/>
              </a:ext>
            </a:extLst>
          </p:cNvPr>
          <p:cNvSpPr txBox="1"/>
          <p:nvPr/>
        </p:nvSpPr>
        <p:spPr>
          <a:xfrm>
            <a:off x="2239673" y="3367967"/>
            <a:ext cx="9352887" cy="1169551"/>
          </a:xfrm>
          <a:prstGeom prst="rect">
            <a:avLst/>
          </a:prstGeom>
          <a:noFill/>
        </p:spPr>
        <p:txBody>
          <a:bodyPr wrap="square">
            <a:spAutoFit/>
          </a:bodyPr>
          <a:lstStyle/>
          <a:p>
            <a:pPr>
              <a:lnSpc>
                <a:spcPts val="1425"/>
              </a:lnSpc>
              <a:buNone/>
            </a:pPr>
            <a:r>
              <a:rPr lang="en-US" altLang="zh-CN" sz="1200" b="0" dirty="0">
                <a:solidFill>
                  <a:srgbClr val="3B3B3B"/>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def</a:t>
            </a:r>
            <a:r>
              <a:rPr lang="en-US" altLang="zh-CN" sz="1200" b="0" dirty="0">
                <a:solidFill>
                  <a:srgbClr val="3B3B3B"/>
                </a:solidFill>
                <a:effectLst/>
                <a:latin typeface="Consolas" panose="020B0609020204030204" pitchFamily="49" charset="0"/>
              </a:rPr>
              <a:t> </a:t>
            </a:r>
            <a:r>
              <a:rPr lang="en-US" altLang="zh-CN" sz="1200" b="0" dirty="0" err="1">
                <a:solidFill>
                  <a:srgbClr val="795E26"/>
                </a:solidFill>
                <a:effectLst/>
                <a:latin typeface="Consolas" panose="020B0609020204030204" pitchFamily="49" charset="0"/>
              </a:rPr>
              <a:t>replace_cross_attention</a:t>
            </a:r>
            <a:r>
              <a:rPr lang="en-US" altLang="zh-CN" sz="1200" b="0" dirty="0">
                <a:solidFill>
                  <a:srgbClr val="3B3B3B"/>
                </a:solidFill>
                <a:effectLst/>
                <a:latin typeface="Consolas" panose="020B0609020204030204" pitchFamily="49" charset="0"/>
              </a:rPr>
              <a:t>(</a:t>
            </a:r>
            <a:r>
              <a:rPr lang="en-US" altLang="zh-CN" sz="1200" b="0" dirty="0">
                <a:solidFill>
                  <a:srgbClr val="001080"/>
                </a:solidFill>
                <a:effectLst/>
                <a:latin typeface="Consolas" panose="020B0609020204030204" pitchFamily="49" charset="0"/>
              </a:rPr>
              <a:t>self</a:t>
            </a:r>
            <a:r>
              <a:rPr lang="en-US" altLang="zh-CN" sz="1200" b="0" dirty="0">
                <a:solidFill>
                  <a:srgbClr val="3B3B3B"/>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attn_base</a:t>
            </a:r>
            <a:r>
              <a:rPr lang="en-US" altLang="zh-CN" sz="1200" b="0" dirty="0">
                <a:solidFill>
                  <a:srgbClr val="3B3B3B"/>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att_replace</a:t>
            </a:r>
            <a:r>
              <a:rPr lang="en-US" altLang="zh-CN" sz="1200" b="0" dirty="0">
                <a:solidFill>
                  <a:srgbClr val="3B3B3B"/>
                </a:solidFill>
                <a:effectLst/>
                <a:latin typeface="Consolas" panose="020B0609020204030204" pitchFamily="49" charset="0"/>
              </a:rPr>
              <a:t>):</a:t>
            </a:r>
          </a:p>
          <a:p>
            <a:pPr>
              <a:lnSpc>
                <a:spcPts val="1425"/>
              </a:lnSpc>
              <a:buNone/>
            </a:pPr>
            <a:r>
              <a:rPr lang="en-US" altLang="zh-CN" sz="1200" b="0" dirty="0">
                <a:solidFill>
                  <a:srgbClr val="3B3B3B"/>
                </a:solidFill>
                <a:effectLst/>
                <a:latin typeface="Consolas" panose="020B0609020204030204" pitchFamily="49" charset="0"/>
              </a:rPr>
              <a:t>        </a:t>
            </a:r>
            <a:r>
              <a:rPr lang="en-US" altLang="zh-CN" sz="1200" b="0" dirty="0">
                <a:solidFill>
                  <a:srgbClr val="AF00DB"/>
                </a:solidFill>
                <a:effectLst/>
                <a:latin typeface="Consolas" panose="020B0609020204030204" pitchFamily="49" charset="0"/>
              </a:rPr>
              <a:t>if</a:t>
            </a:r>
            <a:r>
              <a:rPr lang="en-US" altLang="zh-CN" sz="1200" b="0" dirty="0">
                <a:solidFill>
                  <a:srgbClr val="3B3B3B"/>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self</a:t>
            </a:r>
            <a:r>
              <a:rPr lang="en-US" altLang="zh-CN" sz="1200" b="0" dirty="0" err="1">
                <a:solidFill>
                  <a:srgbClr val="3B3B3B"/>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prev_controller</a:t>
            </a:r>
            <a:r>
              <a:rPr lang="en-US" altLang="zh-CN" sz="1200" b="0" dirty="0">
                <a:solidFill>
                  <a:srgbClr val="3B3B3B"/>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is</a:t>
            </a:r>
            <a:r>
              <a:rPr lang="en-US" altLang="zh-CN" sz="1200" b="0" dirty="0">
                <a:solidFill>
                  <a:srgbClr val="3B3B3B"/>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not</a:t>
            </a:r>
            <a:r>
              <a:rPr lang="en-US" altLang="zh-CN" sz="1200" b="0" dirty="0">
                <a:solidFill>
                  <a:srgbClr val="3B3B3B"/>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None</a:t>
            </a:r>
            <a:r>
              <a:rPr lang="en-US" altLang="zh-CN" sz="1200" b="0" dirty="0">
                <a:solidFill>
                  <a:srgbClr val="3B3B3B"/>
                </a:solidFill>
                <a:effectLst/>
                <a:latin typeface="Consolas" panose="020B0609020204030204" pitchFamily="49" charset="0"/>
              </a:rPr>
              <a:t>:</a:t>
            </a:r>
          </a:p>
          <a:p>
            <a:pPr>
              <a:lnSpc>
                <a:spcPts val="1425"/>
              </a:lnSpc>
              <a:buNone/>
            </a:pPr>
            <a:r>
              <a:rPr lang="en-US" altLang="zh-CN" sz="1200" b="0" dirty="0">
                <a:solidFill>
                  <a:srgbClr val="3B3B3B"/>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attn_base</a:t>
            </a:r>
            <a:r>
              <a:rPr lang="en-US" altLang="zh-CN" sz="1200" b="0" dirty="0">
                <a:solidFill>
                  <a:srgbClr val="3B3B3B"/>
                </a:solidFill>
                <a:effectLst/>
                <a:latin typeface="Consolas" panose="020B0609020204030204" pitchFamily="49" charset="0"/>
              </a:rPr>
              <a:t> </a:t>
            </a:r>
            <a:r>
              <a:rPr lang="en-US" altLang="zh-CN" sz="1200" b="0" dirty="0">
                <a:solidFill>
                  <a:srgbClr val="000000"/>
                </a:solidFill>
                <a:effectLst/>
                <a:latin typeface="Consolas" panose="020B0609020204030204" pitchFamily="49" charset="0"/>
              </a:rPr>
              <a:t>=</a:t>
            </a:r>
            <a:r>
              <a:rPr lang="en-US" altLang="zh-CN" sz="1200" b="0" dirty="0">
                <a:solidFill>
                  <a:srgbClr val="3B3B3B"/>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self</a:t>
            </a:r>
            <a:r>
              <a:rPr lang="en-US" altLang="zh-CN" sz="1200" b="0" dirty="0" err="1">
                <a:solidFill>
                  <a:srgbClr val="3B3B3B"/>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prev_controller</a:t>
            </a:r>
            <a:r>
              <a:rPr lang="en-US" altLang="zh-CN" sz="1200" b="0" dirty="0" err="1">
                <a:solidFill>
                  <a:srgbClr val="3B3B3B"/>
                </a:solidFill>
                <a:effectLst/>
                <a:latin typeface="Consolas" panose="020B0609020204030204" pitchFamily="49" charset="0"/>
              </a:rPr>
              <a:t>.</a:t>
            </a:r>
            <a:r>
              <a:rPr lang="en-US" altLang="zh-CN" sz="1200" b="0" dirty="0" err="1">
                <a:solidFill>
                  <a:srgbClr val="795E26"/>
                </a:solidFill>
                <a:effectLst/>
                <a:latin typeface="Consolas" panose="020B0609020204030204" pitchFamily="49" charset="0"/>
              </a:rPr>
              <a:t>replace_cross_attention</a:t>
            </a:r>
            <a:r>
              <a:rPr lang="en-US" altLang="zh-CN" sz="1200" b="0" dirty="0">
                <a:solidFill>
                  <a:srgbClr val="3B3B3B"/>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attn_base</a:t>
            </a:r>
            <a:r>
              <a:rPr lang="en-US" altLang="zh-CN" sz="1200" b="0" dirty="0">
                <a:solidFill>
                  <a:srgbClr val="3B3B3B"/>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att_replace</a:t>
            </a:r>
            <a:r>
              <a:rPr lang="en-US" altLang="zh-CN" sz="1200" b="0" dirty="0">
                <a:solidFill>
                  <a:srgbClr val="3B3B3B"/>
                </a:solidFill>
                <a:effectLst/>
                <a:latin typeface="Consolas" panose="020B0609020204030204" pitchFamily="49" charset="0"/>
              </a:rPr>
              <a:t>)</a:t>
            </a:r>
          </a:p>
          <a:p>
            <a:pPr>
              <a:lnSpc>
                <a:spcPts val="1425"/>
              </a:lnSpc>
              <a:buNone/>
            </a:pPr>
            <a:r>
              <a:rPr lang="en-US" altLang="zh-CN" sz="1200" b="0" dirty="0">
                <a:solidFill>
                  <a:srgbClr val="3B3B3B"/>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attn_replace</a:t>
            </a:r>
            <a:r>
              <a:rPr lang="en-US" altLang="zh-CN" sz="1200" b="0" dirty="0">
                <a:solidFill>
                  <a:srgbClr val="3B3B3B"/>
                </a:solidFill>
                <a:effectLst/>
                <a:latin typeface="Consolas" panose="020B0609020204030204" pitchFamily="49" charset="0"/>
              </a:rPr>
              <a:t> </a:t>
            </a:r>
            <a:r>
              <a:rPr lang="en-US" altLang="zh-CN" sz="1200" b="0" dirty="0">
                <a:solidFill>
                  <a:srgbClr val="000000"/>
                </a:solidFill>
                <a:effectLst/>
                <a:latin typeface="Consolas" panose="020B0609020204030204" pitchFamily="49" charset="0"/>
              </a:rPr>
              <a:t>=</a:t>
            </a:r>
            <a:r>
              <a:rPr lang="en-US" altLang="zh-CN" sz="1200" b="0" dirty="0">
                <a:solidFill>
                  <a:srgbClr val="3B3B3B"/>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attn_base</a:t>
            </a:r>
            <a:r>
              <a:rPr lang="en-US" altLang="zh-CN" sz="1200" b="0" dirty="0">
                <a:solidFill>
                  <a:srgbClr val="3B3B3B"/>
                </a:solidFill>
                <a:effectLst/>
                <a:latin typeface="Consolas" panose="020B0609020204030204" pitchFamily="49" charset="0"/>
              </a:rPr>
              <a:t>[</a:t>
            </a:r>
            <a:r>
              <a:rPr lang="en-US" altLang="zh-CN" sz="1200" b="0" dirty="0">
                <a:solidFill>
                  <a:srgbClr val="0000FF"/>
                </a:solidFill>
                <a:effectLst/>
                <a:latin typeface="Consolas" panose="020B0609020204030204" pitchFamily="49" charset="0"/>
              </a:rPr>
              <a:t>None</a:t>
            </a:r>
            <a:r>
              <a:rPr lang="en-US" altLang="zh-CN" sz="1200" b="0" dirty="0">
                <a:solidFill>
                  <a:srgbClr val="3B3B3B"/>
                </a:solidFill>
                <a:effectLst/>
                <a:latin typeface="Consolas" panose="020B0609020204030204" pitchFamily="49" charset="0"/>
              </a:rPr>
              <a:t>, :, :, :] </a:t>
            </a:r>
            <a:r>
              <a:rPr lang="en-US" altLang="zh-CN" sz="1200" b="0" dirty="0">
                <a:solidFill>
                  <a:srgbClr val="000000"/>
                </a:solidFill>
                <a:effectLst/>
                <a:latin typeface="Consolas" panose="020B0609020204030204" pitchFamily="49" charset="0"/>
              </a:rPr>
              <a:t>*</a:t>
            </a:r>
            <a:r>
              <a:rPr lang="en-US" altLang="zh-CN" sz="1200" b="0" dirty="0">
                <a:solidFill>
                  <a:srgbClr val="3B3B3B"/>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self</a:t>
            </a:r>
            <a:r>
              <a:rPr lang="en-US" altLang="zh-CN" sz="1200" b="0" dirty="0" err="1">
                <a:solidFill>
                  <a:srgbClr val="3B3B3B"/>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equalizer</a:t>
            </a:r>
            <a:r>
              <a:rPr lang="en-US" altLang="zh-CN" sz="1200" b="0" dirty="0">
                <a:solidFill>
                  <a:srgbClr val="3B3B3B"/>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None</a:t>
            </a:r>
            <a:r>
              <a:rPr lang="en-US" altLang="zh-CN" sz="1200" b="0" dirty="0">
                <a:solidFill>
                  <a:srgbClr val="3B3B3B"/>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None</a:t>
            </a:r>
            <a:r>
              <a:rPr lang="en-US" altLang="zh-CN" sz="1200" b="0" dirty="0">
                <a:solidFill>
                  <a:srgbClr val="3B3B3B"/>
                </a:solidFill>
                <a:effectLst/>
                <a:latin typeface="Consolas" panose="020B0609020204030204" pitchFamily="49" charset="0"/>
              </a:rPr>
              <a:t>, :]</a:t>
            </a:r>
          </a:p>
          <a:p>
            <a:pPr>
              <a:lnSpc>
                <a:spcPts val="1425"/>
              </a:lnSpc>
              <a:buNone/>
            </a:pPr>
            <a:r>
              <a:rPr lang="en-US" altLang="zh-CN" sz="1200" b="0" dirty="0">
                <a:solidFill>
                  <a:srgbClr val="3B3B3B"/>
                </a:solidFill>
                <a:effectLst/>
                <a:latin typeface="Consolas" panose="020B0609020204030204" pitchFamily="49" charset="0"/>
              </a:rPr>
              <a:t>        </a:t>
            </a:r>
            <a:r>
              <a:rPr lang="en-US" altLang="zh-CN" sz="1200" b="0" dirty="0">
                <a:solidFill>
                  <a:srgbClr val="008000"/>
                </a:solidFill>
                <a:effectLst/>
                <a:latin typeface="Consolas" panose="020B0609020204030204" pitchFamily="49" charset="0"/>
              </a:rPr>
              <a:t># </a:t>
            </a:r>
            <a:r>
              <a:rPr lang="en-US" altLang="zh-CN" sz="1200" b="0" dirty="0" err="1">
                <a:solidFill>
                  <a:srgbClr val="008000"/>
                </a:solidFill>
                <a:effectLst/>
                <a:latin typeface="Consolas" panose="020B0609020204030204" pitchFamily="49" charset="0"/>
              </a:rPr>
              <a:t>attn_replace</a:t>
            </a:r>
            <a:r>
              <a:rPr lang="en-US" altLang="zh-CN" sz="1200" b="0" dirty="0">
                <a:solidFill>
                  <a:srgbClr val="008000"/>
                </a:solidFill>
                <a:effectLst/>
                <a:latin typeface="Consolas" panose="020B0609020204030204" pitchFamily="49" charset="0"/>
              </a:rPr>
              <a:t> = </a:t>
            </a:r>
            <a:r>
              <a:rPr lang="en-US" altLang="zh-CN" sz="1200" b="0" dirty="0" err="1">
                <a:solidFill>
                  <a:srgbClr val="008000"/>
                </a:solidFill>
                <a:effectLst/>
                <a:latin typeface="Consolas" panose="020B0609020204030204" pitchFamily="49" charset="0"/>
              </a:rPr>
              <a:t>attn_replace</a:t>
            </a:r>
            <a:r>
              <a:rPr lang="en-US" altLang="zh-CN" sz="1200" b="0" dirty="0">
                <a:solidFill>
                  <a:srgbClr val="008000"/>
                </a:solidFill>
                <a:effectLst/>
                <a:latin typeface="Consolas" panose="020B0609020204030204" pitchFamily="49" charset="0"/>
              </a:rPr>
              <a:t> / </a:t>
            </a:r>
            <a:r>
              <a:rPr lang="en-US" altLang="zh-CN" sz="1200" b="0" dirty="0" err="1">
                <a:solidFill>
                  <a:srgbClr val="008000"/>
                </a:solidFill>
                <a:effectLst/>
                <a:latin typeface="Consolas" panose="020B0609020204030204" pitchFamily="49" charset="0"/>
              </a:rPr>
              <a:t>attn_replace.sum</a:t>
            </a:r>
            <a:r>
              <a:rPr lang="en-US" altLang="zh-CN" sz="1200" b="0" dirty="0">
                <a:solidFill>
                  <a:srgbClr val="008000"/>
                </a:solidFill>
                <a:effectLst/>
                <a:latin typeface="Consolas" panose="020B0609020204030204" pitchFamily="49" charset="0"/>
              </a:rPr>
              <a:t>(-1, </a:t>
            </a:r>
            <a:r>
              <a:rPr lang="en-US" altLang="zh-CN" sz="1200" b="0" dirty="0" err="1">
                <a:solidFill>
                  <a:srgbClr val="008000"/>
                </a:solidFill>
                <a:effectLst/>
                <a:latin typeface="Consolas" panose="020B0609020204030204" pitchFamily="49" charset="0"/>
              </a:rPr>
              <a:t>keepdims</a:t>
            </a:r>
            <a:r>
              <a:rPr lang="en-US" altLang="zh-CN" sz="1200" b="0" dirty="0">
                <a:solidFill>
                  <a:srgbClr val="008000"/>
                </a:solidFill>
                <a:effectLst/>
                <a:latin typeface="Consolas" panose="020B0609020204030204" pitchFamily="49" charset="0"/>
              </a:rPr>
              <a:t>=True)</a:t>
            </a:r>
            <a:endParaRPr lang="en-US" altLang="zh-CN" sz="1200" b="0" dirty="0">
              <a:solidFill>
                <a:srgbClr val="3B3B3B"/>
              </a:solidFill>
              <a:effectLst/>
              <a:latin typeface="Consolas" panose="020B0609020204030204" pitchFamily="49" charset="0"/>
            </a:endParaRPr>
          </a:p>
          <a:p>
            <a:pPr>
              <a:lnSpc>
                <a:spcPts val="1425"/>
              </a:lnSpc>
              <a:buNone/>
            </a:pPr>
            <a:r>
              <a:rPr lang="en-US" altLang="zh-CN" sz="1200" b="0" dirty="0">
                <a:solidFill>
                  <a:srgbClr val="3B3B3B"/>
                </a:solidFill>
                <a:effectLst/>
                <a:latin typeface="Consolas" panose="020B0609020204030204" pitchFamily="49" charset="0"/>
              </a:rPr>
              <a:t>        </a:t>
            </a:r>
            <a:r>
              <a:rPr lang="en-US" altLang="zh-CN" sz="1200" b="0" dirty="0">
                <a:solidFill>
                  <a:srgbClr val="AF00DB"/>
                </a:solidFill>
                <a:effectLst/>
                <a:latin typeface="Consolas" panose="020B0609020204030204" pitchFamily="49" charset="0"/>
              </a:rPr>
              <a:t>return</a:t>
            </a:r>
            <a:r>
              <a:rPr lang="en-US" altLang="zh-CN" sz="1200" b="0" dirty="0">
                <a:solidFill>
                  <a:srgbClr val="3B3B3B"/>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attn_replace</a:t>
            </a:r>
            <a:endParaRPr lang="en-US" altLang="zh-CN" sz="1200" b="0" dirty="0">
              <a:solidFill>
                <a:srgbClr val="3B3B3B"/>
              </a:solidFill>
              <a:effectLst/>
              <a:latin typeface="Consolas" panose="020B0609020204030204" pitchFamily="49" charset="0"/>
            </a:endParaRPr>
          </a:p>
        </p:txBody>
      </p:sp>
      <p:sp>
        <p:nvSpPr>
          <p:cNvPr id="15" name="文本框 14">
            <a:extLst>
              <a:ext uri="{FF2B5EF4-FFF2-40B4-BE49-F238E27FC236}">
                <a16:creationId xmlns:a16="http://schemas.microsoft.com/office/drawing/2014/main" id="{CCAA863C-9C2D-FC10-8B1C-341E1B83F852}"/>
              </a:ext>
            </a:extLst>
          </p:cNvPr>
          <p:cNvSpPr txBox="1"/>
          <p:nvPr/>
        </p:nvSpPr>
        <p:spPr>
          <a:xfrm>
            <a:off x="721982" y="4658569"/>
            <a:ext cx="11415946" cy="2072362"/>
          </a:xfrm>
          <a:prstGeom prst="rect">
            <a:avLst/>
          </a:prstGeom>
          <a:noFill/>
        </p:spPr>
        <p:txBody>
          <a:bodyPr wrap="square">
            <a:spAutoFit/>
          </a:bodyPr>
          <a:lstStyle/>
          <a:p>
            <a:pPr marL="285750" indent="-285750">
              <a:spcBef>
                <a:spcPts val="1200"/>
              </a:spcBef>
              <a:spcAft>
                <a:spcPts val="1200"/>
              </a:spcAft>
              <a:buFont typeface="Arial" panose="020B0604020202020204" pitchFamily="34" charset="0"/>
              <a:buChar char="•"/>
            </a:pPr>
            <a:r>
              <a:rPr lang="en-US" altLang="zh-CN" sz="1600" dirty="0" err="1">
                <a:solidFill>
                  <a:srgbClr val="001080"/>
                </a:solidFill>
                <a:latin typeface="Consolas" panose="020B0609020204030204" pitchFamily="49" charset="0"/>
              </a:rPr>
              <a:t>self</a:t>
            </a:r>
            <a:r>
              <a:rPr lang="en-US" altLang="zh-CN" sz="1600" dirty="0" err="1">
                <a:solidFill>
                  <a:srgbClr val="3B3B3B"/>
                </a:solidFill>
                <a:latin typeface="Consolas" panose="020B0609020204030204" pitchFamily="49" charset="0"/>
              </a:rPr>
              <a:t>.</a:t>
            </a:r>
            <a:r>
              <a:rPr lang="en-US" altLang="zh-CN" sz="1600" dirty="0" err="1">
                <a:solidFill>
                  <a:srgbClr val="001080"/>
                </a:solidFill>
                <a:latin typeface="Consolas" panose="020B0609020204030204" pitchFamily="49" charset="0"/>
              </a:rPr>
              <a:t>equalizer</a:t>
            </a:r>
            <a:r>
              <a:rPr lang="en-US" altLang="zh-CN" sz="1600" dirty="0">
                <a:solidFill>
                  <a:srgbClr val="001080"/>
                </a:solidFill>
                <a:latin typeface="Consolas" panose="020B0609020204030204" pitchFamily="49" charset="0"/>
              </a:rPr>
              <a:t>: </a:t>
            </a:r>
            <a:r>
              <a:rPr lang="en-US" altLang="zh-CN" dirty="0">
                <a:solidFill>
                  <a:srgbClr val="0F1115"/>
                </a:solidFill>
                <a:latin typeface="Times New Roman" panose="02020603050405020304" pitchFamily="18" charset="0"/>
                <a:cs typeface="Times New Roman" panose="02020603050405020304" pitchFamily="18" charset="0"/>
              </a:rPr>
              <a:t>a vector to store the weight coefficient of each token, which is directly multiplied by the default attention map.</a:t>
            </a:r>
            <a:endParaRPr lang="en-US" altLang="zh-CN" b="0" i="0" dirty="0">
              <a:solidFill>
                <a:srgbClr val="0F1115"/>
              </a:solidFill>
              <a:effectLst/>
              <a:latin typeface="Times New Roman" panose="02020603050405020304" pitchFamily="18" charset="0"/>
              <a:cs typeface="Times New Roman" panose="02020603050405020304" pitchFamily="18" charset="0"/>
            </a:endParaRPr>
          </a:p>
          <a:p>
            <a:pPr marL="285750" indent="-285750">
              <a:lnSpc>
                <a:spcPts val="1650"/>
              </a:lnSpc>
              <a:spcBef>
                <a:spcPts val="450"/>
              </a:spcBef>
              <a:spcAft>
                <a:spcPts val="1200"/>
              </a:spcAft>
              <a:buFont typeface="Arial" panose="020B0604020202020204" pitchFamily="34" charset="0"/>
              <a:buChar char="•"/>
            </a:pPr>
            <a:r>
              <a:rPr lang="en-US" altLang="zh-CN" b="1" i="0" dirty="0">
                <a:solidFill>
                  <a:srgbClr val="0F1115"/>
                </a:solidFill>
                <a:effectLst/>
                <a:latin typeface="Times New Roman" panose="02020603050405020304" pitchFamily="18" charset="0"/>
                <a:cs typeface="Times New Roman" panose="02020603050405020304" pitchFamily="18" charset="0"/>
              </a:rPr>
              <a:t>Chaining</a:t>
            </a:r>
            <a:r>
              <a:rPr lang="en-US" altLang="zh-CN" b="0" i="0" dirty="0">
                <a:solidFill>
                  <a:srgbClr val="0F1115"/>
                </a:solidFill>
                <a:effectLst/>
                <a:latin typeface="Times New Roman" panose="02020603050405020304" pitchFamily="18" charset="0"/>
                <a:cs typeface="Times New Roman" panose="02020603050405020304" pitchFamily="18" charset="0"/>
              </a:rPr>
              <a:t>: </a:t>
            </a:r>
            <a:r>
              <a:rPr lang="en-US" altLang="zh-CN" dirty="0">
                <a:solidFill>
                  <a:srgbClr val="001080"/>
                </a:solidFill>
                <a:latin typeface="Consolas" panose="020B0609020204030204" pitchFamily="49" charset="0"/>
              </a:rPr>
              <a:t> </a:t>
            </a:r>
            <a:r>
              <a:rPr lang="en-US" altLang="zh-CN" sz="1600" dirty="0" err="1">
                <a:solidFill>
                  <a:srgbClr val="001080"/>
                </a:solidFill>
                <a:latin typeface="Consolas" panose="020B0609020204030204" pitchFamily="49" charset="0"/>
              </a:rPr>
              <a:t>self</a:t>
            </a:r>
            <a:r>
              <a:rPr lang="en-US" altLang="zh-CN" sz="1600" dirty="0" err="1">
                <a:solidFill>
                  <a:srgbClr val="3B3B3B"/>
                </a:solidFill>
                <a:latin typeface="Consolas" panose="020B0609020204030204" pitchFamily="49" charset="0"/>
              </a:rPr>
              <a:t>.</a:t>
            </a:r>
            <a:r>
              <a:rPr lang="en-US" altLang="zh-CN" sz="1600" dirty="0" err="1">
                <a:solidFill>
                  <a:srgbClr val="001080"/>
                </a:solidFill>
                <a:latin typeface="Consolas" panose="020B0609020204030204" pitchFamily="49" charset="0"/>
              </a:rPr>
              <a:t>prev_controller</a:t>
            </a:r>
            <a:r>
              <a:rPr lang="en-US" altLang="zh-CN" sz="1600" b="0" i="0" dirty="0">
                <a:solidFill>
                  <a:srgbClr val="0F1115"/>
                </a:solidFill>
                <a:effectLst/>
                <a:latin typeface="Times New Roman" panose="02020603050405020304" pitchFamily="18" charset="0"/>
                <a:cs typeface="Times New Roman" panose="02020603050405020304" pitchFamily="18" charset="0"/>
              </a:rPr>
              <a:t> </a:t>
            </a:r>
            <a:r>
              <a:rPr lang="en-US" altLang="zh-CN" b="0" i="0" dirty="0">
                <a:solidFill>
                  <a:srgbClr val="0F1115"/>
                </a:solidFill>
                <a:effectLst/>
                <a:latin typeface="Times New Roman" panose="02020603050405020304" pitchFamily="18" charset="0"/>
                <a:cs typeface="Times New Roman" panose="02020603050405020304" pitchFamily="18" charset="0"/>
              </a:rPr>
              <a:t>allows you to chain multiple controllers (e.g., replace first, then reweight)</a:t>
            </a:r>
            <a:r>
              <a:rPr lang="en-US" altLang="zh-CN" dirty="0">
                <a:solidFill>
                  <a:srgbClr val="0F1115"/>
                </a:solidFill>
                <a:latin typeface="Times New Roman" panose="02020603050405020304" pitchFamily="18" charset="0"/>
                <a:cs typeface="Times New Roman" panose="02020603050405020304" pitchFamily="18" charset="0"/>
              </a:rPr>
              <a:t> to achieve more complex editing combinations.</a:t>
            </a:r>
            <a:r>
              <a:rPr lang="en-US" altLang="zh-CN" b="0" i="0" dirty="0">
                <a:solidFill>
                  <a:srgbClr val="0F1115"/>
                </a:solidFill>
                <a:effectLst/>
                <a:latin typeface="Times New Roman" panose="02020603050405020304" pitchFamily="18" charset="0"/>
                <a:cs typeface="Times New Roman" panose="02020603050405020304" pitchFamily="18" charset="0"/>
              </a:rPr>
              <a:t>.</a:t>
            </a:r>
          </a:p>
          <a:p>
            <a:pPr marL="285750" indent="-285750">
              <a:spcBef>
                <a:spcPts val="450"/>
              </a:spcBef>
              <a:spcAft>
                <a:spcPts val="1200"/>
              </a:spcAft>
              <a:buFont typeface="Arial" panose="020B0604020202020204" pitchFamily="34" charset="0"/>
              <a:buChar char="•"/>
            </a:pPr>
            <a:r>
              <a:rPr lang="en-US" altLang="zh-CN" b="1" i="0" dirty="0">
                <a:solidFill>
                  <a:srgbClr val="0F1115"/>
                </a:solidFill>
                <a:effectLst/>
                <a:latin typeface="Times New Roman" panose="02020603050405020304" pitchFamily="18" charset="0"/>
                <a:cs typeface="Times New Roman" panose="02020603050405020304" pitchFamily="18" charset="0"/>
              </a:rPr>
              <a:t>Effect</a:t>
            </a:r>
            <a:r>
              <a:rPr lang="en-US" altLang="zh-CN" b="0" i="0" dirty="0">
                <a:solidFill>
                  <a:srgbClr val="0F1115"/>
                </a:solidFill>
                <a:effectLst/>
                <a:latin typeface="Times New Roman" panose="02020603050405020304" pitchFamily="18" charset="0"/>
                <a:cs typeface="Times New Roman" panose="02020603050405020304" pitchFamily="18" charset="0"/>
              </a:rPr>
              <a:t>: Does not </a:t>
            </a:r>
            <a:r>
              <a:rPr lang="en-US" altLang="zh-CN" dirty="0">
                <a:solidFill>
                  <a:srgbClr val="0F1115"/>
                </a:solidFill>
                <a:latin typeface="Times New Roman" panose="02020603050405020304" pitchFamily="18" charset="0"/>
                <a:cs typeface="Times New Roman" panose="02020603050405020304" pitchFamily="18" charset="0"/>
              </a:rPr>
              <a:t>change the original image structure, but the performance of a certain attribute is significantly strengthened or weakened</a:t>
            </a:r>
            <a:r>
              <a:rPr lang="en-US" altLang="zh-CN" b="0" i="0" dirty="0">
                <a:solidFill>
                  <a:srgbClr val="0F1115"/>
                </a:solidFill>
                <a:effectLst/>
                <a:latin typeface="Times New Roman" panose="02020603050405020304" pitchFamily="18" charset="0"/>
                <a:cs typeface="Times New Roman" panose="02020603050405020304" pitchFamily="18" charset="0"/>
              </a:rPr>
              <a:t>→ suitable for </a:t>
            </a:r>
            <a:r>
              <a:rPr lang="en-US" altLang="zh-CN" b="1" dirty="0">
                <a:solidFill>
                  <a:srgbClr val="0F1115"/>
                </a:solidFill>
                <a:latin typeface="Times New Roman" panose="02020603050405020304" pitchFamily="18" charset="0"/>
                <a:cs typeface="Times New Roman" panose="02020603050405020304" pitchFamily="18" charset="0"/>
              </a:rPr>
              <a:t>fine-tuning image style or attribute intensity</a:t>
            </a:r>
            <a:r>
              <a:rPr lang="en-US" altLang="zh-CN" dirty="0">
                <a:solidFill>
                  <a:srgbClr val="0F1115"/>
                </a:solidFill>
                <a:latin typeface="Times New Roman" panose="02020603050405020304" pitchFamily="18" charset="0"/>
                <a:cs typeface="Times New Roman" panose="02020603050405020304" pitchFamily="18" charset="0"/>
              </a:rPr>
              <a:t>.</a:t>
            </a:r>
            <a:endParaRPr lang="en-US" altLang="zh-CN" b="0" i="0" dirty="0">
              <a:solidFill>
                <a:srgbClr val="0F1115"/>
              </a:solidFill>
              <a:effectLst/>
              <a:latin typeface="Times New Roman" panose="02020603050405020304" pitchFamily="18" charset="0"/>
              <a:cs typeface="Times New Roman" panose="02020603050405020304" pitchFamily="18" charset="0"/>
            </a:endParaRPr>
          </a:p>
        </p:txBody>
      </p:sp>
      <p:pic>
        <p:nvPicPr>
          <p:cNvPr id="17" name="图片 16">
            <a:extLst>
              <a:ext uri="{FF2B5EF4-FFF2-40B4-BE49-F238E27FC236}">
                <a16:creationId xmlns:a16="http://schemas.microsoft.com/office/drawing/2014/main" id="{0AF5E346-4C0C-354E-387B-E10BE5DB3302}"/>
              </a:ext>
            </a:extLst>
          </p:cNvPr>
          <p:cNvPicPr>
            <a:picLocks noChangeAspect="1"/>
          </p:cNvPicPr>
          <p:nvPr/>
        </p:nvPicPr>
        <p:blipFill>
          <a:blip r:embed="rId8"/>
          <a:stretch>
            <a:fillRect/>
          </a:stretch>
        </p:blipFill>
        <p:spPr>
          <a:xfrm>
            <a:off x="5017403" y="1430301"/>
            <a:ext cx="7211233" cy="1412460"/>
          </a:xfrm>
          <a:prstGeom prst="rect">
            <a:avLst/>
          </a:prstGeom>
        </p:spPr>
      </p:pic>
      <p:sp>
        <p:nvSpPr>
          <p:cNvPr id="3" name="矩形 2">
            <a:extLst>
              <a:ext uri="{FF2B5EF4-FFF2-40B4-BE49-F238E27FC236}">
                <a16:creationId xmlns:a16="http://schemas.microsoft.com/office/drawing/2014/main" id="{F1772E41-B15C-8193-9E9C-329DC042154E}"/>
              </a:ext>
            </a:extLst>
          </p:cNvPr>
          <p:cNvSpPr/>
          <p:nvPr/>
        </p:nvSpPr>
        <p:spPr>
          <a:xfrm>
            <a:off x="2649147" y="2524280"/>
            <a:ext cx="133427" cy="265946"/>
          </a:xfrm>
          <a:prstGeom prst="rect">
            <a:avLst/>
          </a:prstGeom>
          <a:noFill/>
          <a:ln w="19050">
            <a:solidFill>
              <a:srgbClr val="F117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灯片编号占位符 11">
            <a:extLst>
              <a:ext uri="{FF2B5EF4-FFF2-40B4-BE49-F238E27FC236}">
                <a16:creationId xmlns:a16="http://schemas.microsoft.com/office/drawing/2014/main" id="{4E587651-3076-A1CE-6820-AB6308C8E2AD}"/>
              </a:ext>
            </a:extLst>
          </p:cNvPr>
          <p:cNvSpPr>
            <a:spLocks noGrp="1"/>
          </p:cNvSpPr>
          <p:nvPr>
            <p:ph type="sldNum" sz="quarter" idx="12"/>
          </p:nvPr>
        </p:nvSpPr>
        <p:spPr/>
        <p:txBody>
          <a:bodyPr/>
          <a:lstStyle/>
          <a:p>
            <a:fld id="{E6518835-16E6-9244-9C02-6BFB876E5D3C}" type="slidenum">
              <a:rPr kumimoji="1" lang="zh-CN" altLang="en-US" smtClean="0"/>
              <a:t>19</a:t>
            </a:fld>
            <a:endParaRPr kumimoji="1" lang="zh-CN" altLang="en-US"/>
          </a:p>
        </p:txBody>
      </p:sp>
    </p:spTree>
    <p:extLst>
      <p:ext uri="{BB962C8B-B14F-4D97-AF65-F5344CB8AC3E}">
        <p14:creationId xmlns:p14="http://schemas.microsoft.com/office/powerpoint/2010/main" val="3759153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49D4-A61E-6BE0-9E8A-2C00DBC1F57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EAB2CA55-E535-D42B-9120-A55B9C3F31A6}"/>
              </a:ext>
            </a:extLst>
          </p:cNvPr>
          <p:cNvSpPr/>
          <p:nvPr/>
        </p:nvSpPr>
        <p:spPr>
          <a:xfrm>
            <a:off x="0" y="161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3" name="组合 12">
            <a:extLst>
              <a:ext uri="{FF2B5EF4-FFF2-40B4-BE49-F238E27FC236}">
                <a16:creationId xmlns:a16="http://schemas.microsoft.com/office/drawing/2014/main" id="{F1E7A1B2-2C90-C001-5BBE-14BE9FFF76FF}"/>
              </a:ext>
            </a:extLst>
          </p:cNvPr>
          <p:cNvGrpSpPr/>
          <p:nvPr/>
        </p:nvGrpSpPr>
        <p:grpSpPr>
          <a:xfrm>
            <a:off x="370072" y="219176"/>
            <a:ext cx="2150839" cy="449040"/>
            <a:chOff x="2085654" y="644950"/>
            <a:chExt cx="7772400" cy="1622679"/>
          </a:xfrm>
        </p:grpSpPr>
        <p:pic>
          <p:nvPicPr>
            <p:cNvPr id="41" name="图片 40">
              <a:extLst>
                <a:ext uri="{FF2B5EF4-FFF2-40B4-BE49-F238E27FC236}">
                  <a16:creationId xmlns:a16="http://schemas.microsoft.com/office/drawing/2014/main" id="{FD3BF476-F6D6-56A5-A77B-D99EA148D6C8}"/>
                </a:ext>
              </a:extLst>
            </p:cNvPr>
            <p:cNvPicPr>
              <a:picLocks noChangeAspect="1"/>
            </p:cNvPicPr>
            <p:nvPr/>
          </p:nvPicPr>
          <p:blipFill rotWithShape="1">
            <a:blip r:embed="rId3"/>
            <a:srcRect r="78982"/>
            <a:stretch/>
          </p:blipFill>
          <p:spPr>
            <a:xfrm>
              <a:off x="2085654" y="644950"/>
              <a:ext cx="1633591" cy="1622679"/>
            </a:xfrm>
            <a:prstGeom prst="rect">
              <a:avLst/>
            </a:prstGeom>
          </p:spPr>
        </p:pic>
        <p:pic>
          <p:nvPicPr>
            <p:cNvPr id="42" name="图片 41">
              <a:extLst>
                <a:ext uri="{FF2B5EF4-FFF2-40B4-BE49-F238E27FC236}">
                  <a16:creationId xmlns:a16="http://schemas.microsoft.com/office/drawing/2014/main" id="{8A185E11-A0EE-1497-8133-871B086B56CF}"/>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8" name="文本框 7">
            <a:extLst>
              <a:ext uri="{FF2B5EF4-FFF2-40B4-BE49-F238E27FC236}">
                <a16:creationId xmlns:a16="http://schemas.microsoft.com/office/drawing/2014/main" id="{3C482B35-A8BC-EE9B-056B-09796844F605}"/>
              </a:ext>
            </a:extLst>
          </p:cNvPr>
          <p:cNvSpPr txBox="1"/>
          <p:nvPr/>
        </p:nvSpPr>
        <p:spPr>
          <a:xfrm>
            <a:off x="3427296" y="2767805"/>
            <a:ext cx="8644001" cy="1200329"/>
          </a:xfrm>
          <a:prstGeom prst="rect">
            <a:avLst/>
          </a:prstGeom>
          <a:noFill/>
        </p:spPr>
        <p:txBody>
          <a:bodyPr wrap="square" rtlCol="0">
            <a:spAutoFit/>
          </a:bodyPr>
          <a:lstStyle/>
          <a:p>
            <a:pPr algn="ctr"/>
            <a:r>
              <a:rPr lang="en-US" altLang="zh-CN" sz="3600" b="1" dirty="0">
                <a:solidFill>
                  <a:srgbClr val="0070C0"/>
                </a:solidFill>
                <a:latin typeface="Times New Roman" panose="02020603050405020304" pitchFamily="18" charset="0"/>
                <a:cs typeface="Times New Roman" panose="02020603050405020304" pitchFamily="18" charset="0"/>
              </a:rPr>
              <a:t>Attention Storage Mechanism</a:t>
            </a:r>
            <a:endParaRPr lang="zh-CN" altLang="en-US" sz="3600" b="1" dirty="0">
              <a:solidFill>
                <a:srgbClr val="0070C0"/>
              </a:solidFill>
              <a:latin typeface="Times New Roman" panose="02020603050405020304" pitchFamily="18" charset="0"/>
              <a:cs typeface="Times New Roman" panose="02020603050405020304" pitchFamily="18" charset="0"/>
            </a:endParaRPr>
          </a:p>
          <a:p>
            <a:pPr algn="ctr"/>
            <a:r>
              <a:rPr lang="en-US" altLang="zh-CN" sz="3600" b="1" dirty="0">
                <a:solidFill>
                  <a:srgbClr val="0070C0"/>
                </a:solidFill>
                <a:latin typeface="Times New Roman" panose="02020603050405020304" pitchFamily="18" charset="0"/>
                <a:cs typeface="Times New Roman" panose="02020603050405020304" pitchFamily="18" charset="0"/>
              </a:rPr>
              <a:t>L</a:t>
            </a:r>
            <a:r>
              <a:rPr lang="zh-CN" altLang="zh-CN" sz="3600" b="1" dirty="0">
                <a:solidFill>
                  <a:srgbClr val="0070C0"/>
                </a:solidFill>
                <a:latin typeface="Times New Roman" panose="02020603050405020304" pitchFamily="18" charset="0"/>
                <a:cs typeface="Times New Roman" panose="02020603050405020304" pitchFamily="18" charset="0"/>
              </a:rPr>
              <a:t>ocal </a:t>
            </a:r>
            <a:r>
              <a:rPr lang="en-US" altLang="zh-CN" sz="3600" b="1" dirty="0">
                <a:solidFill>
                  <a:srgbClr val="0070C0"/>
                </a:solidFill>
                <a:latin typeface="Times New Roman" panose="02020603050405020304" pitchFamily="18" charset="0"/>
                <a:cs typeface="Times New Roman" panose="02020603050405020304" pitchFamily="18" charset="0"/>
              </a:rPr>
              <a:t>E</a:t>
            </a:r>
            <a:r>
              <a:rPr lang="zh-CN" altLang="zh-CN" sz="3600" b="1" dirty="0">
                <a:solidFill>
                  <a:srgbClr val="0070C0"/>
                </a:solidFill>
                <a:latin typeface="Times New Roman" panose="02020603050405020304" pitchFamily="18" charset="0"/>
                <a:cs typeface="Times New Roman" panose="02020603050405020304" pitchFamily="18" charset="0"/>
              </a:rPr>
              <a:t>diting and </a:t>
            </a:r>
            <a:r>
              <a:rPr lang="en-US" altLang="zh-CN" sz="3600" b="1" dirty="0">
                <a:solidFill>
                  <a:srgbClr val="0070C0"/>
                </a:solidFill>
                <a:latin typeface="Times New Roman" panose="02020603050405020304" pitchFamily="18" charset="0"/>
                <a:cs typeface="Times New Roman" panose="02020603050405020304" pitchFamily="18" charset="0"/>
              </a:rPr>
              <a:t>S</a:t>
            </a:r>
            <a:r>
              <a:rPr lang="zh-CN" altLang="zh-CN" sz="3600" b="1" dirty="0">
                <a:solidFill>
                  <a:srgbClr val="0070C0"/>
                </a:solidFill>
                <a:latin typeface="Times New Roman" panose="02020603050405020304" pitchFamily="18" charset="0"/>
                <a:cs typeface="Times New Roman" panose="02020603050405020304" pitchFamily="18" charset="0"/>
              </a:rPr>
              <a:t>tyle </a:t>
            </a:r>
            <a:r>
              <a:rPr lang="en-US" altLang="zh-CN" sz="3600" b="1" dirty="0">
                <a:solidFill>
                  <a:srgbClr val="0070C0"/>
                </a:solidFill>
                <a:latin typeface="Times New Roman" panose="02020603050405020304" pitchFamily="18" charset="0"/>
                <a:cs typeface="Times New Roman" panose="02020603050405020304" pitchFamily="18" charset="0"/>
              </a:rPr>
              <a:t>I</a:t>
            </a:r>
            <a:r>
              <a:rPr lang="zh-CN" altLang="zh-CN" sz="3600" b="1" dirty="0">
                <a:solidFill>
                  <a:srgbClr val="0070C0"/>
                </a:solidFill>
                <a:latin typeface="Times New Roman" panose="02020603050405020304" pitchFamily="18" charset="0"/>
                <a:cs typeface="Times New Roman" panose="02020603050405020304" pitchFamily="18" charset="0"/>
              </a:rPr>
              <a:t>ntensity </a:t>
            </a:r>
            <a:r>
              <a:rPr lang="en-US" altLang="zh-CN" sz="3600" b="1" dirty="0">
                <a:solidFill>
                  <a:srgbClr val="0070C0"/>
                </a:solidFill>
                <a:latin typeface="Times New Roman" panose="02020603050405020304" pitchFamily="18" charset="0"/>
                <a:cs typeface="Times New Roman" panose="02020603050405020304" pitchFamily="18" charset="0"/>
              </a:rPr>
              <a:t>C</a:t>
            </a:r>
            <a:r>
              <a:rPr lang="zh-CN" altLang="zh-CN" sz="3600" b="1" dirty="0">
                <a:solidFill>
                  <a:srgbClr val="0070C0"/>
                </a:solidFill>
                <a:latin typeface="Times New Roman" panose="02020603050405020304" pitchFamily="18" charset="0"/>
                <a:cs typeface="Times New Roman" panose="02020603050405020304" pitchFamily="18" charset="0"/>
              </a:rPr>
              <a:t>ontrol</a:t>
            </a:r>
            <a:endParaRPr lang="zh-CN" altLang="en-US" sz="3600" b="1" dirty="0">
              <a:solidFill>
                <a:srgbClr val="0070C0"/>
              </a:solidFill>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0448366C-322D-90B9-D3EB-9483BCC61699}"/>
              </a:ext>
            </a:extLst>
          </p:cNvPr>
          <p:cNvSpPr txBox="1"/>
          <p:nvPr/>
        </p:nvSpPr>
        <p:spPr>
          <a:xfrm>
            <a:off x="1807296" y="2583140"/>
            <a:ext cx="1620000" cy="1569660"/>
          </a:xfrm>
          <a:prstGeom prst="rect">
            <a:avLst/>
          </a:prstGeom>
          <a:solidFill>
            <a:srgbClr val="0070C0"/>
          </a:solidFill>
          <a:ln>
            <a:solidFill>
              <a:srgbClr val="0070C0"/>
            </a:solidFill>
          </a:ln>
        </p:spPr>
        <p:txBody>
          <a:bodyPr wrap="square" rtlCol="0">
            <a:spAutoFit/>
          </a:bodyPr>
          <a:lstStyle/>
          <a:p>
            <a:pPr algn="ctr"/>
            <a:r>
              <a:rPr lang="en-US" altLang="zh-CN" sz="9600" b="1" dirty="0">
                <a:solidFill>
                  <a:schemeClr val="bg1"/>
                </a:solidFill>
                <a:latin typeface="Calibri" panose="020F0502020204030204" pitchFamily="34" charset="0"/>
                <a:ea typeface="Calibri" panose="020F0502020204030204" pitchFamily="34" charset="0"/>
                <a:cs typeface="Calibri" panose="020F0502020204030204" pitchFamily="34" charset="0"/>
              </a:rPr>
              <a:t>03</a:t>
            </a:r>
            <a:endParaRPr lang="zh-CN" altLang="en-US" sz="9600" b="1" dirty="0">
              <a:solidFill>
                <a:schemeClr val="bg1"/>
              </a:solidFill>
              <a:latin typeface="Calibri" panose="020F0502020204030204" pitchFamily="34" charset="0"/>
              <a:cs typeface="Calibri" panose="020F0502020204030204" pitchFamily="34" charset="0"/>
            </a:endParaRPr>
          </a:p>
        </p:txBody>
      </p:sp>
      <p:sp>
        <p:nvSpPr>
          <p:cNvPr id="2" name="灯片编号占位符 1">
            <a:extLst>
              <a:ext uri="{FF2B5EF4-FFF2-40B4-BE49-F238E27FC236}">
                <a16:creationId xmlns:a16="http://schemas.microsoft.com/office/drawing/2014/main" id="{F2D2078B-3E97-1CD1-132C-F84F577CE54D}"/>
              </a:ext>
            </a:extLst>
          </p:cNvPr>
          <p:cNvSpPr>
            <a:spLocks noGrp="1"/>
          </p:cNvSpPr>
          <p:nvPr>
            <p:ph type="sldNum" sz="quarter" idx="12"/>
          </p:nvPr>
        </p:nvSpPr>
        <p:spPr/>
        <p:txBody>
          <a:bodyPr/>
          <a:lstStyle/>
          <a:p>
            <a:fld id="{E6518835-16E6-9244-9C02-6BFB876E5D3C}" type="slidenum">
              <a:rPr kumimoji="1" lang="zh-CN" altLang="en-US" smtClean="0"/>
              <a:t>20</a:t>
            </a:fld>
            <a:endParaRPr kumimoji="1" lang="zh-CN" altLang="en-US"/>
          </a:p>
        </p:txBody>
      </p:sp>
    </p:spTree>
    <p:extLst>
      <p:ext uri="{BB962C8B-B14F-4D97-AF65-F5344CB8AC3E}">
        <p14:creationId xmlns:p14="http://schemas.microsoft.com/office/powerpoint/2010/main" val="1661679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C0DBB82-6A2A-FA5A-0A4F-4B1B88635BAF}"/>
              </a:ext>
            </a:extLst>
          </p:cNvPr>
          <p:cNvSpPr/>
          <p:nvPr/>
        </p:nvSpPr>
        <p:spPr>
          <a:xfrm>
            <a:off x="0" y="161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883E3872-D80F-D44C-60A4-0ED5414D3D71}"/>
              </a:ext>
            </a:extLst>
          </p:cNvPr>
          <p:cNvSpPr txBox="1"/>
          <p:nvPr/>
        </p:nvSpPr>
        <p:spPr>
          <a:xfrm>
            <a:off x="5113166" y="110987"/>
            <a:ext cx="1184941"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Local</a:t>
            </a:r>
            <a:b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b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Editing</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07C06280-39AA-EA4C-4AA0-3865F0351006}"/>
              </a:ext>
            </a:extLst>
          </p:cNvPr>
          <p:cNvSpPr txBox="1"/>
          <p:nvPr/>
        </p:nvSpPr>
        <p:spPr>
          <a:xfrm>
            <a:off x="6803544" y="87500"/>
            <a:ext cx="1402949"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Style</a:t>
            </a:r>
            <a:b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b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Intensity</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0" name="圆角矩形 9">
            <a:extLst>
              <a:ext uri="{FF2B5EF4-FFF2-40B4-BE49-F238E27FC236}">
                <a16:creationId xmlns:a16="http://schemas.microsoft.com/office/drawing/2014/main" id="{F57D33F6-F20D-7FA9-2D47-68E33E52260D}"/>
              </a:ext>
            </a:extLst>
          </p:cNvPr>
          <p:cNvSpPr/>
          <p:nvPr/>
        </p:nvSpPr>
        <p:spPr>
          <a:xfrm>
            <a:off x="2520911"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5AE531F2-E4DF-DB0B-36A2-C438D260A0DE}"/>
              </a:ext>
            </a:extLst>
          </p:cNvPr>
          <p:cNvSpPr txBox="1"/>
          <p:nvPr/>
        </p:nvSpPr>
        <p:spPr>
          <a:xfrm>
            <a:off x="2761450" y="120530"/>
            <a:ext cx="1467068" cy="646331"/>
          </a:xfrm>
          <a:prstGeom prst="rect">
            <a:avLst/>
          </a:prstGeom>
          <a:noFill/>
        </p:spPr>
        <p:txBody>
          <a:bodyPr vert="horz" wrap="none" rtlCol="0">
            <a:spAutoFit/>
          </a:bodyPr>
          <a:lstStyle/>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Attention</a:t>
            </a:r>
          </a:p>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Storage</a:t>
            </a:r>
            <a:endParaRPr kumimoji="1" lang="zh-CN" altLang="en-US"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 name="PA-直接连接符 17">
            <a:extLst>
              <a:ext uri="{FF2B5EF4-FFF2-40B4-BE49-F238E27FC236}">
                <a16:creationId xmlns:a16="http://schemas.microsoft.com/office/drawing/2014/main" id="{2BDD59A7-0642-73F9-2D07-E21E9E17B013}"/>
              </a:ext>
            </a:extLst>
          </p:cNvPr>
          <p:cNvCxnSpPr>
            <a:cxnSpLocks/>
          </p:cNvCxnSpPr>
          <p:nvPr>
            <p:custDataLst>
              <p:tags r:id="rId1"/>
            </p:custDataLst>
          </p:nvPr>
        </p:nvCxnSpPr>
        <p:spPr>
          <a:xfrm>
            <a:off x="1549217" y="1659981"/>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PA-直接连接符 17">
            <a:extLst>
              <a:ext uri="{FF2B5EF4-FFF2-40B4-BE49-F238E27FC236}">
                <a16:creationId xmlns:a16="http://schemas.microsoft.com/office/drawing/2014/main" id="{3A9A152A-9ACA-66C7-3DD6-9D317FDDDE85}"/>
              </a:ext>
            </a:extLst>
          </p:cNvPr>
          <p:cNvCxnSpPr>
            <a:cxnSpLocks/>
          </p:cNvCxnSpPr>
          <p:nvPr>
            <p:custDataLst>
              <p:tags r:id="rId2"/>
            </p:custDataLst>
          </p:nvPr>
        </p:nvCxnSpPr>
        <p:spPr>
          <a:xfrm>
            <a:off x="548533" y="165998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9" name="PA-文本框 14">
            <a:extLst>
              <a:ext uri="{FF2B5EF4-FFF2-40B4-BE49-F238E27FC236}">
                <a16:creationId xmlns:a16="http://schemas.microsoft.com/office/drawing/2014/main" id="{FEA424E4-C4B9-1F06-BC87-6BEEDC881C1A}"/>
              </a:ext>
            </a:extLst>
          </p:cNvPr>
          <p:cNvSpPr txBox="1"/>
          <p:nvPr>
            <p:custDataLst>
              <p:tags r:id="rId3"/>
            </p:custDataLst>
          </p:nvPr>
        </p:nvSpPr>
        <p:spPr>
          <a:xfrm>
            <a:off x="441671" y="1066036"/>
            <a:ext cx="8900292" cy="52322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itchFamily="2" charset="2"/>
              <a:buChar char="Ø"/>
            </a:pPr>
            <a:r>
              <a:rPr lang="en-US" altLang="zh-CN"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rPr>
              <a:t>Attention Storage Mechanism</a:t>
            </a:r>
            <a:endParaRPr lang="zh-CN" altLang="en-US"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CF70EE02-794D-21B5-F653-28086E15650B}"/>
              </a:ext>
            </a:extLst>
          </p:cNvPr>
          <p:cNvSpPr txBox="1"/>
          <p:nvPr/>
        </p:nvSpPr>
        <p:spPr>
          <a:xfrm>
            <a:off x="1428044" y="2777884"/>
            <a:ext cx="1899291" cy="400110"/>
          </a:xfrm>
          <a:prstGeom prst="rect">
            <a:avLst/>
          </a:prstGeom>
          <a:noFill/>
        </p:spPr>
        <p:txBody>
          <a:bodyPr wrap="square" rtlCol="0">
            <a:spAutoFit/>
          </a:bodyPr>
          <a:lstStyle/>
          <a:p>
            <a:pPr algn="ctr"/>
            <a:r>
              <a:rPr kumimoji="1" lang="zh-CN" altLang="en-US" sz="2000" b="1" spc="110" dirty="0">
                <a:solidFill>
                  <a:schemeClr val="bg1"/>
                </a:solidFill>
                <a:latin typeface="Microsoft YaHei" panose="020B0503020204020204" pitchFamily="34" charset="-122"/>
                <a:ea typeface="Microsoft YaHei" panose="020B0503020204020204" pitchFamily="34" charset="-122"/>
              </a:rPr>
              <a:t>点击输入内容</a:t>
            </a:r>
          </a:p>
        </p:txBody>
      </p:sp>
      <p:sp>
        <p:nvSpPr>
          <p:cNvPr id="22" name="文本框 21">
            <a:extLst>
              <a:ext uri="{FF2B5EF4-FFF2-40B4-BE49-F238E27FC236}">
                <a16:creationId xmlns:a16="http://schemas.microsoft.com/office/drawing/2014/main" id="{92B0DF05-3DCF-A655-45B4-36775E4EB3BE}"/>
              </a:ext>
            </a:extLst>
          </p:cNvPr>
          <p:cNvSpPr txBox="1"/>
          <p:nvPr/>
        </p:nvSpPr>
        <p:spPr>
          <a:xfrm>
            <a:off x="3892786" y="2777884"/>
            <a:ext cx="1899291" cy="400110"/>
          </a:xfrm>
          <a:prstGeom prst="rect">
            <a:avLst/>
          </a:prstGeom>
          <a:noFill/>
        </p:spPr>
        <p:txBody>
          <a:bodyPr wrap="square" rtlCol="0">
            <a:spAutoFit/>
          </a:bodyPr>
          <a:lstStyle/>
          <a:p>
            <a:pPr algn="ctr"/>
            <a:r>
              <a:rPr kumimoji="1" lang="zh-CN" altLang="en-US" sz="2000" b="1" spc="110" dirty="0">
                <a:solidFill>
                  <a:schemeClr val="bg1"/>
                </a:solidFill>
                <a:latin typeface="Microsoft YaHei" panose="020B0503020204020204" pitchFamily="34" charset="-122"/>
                <a:ea typeface="Microsoft YaHei" panose="020B0503020204020204" pitchFamily="34" charset="-122"/>
              </a:rPr>
              <a:t>点击输入内容</a:t>
            </a:r>
          </a:p>
        </p:txBody>
      </p:sp>
      <p:grpSp>
        <p:nvGrpSpPr>
          <p:cNvPr id="13" name="组合 12">
            <a:extLst>
              <a:ext uri="{FF2B5EF4-FFF2-40B4-BE49-F238E27FC236}">
                <a16:creationId xmlns:a16="http://schemas.microsoft.com/office/drawing/2014/main" id="{AF6291C3-F843-592C-C9CA-4D4C07F1ED29}"/>
              </a:ext>
            </a:extLst>
          </p:cNvPr>
          <p:cNvGrpSpPr/>
          <p:nvPr/>
        </p:nvGrpSpPr>
        <p:grpSpPr>
          <a:xfrm>
            <a:off x="370072" y="219176"/>
            <a:ext cx="2150839" cy="449040"/>
            <a:chOff x="2085654" y="644950"/>
            <a:chExt cx="7772400" cy="1622679"/>
          </a:xfrm>
        </p:grpSpPr>
        <p:pic>
          <p:nvPicPr>
            <p:cNvPr id="41" name="图片 40">
              <a:extLst>
                <a:ext uri="{FF2B5EF4-FFF2-40B4-BE49-F238E27FC236}">
                  <a16:creationId xmlns:a16="http://schemas.microsoft.com/office/drawing/2014/main" id="{3D4414C4-22C3-836E-D7F8-7ACF7D767D37}"/>
                </a:ext>
              </a:extLst>
            </p:cNvPr>
            <p:cNvPicPr>
              <a:picLocks noChangeAspect="1"/>
            </p:cNvPicPr>
            <p:nvPr/>
          </p:nvPicPr>
          <p:blipFill rotWithShape="1">
            <a:blip r:embed="rId6"/>
            <a:srcRect r="78982"/>
            <a:stretch/>
          </p:blipFill>
          <p:spPr>
            <a:xfrm>
              <a:off x="2085654" y="644950"/>
              <a:ext cx="1633591" cy="1622679"/>
            </a:xfrm>
            <a:prstGeom prst="rect">
              <a:avLst/>
            </a:prstGeom>
          </p:spPr>
        </p:pic>
        <p:pic>
          <p:nvPicPr>
            <p:cNvPr id="42" name="图片 41">
              <a:extLst>
                <a:ext uri="{FF2B5EF4-FFF2-40B4-BE49-F238E27FC236}">
                  <a16:creationId xmlns:a16="http://schemas.microsoft.com/office/drawing/2014/main" id="{AEA89820-384B-1B60-B74F-02917FC0E614}"/>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7" name="文本框 6">
            <a:extLst>
              <a:ext uri="{FF2B5EF4-FFF2-40B4-BE49-F238E27FC236}">
                <a16:creationId xmlns:a16="http://schemas.microsoft.com/office/drawing/2014/main" id="{21320F74-7CBE-CFBE-2F98-878FA5C5F185}"/>
              </a:ext>
            </a:extLst>
          </p:cNvPr>
          <p:cNvSpPr txBox="1"/>
          <p:nvPr/>
        </p:nvSpPr>
        <p:spPr>
          <a:xfrm>
            <a:off x="548533" y="1730707"/>
            <a:ext cx="10818714" cy="1200329"/>
          </a:xfrm>
          <a:prstGeom prst="rect">
            <a:avLst/>
          </a:prstGeom>
          <a:noFill/>
        </p:spPr>
        <p:txBody>
          <a:bodyPr wrap="square" rtlCol="0">
            <a:spAutoFit/>
          </a:bodyPr>
          <a:lstStyle/>
          <a:p>
            <a:pPr algn="just"/>
            <a:r>
              <a:rPr lang="en-US" altLang="zh-CN" b="1" dirty="0">
                <a:highlight>
                  <a:srgbClr val="FFFF00"/>
                </a:highlight>
                <a:latin typeface="Times New Roman" panose="02020603050405020304" pitchFamily="18" charset="0"/>
                <a:cs typeface="Times New Roman" panose="02020603050405020304" pitchFamily="18" charset="0"/>
              </a:rPr>
              <a:t>C</a:t>
            </a:r>
            <a:r>
              <a:rPr lang="zh-CN" altLang="zh-CN" b="1" dirty="0">
                <a:highlight>
                  <a:srgbClr val="FFFF00"/>
                </a:highlight>
                <a:latin typeface="Times New Roman" panose="02020603050405020304" pitchFamily="18" charset="0"/>
                <a:cs typeface="Times New Roman" panose="02020603050405020304" pitchFamily="18" charset="0"/>
              </a:rPr>
              <a:t>lass AttentionStore</a:t>
            </a:r>
            <a:r>
              <a:rPr lang="zh-CN"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which is the prerequisite for all subsequent attention editing controllers. Components that play a role in the project later (such as </a:t>
            </a:r>
            <a:r>
              <a:rPr lang="en-US" altLang="zh-CN" dirty="0" err="1">
                <a:latin typeface="Times New Roman" panose="02020603050405020304" pitchFamily="18" charset="0"/>
                <a:cs typeface="Times New Roman" panose="02020603050405020304" pitchFamily="18" charset="0"/>
              </a:rPr>
              <a:t>LocalBlend</a:t>
            </a:r>
            <a:r>
              <a:rPr lang="en-US" altLang="zh-CN" dirty="0">
                <a:latin typeface="Times New Roman" panose="02020603050405020304" pitchFamily="18" charset="0"/>
                <a:cs typeface="Times New Roman" panose="02020603050405020304" pitchFamily="18" charset="0"/>
              </a:rPr>
              <a:t> for local protection ) must call the original attention heatmaps recorded in </a:t>
            </a:r>
            <a:r>
              <a:rPr lang="en-US" altLang="zh-CN" dirty="0" err="1">
                <a:latin typeface="Times New Roman" panose="02020603050405020304" pitchFamily="18" charset="0"/>
                <a:cs typeface="Times New Roman" panose="02020603050405020304" pitchFamily="18" charset="0"/>
              </a:rPr>
              <a:t>AttentionStore</a:t>
            </a:r>
            <a:r>
              <a:rPr lang="en-US" altLang="zh-CN" dirty="0">
                <a:latin typeface="Times New Roman" panose="02020603050405020304" pitchFamily="18" charset="0"/>
                <a:cs typeface="Times New Roman" panose="02020603050405020304" pitchFamily="18" charset="0"/>
              </a:rPr>
              <a:t>.</a:t>
            </a:r>
          </a:p>
          <a:p>
            <a:pPr algn="just"/>
            <a:endParaRPr lang="zh-CN" altLang="zh-CN" dirty="0">
              <a:latin typeface="Times New Roman" panose="02020603050405020304" pitchFamily="18" charset="0"/>
              <a:cs typeface="Times New Roman" panose="02020603050405020304" pitchFamily="18" charset="0"/>
            </a:endParaRPr>
          </a:p>
        </p:txBody>
      </p:sp>
      <p:pic>
        <p:nvPicPr>
          <p:cNvPr id="12" name="图片 11">
            <a:extLst>
              <a:ext uri="{FF2B5EF4-FFF2-40B4-BE49-F238E27FC236}">
                <a16:creationId xmlns:a16="http://schemas.microsoft.com/office/drawing/2014/main" id="{5FAFF06B-1D3C-95E8-A900-BEE848845621}"/>
              </a:ext>
            </a:extLst>
          </p:cNvPr>
          <p:cNvPicPr>
            <a:picLocks noChangeAspect="1"/>
          </p:cNvPicPr>
          <p:nvPr/>
        </p:nvPicPr>
        <p:blipFill>
          <a:blip r:embed="rId9"/>
          <a:stretch>
            <a:fillRect/>
          </a:stretch>
        </p:blipFill>
        <p:spPr>
          <a:xfrm>
            <a:off x="5395798" y="2805037"/>
            <a:ext cx="6100424" cy="1177274"/>
          </a:xfrm>
          <a:prstGeom prst="rect">
            <a:avLst/>
          </a:prstGeom>
        </p:spPr>
      </p:pic>
      <p:pic>
        <p:nvPicPr>
          <p:cNvPr id="15" name="图片 14">
            <a:extLst>
              <a:ext uri="{FF2B5EF4-FFF2-40B4-BE49-F238E27FC236}">
                <a16:creationId xmlns:a16="http://schemas.microsoft.com/office/drawing/2014/main" id="{C499089F-A75E-C85F-A5B4-7E6D4C3991E4}"/>
              </a:ext>
            </a:extLst>
          </p:cNvPr>
          <p:cNvPicPr>
            <a:picLocks noChangeAspect="1"/>
          </p:cNvPicPr>
          <p:nvPr/>
        </p:nvPicPr>
        <p:blipFill>
          <a:blip r:embed="rId10"/>
          <a:stretch>
            <a:fillRect/>
          </a:stretch>
        </p:blipFill>
        <p:spPr>
          <a:xfrm>
            <a:off x="596102" y="2777884"/>
            <a:ext cx="4799696" cy="1325385"/>
          </a:xfrm>
          <a:prstGeom prst="rect">
            <a:avLst/>
          </a:prstGeom>
        </p:spPr>
      </p:pic>
      <p:sp>
        <p:nvSpPr>
          <p:cNvPr id="17" name="文本框 16">
            <a:extLst>
              <a:ext uri="{FF2B5EF4-FFF2-40B4-BE49-F238E27FC236}">
                <a16:creationId xmlns:a16="http://schemas.microsoft.com/office/drawing/2014/main" id="{5D15D56B-0967-5387-2814-4AB8887B8424}"/>
              </a:ext>
            </a:extLst>
          </p:cNvPr>
          <p:cNvSpPr txBox="1"/>
          <p:nvPr/>
        </p:nvSpPr>
        <p:spPr>
          <a:xfrm>
            <a:off x="5082033" y="4511308"/>
            <a:ext cx="6589629" cy="2031325"/>
          </a:xfrm>
          <a:prstGeom prst="rect">
            <a:avLst/>
          </a:prstGeom>
          <a:noFill/>
          <a:ln w="28575">
            <a:solidFill>
              <a:schemeClr val="accent1"/>
            </a:solidFill>
          </a:ln>
        </p:spPr>
        <p:txBody>
          <a:bodyPr wrap="square" rtlCol="0">
            <a:spAutoFit/>
          </a:bodyPr>
          <a:lstStyle/>
          <a:p>
            <a:pPr algn="just"/>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Three </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image processing stages:</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zh-CN"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downsampling</a:t>
            </a:r>
            <a:r>
              <a:rPr lang="en-US" altLang="zh-CN" dirty="0">
                <a:latin typeface="Times New Roman" panose="02020603050405020304" pitchFamily="18" charset="0"/>
                <a:cs typeface="Times New Roman" panose="02020603050405020304" pitchFamily="18" charset="0"/>
              </a:rPr>
              <a:t> (down), the middle layer (mid), and </a:t>
            </a:r>
            <a:r>
              <a:rPr lang="en-US" altLang="zh-CN" dirty="0" err="1">
                <a:latin typeface="Times New Roman" panose="02020603050405020304" pitchFamily="18" charset="0"/>
                <a:cs typeface="Times New Roman" panose="02020603050405020304" pitchFamily="18" charset="0"/>
              </a:rPr>
              <a:t>upsampling</a:t>
            </a:r>
            <a:r>
              <a:rPr lang="en-US" altLang="zh-CN" dirty="0">
                <a:latin typeface="Times New Roman" panose="02020603050405020304" pitchFamily="18" charset="0"/>
                <a:cs typeface="Times New Roman" panose="02020603050405020304" pitchFamily="18" charset="0"/>
              </a:rPr>
              <a:t> (up). </a:t>
            </a:r>
          </a:p>
          <a:p>
            <a:pPr algn="just"/>
            <a:endParaRPr lang="en-US" altLang="zh-CN" dirty="0">
              <a:latin typeface="Times New Roman" panose="02020603050405020304" pitchFamily="18" charset="0"/>
              <a:cs typeface="Times New Roman" panose="02020603050405020304" pitchFamily="18" charset="0"/>
            </a:endParaRPr>
          </a:p>
          <a:p>
            <a:pPr algn="just"/>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Two</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attention mechanism</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en-US" altLang="zh-CN" dirty="0">
                <a:latin typeface="Times New Roman" panose="02020603050405020304" pitchFamily="18" charset="0"/>
                <a:cs typeface="Times New Roman" panose="02020603050405020304" pitchFamily="18" charset="0"/>
              </a:rPr>
              <a:t>C</a:t>
            </a:r>
            <a:r>
              <a:rPr lang="zh-CN" altLang="zh-CN" dirty="0">
                <a:latin typeface="Times New Roman" panose="02020603050405020304" pitchFamily="18" charset="0"/>
                <a:cs typeface="Times New Roman" panose="02020603050405020304" pitchFamily="18" charset="0"/>
              </a:rPr>
              <a:t>ross-</a:t>
            </a:r>
            <a:r>
              <a:rPr lang="en-US" altLang="zh-CN" dirty="0">
                <a:latin typeface="Times New Roman" panose="02020603050405020304" pitchFamily="18" charset="0"/>
                <a:cs typeface="Times New Roman" panose="02020603050405020304" pitchFamily="18" charset="0"/>
              </a:rPr>
              <a:t>A</a:t>
            </a:r>
            <a:r>
              <a:rPr lang="zh-CN" altLang="zh-CN" dirty="0">
                <a:latin typeface="Times New Roman" panose="02020603050405020304" pitchFamily="18" charset="0"/>
                <a:cs typeface="Times New Roman" panose="02020603050405020304" pitchFamily="18" charset="0"/>
              </a:rPr>
              <a:t>ttention (cross)</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determines the relationship between image and text</a:t>
            </a:r>
            <a:endParaRPr lang="en-US" altLang="zh-CN" dirty="0">
              <a:latin typeface="Times New Roman" panose="02020603050405020304" pitchFamily="18" charset="0"/>
              <a:cs typeface="Times New Roman" panose="02020603050405020304" pitchFamily="18" charset="0"/>
            </a:endParaRPr>
          </a:p>
          <a:p>
            <a:pPr algn="just"/>
            <a:r>
              <a:rPr lang="en-US" altLang="zh-CN" dirty="0">
                <a:latin typeface="Times New Roman" panose="02020603050405020304" pitchFamily="18" charset="0"/>
                <a:cs typeface="Times New Roman" panose="02020603050405020304" pitchFamily="18" charset="0"/>
              </a:rPr>
              <a:t>S</a:t>
            </a:r>
            <a:r>
              <a:rPr lang="zh-CN" altLang="zh-CN" dirty="0">
                <a:latin typeface="Times New Roman" panose="02020603050405020304" pitchFamily="18" charset="0"/>
                <a:cs typeface="Times New Roman" panose="02020603050405020304" pitchFamily="18" charset="0"/>
              </a:rPr>
              <a:t>elf-</a:t>
            </a:r>
            <a:r>
              <a:rPr lang="en-US" altLang="zh-CN" dirty="0">
                <a:latin typeface="Times New Roman" panose="02020603050405020304" pitchFamily="18" charset="0"/>
                <a:cs typeface="Times New Roman" panose="02020603050405020304" pitchFamily="18" charset="0"/>
              </a:rPr>
              <a:t>A</a:t>
            </a:r>
            <a:r>
              <a:rPr lang="zh-CN" altLang="zh-CN" dirty="0">
                <a:latin typeface="Times New Roman" panose="02020603050405020304" pitchFamily="18" charset="0"/>
                <a:cs typeface="Times New Roman" panose="02020603050405020304" pitchFamily="18" charset="0"/>
              </a:rPr>
              <a:t>ttention (self)</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determines the physical structure </a:t>
            </a:r>
            <a:endParaRPr lang="en-US" altLang="zh-CN"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5F417CB3-6963-6795-E6D1-D235767D4005}"/>
              </a:ext>
            </a:extLst>
          </p:cNvPr>
          <p:cNvSpPr txBox="1"/>
          <p:nvPr/>
        </p:nvSpPr>
        <p:spPr>
          <a:xfrm>
            <a:off x="646522" y="4551688"/>
            <a:ext cx="3665501" cy="646331"/>
          </a:xfrm>
          <a:prstGeom prst="rect">
            <a:avLst/>
          </a:prstGeom>
          <a:noFill/>
          <a:ln w="28575">
            <a:solidFill>
              <a:schemeClr val="accent1"/>
            </a:solidFill>
          </a:ln>
        </p:spPr>
        <p:txBody>
          <a:bodyPr wrap="square" rtlCol="0">
            <a:spAutoFit/>
          </a:bodyPr>
          <a:lstStyle/>
          <a:p>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get_empty_store</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and the __</a:t>
            </a:r>
            <a:r>
              <a:rPr lang="en-US" altLang="zh-CN"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init</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__ : </a:t>
            </a:r>
          </a:p>
          <a:p>
            <a:r>
              <a:rPr lang="en-US" altLang="zh-CN" dirty="0">
                <a:latin typeface="Times New Roman" panose="02020603050405020304" pitchFamily="18" charset="0"/>
                <a:cs typeface="Times New Roman" panose="02020603050405020304" pitchFamily="18" charset="0"/>
              </a:rPr>
              <a:t>prepare for storing the original data</a:t>
            </a:r>
          </a:p>
        </p:txBody>
      </p:sp>
      <p:sp>
        <p:nvSpPr>
          <p:cNvPr id="24" name="矩形: 圆角 23">
            <a:extLst>
              <a:ext uri="{FF2B5EF4-FFF2-40B4-BE49-F238E27FC236}">
                <a16:creationId xmlns:a16="http://schemas.microsoft.com/office/drawing/2014/main" id="{8EA5F5B4-006F-882C-C5C4-30CD9732B27A}"/>
              </a:ext>
            </a:extLst>
          </p:cNvPr>
          <p:cNvSpPr/>
          <p:nvPr/>
        </p:nvSpPr>
        <p:spPr>
          <a:xfrm>
            <a:off x="5836902" y="3005840"/>
            <a:ext cx="1503011" cy="400110"/>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8F1A241F-2CA6-041E-BDF5-FFAB8701AE92}"/>
              </a:ext>
            </a:extLst>
          </p:cNvPr>
          <p:cNvSpPr/>
          <p:nvPr/>
        </p:nvSpPr>
        <p:spPr>
          <a:xfrm>
            <a:off x="986119" y="2759957"/>
            <a:ext cx="986115" cy="305975"/>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灯片编号占位符 7">
            <a:extLst>
              <a:ext uri="{FF2B5EF4-FFF2-40B4-BE49-F238E27FC236}">
                <a16:creationId xmlns:a16="http://schemas.microsoft.com/office/drawing/2014/main" id="{5F7C44CD-EE97-03F7-4313-3DEE0D5B0432}"/>
              </a:ext>
            </a:extLst>
          </p:cNvPr>
          <p:cNvSpPr>
            <a:spLocks noGrp="1"/>
          </p:cNvSpPr>
          <p:nvPr>
            <p:ph type="sldNum" sz="quarter" idx="12"/>
          </p:nvPr>
        </p:nvSpPr>
        <p:spPr/>
        <p:txBody>
          <a:bodyPr/>
          <a:lstStyle/>
          <a:p>
            <a:fld id="{E6518835-16E6-9244-9C02-6BFB876E5D3C}" type="slidenum">
              <a:rPr kumimoji="1" lang="zh-CN" altLang="en-US" smtClean="0"/>
              <a:t>21</a:t>
            </a:fld>
            <a:endParaRPr kumimoji="1" lang="zh-CN" altLang="en-US"/>
          </a:p>
        </p:txBody>
      </p:sp>
    </p:spTree>
    <p:extLst>
      <p:ext uri="{BB962C8B-B14F-4D97-AF65-F5344CB8AC3E}">
        <p14:creationId xmlns:p14="http://schemas.microsoft.com/office/powerpoint/2010/main" val="1786024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CA0E9-36A0-D245-F3F7-E71657B51309}"/>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5A1C2B7-752B-9824-6B4C-2695FDB50AA8}"/>
              </a:ext>
            </a:extLst>
          </p:cNvPr>
          <p:cNvSpPr/>
          <p:nvPr/>
        </p:nvSpPr>
        <p:spPr>
          <a:xfrm>
            <a:off x="0" y="161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83EF9F45-7035-5968-6ECF-CABA896AB16E}"/>
              </a:ext>
            </a:extLst>
          </p:cNvPr>
          <p:cNvSpPr txBox="1"/>
          <p:nvPr/>
        </p:nvSpPr>
        <p:spPr>
          <a:xfrm>
            <a:off x="5113166" y="110987"/>
            <a:ext cx="1184941"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Local</a:t>
            </a:r>
            <a:b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b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Editing</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18F40221-55D8-461F-CBDB-5FF94DFE9366}"/>
              </a:ext>
            </a:extLst>
          </p:cNvPr>
          <p:cNvSpPr txBox="1"/>
          <p:nvPr/>
        </p:nvSpPr>
        <p:spPr>
          <a:xfrm>
            <a:off x="6803544" y="87500"/>
            <a:ext cx="1402949"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Style</a:t>
            </a:r>
            <a:b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b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Intensity</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0" name="圆角矩形 9">
            <a:extLst>
              <a:ext uri="{FF2B5EF4-FFF2-40B4-BE49-F238E27FC236}">
                <a16:creationId xmlns:a16="http://schemas.microsoft.com/office/drawing/2014/main" id="{E9D27B8D-7FA1-9535-1940-06BBB096071D}"/>
              </a:ext>
            </a:extLst>
          </p:cNvPr>
          <p:cNvSpPr/>
          <p:nvPr/>
        </p:nvSpPr>
        <p:spPr>
          <a:xfrm>
            <a:off x="2520911"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8D1315E6-4D32-2769-3762-8B2EB97A58BF}"/>
              </a:ext>
            </a:extLst>
          </p:cNvPr>
          <p:cNvSpPr txBox="1"/>
          <p:nvPr/>
        </p:nvSpPr>
        <p:spPr>
          <a:xfrm>
            <a:off x="2761450" y="120530"/>
            <a:ext cx="1467068" cy="646331"/>
          </a:xfrm>
          <a:prstGeom prst="rect">
            <a:avLst/>
          </a:prstGeom>
          <a:noFill/>
        </p:spPr>
        <p:txBody>
          <a:bodyPr vert="horz" wrap="none" rtlCol="0">
            <a:spAutoFit/>
          </a:bodyPr>
          <a:lstStyle/>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Attention</a:t>
            </a:r>
          </a:p>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Storage</a:t>
            </a:r>
            <a:endParaRPr kumimoji="1" lang="zh-CN" altLang="en-US"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 name="PA-直接连接符 17">
            <a:extLst>
              <a:ext uri="{FF2B5EF4-FFF2-40B4-BE49-F238E27FC236}">
                <a16:creationId xmlns:a16="http://schemas.microsoft.com/office/drawing/2014/main" id="{C673B7C2-1800-258D-E957-0D25BA63A15B}"/>
              </a:ext>
            </a:extLst>
          </p:cNvPr>
          <p:cNvCxnSpPr>
            <a:cxnSpLocks/>
          </p:cNvCxnSpPr>
          <p:nvPr>
            <p:custDataLst>
              <p:tags r:id="rId1"/>
            </p:custDataLst>
          </p:nvPr>
        </p:nvCxnSpPr>
        <p:spPr>
          <a:xfrm>
            <a:off x="1549217" y="1659981"/>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PA-直接连接符 17">
            <a:extLst>
              <a:ext uri="{FF2B5EF4-FFF2-40B4-BE49-F238E27FC236}">
                <a16:creationId xmlns:a16="http://schemas.microsoft.com/office/drawing/2014/main" id="{D40CCC44-06D6-2008-76F4-4C7D95F6F521}"/>
              </a:ext>
            </a:extLst>
          </p:cNvPr>
          <p:cNvCxnSpPr>
            <a:cxnSpLocks/>
          </p:cNvCxnSpPr>
          <p:nvPr>
            <p:custDataLst>
              <p:tags r:id="rId2"/>
            </p:custDataLst>
          </p:nvPr>
        </p:nvCxnSpPr>
        <p:spPr>
          <a:xfrm>
            <a:off x="548533" y="165998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9" name="PA-文本框 14">
            <a:extLst>
              <a:ext uri="{FF2B5EF4-FFF2-40B4-BE49-F238E27FC236}">
                <a16:creationId xmlns:a16="http://schemas.microsoft.com/office/drawing/2014/main" id="{AF2D440C-5AAE-94FF-0EA0-4E0062DAB1C7}"/>
              </a:ext>
            </a:extLst>
          </p:cNvPr>
          <p:cNvSpPr txBox="1"/>
          <p:nvPr>
            <p:custDataLst>
              <p:tags r:id="rId3"/>
            </p:custDataLst>
          </p:nvPr>
        </p:nvSpPr>
        <p:spPr>
          <a:xfrm>
            <a:off x="441671" y="1066036"/>
            <a:ext cx="8900292" cy="52322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itchFamily="2" charset="2"/>
              <a:buChar char="Ø"/>
            </a:pPr>
            <a:r>
              <a:rPr lang="en-US" altLang="zh-CN"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rPr>
              <a:t>Attention Storage Mechanism</a:t>
            </a:r>
            <a:endParaRPr lang="zh-CN" altLang="en-US"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7AC4A7A3-C73B-4724-24B2-B02223BBE74C}"/>
              </a:ext>
            </a:extLst>
          </p:cNvPr>
          <p:cNvSpPr txBox="1"/>
          <p:nvPr/>
        </p:nvSpPr>
        <p:spPr>
          <a:xfrm>
            <a:off x="1428044" y="2777884"/>
            <a:ext cx="1899291" cy="400110"/>
          </a:xfrm>
          <a:prstGeom prst="rect">
            <a:avLst/>
          </a:prstGeom>
          <a:noFill/>
        </p:spPr>
        <p:txBody>
          <a:bodyPr wrap="square" rtlCol="0">
            <a:spAutoFit/>
          </a:bodyPr>
          <a:lstStyle/>
          <a:p>
            <a:pPr algn="ctr"/>
            <a:r>
              <a:rPr kumimoji="1" lang="zh-CN" altLang="en-US" sz="2000" b="1" spc="110" dirty="0">
                <a:solidFill>
                  <a:schemeClr val="bg1"/>
                </a:solidFill>
                <a:latin typeface="Microsoft YaHei" panose="020B0503020204020204" pitchFamily="34" charset="-122"/>
                <a:ea typeface="Microsoft YaHei" panose="020B0503020204020204" pitchFamily="34" charset="-122"/>
              </a:rPr>
              <a:t>点击输入内容</a:t>
            </a:r>
          </a:p>
        </p:txBody>
      </p:sp>
      <p:sp>
        <p:nvSpPr>
          <p:cNvPr id="22" name="文本框 21">
            <a:extLst>
              <a:ext uri="{FF2B5EF4-FFF2-40B4-BE49-F238E27FC236}">
                <a16:creationId xmlns:a16="http://schemas.microsoft.com/office/drawing/2014/main" id="{A00C31DF-90B5-1C51-7F5C-D6CA9E5F0F10}"/>
              </a:ext>
            </a:extLst>
          </p:cNvPr>
          <p:cNvSpPr txBox="1"/>
          <p:nvPr/>
        </p:nvSpPr>
        <p:spPr>
          <a:xfrm>
            <a:off x="3892786" y="2777884"/>
            <a:ext cx="1899291" cy="400110"/>
          </a:xfrm>
          <a:prstGeom prst="rect">
            <a:avLst/>
          </a:prstGeom>
          <a:noFill/>
        </p:spPr>
        <p:txBody>
          <a:bodyPr wrap="square" rtlCol="0">
            <a:spAutoFit/>
          </a:bodyPr>
          <a:lstStyle/>
          <a:p>
            <a:pPr algn="ctr"/>
            <a:r>
              <a:rPr kumimoji="1" lang="zh-CN" altLang="en-US" sz="2000" b="1" spc="110" dirty="0">
                <a:solidFill>
                  <a:schemeClr val="bg1"/>
                </a:solidFill>
                <a:latin typeface="Microsoft YaHei" panose="020B0503020204020204" pitchFamily="34" charset="-122"/>
                <a:ea typeface="Microsoft YaHei" panose="020B0503020204020204" pitchFamily="34" charset="-122"/>
              </a:rPr>
              <a:t>点击输入内容</a:t>
            </a:r>
          </a:p>
        </p:txBody>
      </p:sp>
      <p:grpSp>
        <p:nvGrpSpPr>
          <p:cNvPr id="13" name="组合 12">
            <a:extLst>
              <a:ext uri="{FF2B5EF4-FFF2-40B4-BE49-F238E27FC236}">
                <a16:creationId xmlns:a16="http://schemas.microsoft.com/office/drawing/2014/main" id="{8C14C52C-6955-5F5F-4579-B5E55F1EE671}"/>
              </a:ext>
            </a:extLst>
          </p:cNvPr>
          <p:cNvGrpSpPr/>
          <p:nvPr/>
        </p:nvGrpSpPr>
        <p:grpSpPr>
          <a:xfrm>
            <a:off x="370072" y="219176"/>
            <a:ext cx="2150839" cy="449040"/>
            <a:chOff x="2085654" y="644950"/>
            <a:chExt cx="7772400" cy="1622679"/>
          </a:xfrm>
        </p:grpSpPr>
        <p:pic>
          <p:nvPicPr>
            <p:cNvPr id="41" name="图片 40">
              <a:extLst>
                <a:ext uri="{FF2B5EF4-FFF2-40B4-BE49-F238E27FC236}">
                  <a16:creationId xmlns:a16="http://schemas.microsoft.com/office/drawing/2014/main" id="{4E0F1E31-FEB1-5F68-B442-F86943D8D1D2}"/>
                </a:ext>
              </a:extLst>
            </p:cNvPr>
            <p:cNvPicPr>
              <a:picLocks noChangeAspect="1"/>
            </p:cNvPicPr>
            <p:nvPr/>
          </p:nvPicPr>
          <p:blipFill rotWithShape="1">
            <a:blip r:embed="rId6"/>
            <a:srcRect r="78982"/>
            <a:stretch/>
          </p:blipFill>
          <p:spPr>
            <a:xfrm>
              <a:off x="2085654" y="644950"/>
              <a:ext cx="1633591" cy="1622679"/>
            </a:xfrm>
            <a:prstGeom prst="rect">
              <a:avLst/>
            </a:prstGeom>
          </p:spPr>
        </p:pic>
        <p:pic>
          <p:nvPicPr>
            <p:cNvPr id="42" name="图片 41">
              <a:extLst>
                <a:ext uri="{FF2B5EF4-FFF2-40B4-BE49-F238E27FC236}">
                  <a16:creationId xmlns:a16="http://schemas.microsoft.com/office/drawing/2014/main" id="{12C54FB9-7B54-A707-A2EA-5D138B028E0D}"/>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7" name="文本框 6">
            <a:extLst>
              <a:ext uri="{FF2B5EF4-FFF2-40B4-BE49-F238E27FC236}">
                <a16:creationId xmlns:a16="http://schemas.microsoft.com/office/drawing/2014/main" id="{2F7D20D1-2A29-9250-B5D1-388F10847C28}"/>
              </a:ext>
            </a:extLst>
          </p:cNvPr>
          <p:cNvSpPr txBox="1"/>
          <p:nvPr/>
        </p:nvSpPr>
        <p:spPr>
          <a:xfrm>
            <a:off x="548533" y="1730707"/>
            <a:ext cx="10818714" cy="2031325"/>
          </a:xfrm>
          <a:prstGeom prst="rect">
            <a:avLst/>
          </a:prstGeom>
          <a:noFill/>
        </p:spPr>
        <p:txBody>
          <a:bodyPr wrap="square" rtlCol="0">
            <a:spAutoFit/>
          </a:bodyPr>
          <a:lstStyle/>
          <a:p>
            <a:pPr algn="just"/>
            <a:r>
              <a:rPr lang="en-US" altLang="zh-CN" dirty="0">
                <a:latin typeface="Times New Roman" panose="02020603050405020304" pitchFamily="18" charset="0"/>
                <a:cs typeface="Times New Roman" panose="02020603050405020304" pitchFamily="18" charset="0"/>
              </a:rPr>
              <a:t>The generation of a diffusion model is not achieved in a single step, but typically requires 50 denoising steps.</a:t>
            </a:r>
          </a:p>
          <a:p>
            <a:pPr algn="just"/>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between_steps </a:t>
            </a:r>
            <a:r>
              <a:rPr lang="zh-CN" altLang="zh-CN" dirty="0">
                <a:latin typeface="Times New Roman" panose="02020603050405020304" pitchFamily="18" charset="0"/>
                <a:cs typeface="Times New Roman" panose="02020603050405020304" pitchFamily="18" charset="0"/>
              </a:rPr>
              <a:t>demonstrates how the data continues to be stored during the 50-step diffusion process. </a:t>
            </a:r>
            <a:endParaRPr lang="en-US" altLang="zh-CN" dirty="0">
              <a:latin typeface="Times New Roman" panose="02020603050405020304" pitchFamily="18" charset="0"/>
              <a:cs typeface="Times New Roman" panose="02020603050405020304" pitchFamily="18" charset="0"/>
            </a:endParaRPr>
          </a:p>
          <a:p>
            <a:pPr algn="just"/>
            <a:endParaRPr lang="en-US" altLang="zh-CN" dirty="0">
              <a:latin typeface="Times New Roman" panose="02020603050405020304" pitchFamily="18" charset="0"/>
              <a:cs typeface="Times New Roman" panose="02020603050405020304" pitchFamily="18" charset="0"/>
            </a:endParaRPr>
          </a:p>
          <a:p>
            <a:pPr algn="just"/>
            <a:r>
              <a:rPr lang="zh-CN" altLang="zh-CN" dirty="0">
                <a:latin typeface="Times New Roman" panose="02020603050405020304" pitchFamily="18" charset="0"/>
                <a:cs typeface="Times New Roman" panose="02020603050405020304" pitchFamily="18" charset="0"/>
              </a:rPr>
              <a:t>Then, through </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get_average_attention</a:t>
            </a:r>
            <a:r>
              <a:rPr lang="zh-CN" altLang="zh-CN" dirty="0">
                <a:latin typeface="Times New Roman" panose="02020603050405020304" pitchFamily="18" charset="0"/>
                <a:cs typeface="Times New Roman" panose="02020603050405020304" pitchFamily="18" charset="0"/>
              </a:rPr>
              <a:t>, the accumulated data is divided by the total number of steps to obtain an average attention heatmap.</a:t>
            </a:r>
            <a:endParaRPr lang="en-US" altLang="zh-CN" dirty="0">
              <a:latin typeface="Times New Roman" panose="02020603050405020304" pitchFamily="18" charset="0"/>
              <a:cs typeface="Times New Roman" panose="02020603050405020304" pitchFamily="18" charset="0"/>
            </a:endParaRPr>
          </a:p>
          <a:p>
            <a:pPr algn="just"/>
            <a:endParaRPr lang="zh-CN" altLang="zh-CN"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947E3096-0664-596B-C2BF-1AEF5CD288FC}"/>
              </a:ext>
            </a:extLst>
          </p:cNvPr>
          <p:cNvPicPr>
            <a:picLocks noChangeAspect="1"/>
          </p:cNvPicPr>
          <p:nvPr/>
        </p:nvPicPr>
        <p:blipFill>
          <a:blip r:embed="rId9"/>
          <a:stretch>
            <a:fillRect/>
          </a:stretch>
        </p:blipFill>
        <p:spPr>
          <a:xfrm>
            <a:off x="596102" y="3680007"/>
            <a:ext cx="9696504" cy="2864228"/>
          </a:xfrm>
          <a:prstGeom prst="rect">
            <a:avLst/>
          </a:prstGeom>
        </p:spPr>
      </p:pic>
      <p:sp>
        <p:nvSpPr>
          <p:cNvPr id="16" name="矩形: 圆角 15">
            <a:extLst>
              <a:ext uri="{FF2B5EF4-FFF2-40B4-BE49-F238E27FC236}">
                <a16:creationId xmlns:a16="http://schemas.microsoft.com/office/drawing/2014/main" id="{1A478600-B7B3-E006-6783-EC79BC47615F}"/>
              </a:ext>
            </a:extLst>
          </p:cNvPr>
          <p:cNvSpPr/>
          <p:nvPr/>
        </p:nvSpPr>
        <p:spPr>
          <a:xfrm>
            <a:off x="712416" y="6014145"/>
            <a:ext cx="9696504" cy="305975"/>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EC4A444C-EDDF-A277-398E-AF4A6AB2EE02}"/>
              </a:ext>
            </a:extLst>
          </p:cNvPr>
          <p:cNvSpPr/>
          <p:nvPr/>
        </p:nvSpPr>
        <p:spPr>
          <a:xfrm>
            <a:off x="1775335" y="5045031"/>
            <a:ext cx="4651011" cy="305975"/>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灯片编号占位符 7">
            <a:extLst>
              <a:ext uri="{FF2B5EF4-FFF2-40B4-BE49-F238E27FC236}">
                <a16:creationId xmlns:a16="http://schemas.microsoft.com/office/drawing/2014/main" id="{8F2A2F35-DE42-9311-6C80-123DD491D363}"/>
              </a:ext>
            </a:extLst>
          </p:cNvPr>
          <p:cNvSpPr>
            <a:spLocks noGrp="1"/>
          </p:cNvSpPr>
          <p:nvPr>
            <p:ph type="sldNum" sz="quarter" idx="12"/>
          </p:nvPr>
        </p:nvSpPr>
        <p:spPr/>
        <p:txBody>
          <a:bodyPr/>
          <a:lstStyle/>
          <a:p>
            <a:fld id="{E6518835-16E6-9244-9C02-6BFB876E5D3C}" type="slidenum">
              <a:rPr kumimoji="1" lang="zh-CN" altLang="en-US" smtClean="0"/>
              <a:t>22</a:t>
            </a:fld>
            <a:endParaRPr kumimoji="1" lang="zh-CN" altLang="en-US"/>
          </a:p>
        </p:txBody>
      </p:sp>
    </p:spTree>
    <p:extLst>
      <p:ext uri="{BB962C8B-B14F-4D97-AF65-F5344CB8AC3E}">
        <p14:creationId xmlns:p14="http://schemas.microsoft.com/office/powerpoint/2010/main" val="212276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492B4-FC66-0590-15F7-A81217DE137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E246547F-A454-9F3C-CACC-12C36B1BBC2E}"/>
              </a:ext>
            </a:extLst>
          </p:cNvPr>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CEBF82C4-D0FB-C1E9-5480-49DCFD9E8F53}"/>
              </a:ext>
            </a:extLst>
          </p:cNvPr>
          <p:cNvSpPr txBox="1"/>
          <p:nvPr/>
        </p:nvSpPr>
        <p:spPr>
          <a:xfrm>
            <a:off x="6844486" y="96465"/>
            <a:ext cx="1402949"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Style</a:t>
            </a:r>
            <a:b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b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Intensity</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0" name="圆角矩形 9">
            <a:extLst>
              <a:ext uri="{FF2B5EF4-FFF2-40B4-BE49-F238E27FC236}">
                <a16:creationId xmlns:a16="http://schemas.microsoft.com/office/drawing/2014/main" id="{E7018288-6127-9486-BDB4-B883779DCB1A}"/>
              </a:ext>
            </a:extLst>
          </p:cNvPr>
          <p:cNvSpPr/>
          <p:nvPr/>
        </p:nvSpPr>
        <p:spPr>
          <a:xfrm>
            <a:off x="456148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A93F660D-6CAA-30C9-9B18-1768D55C226B}"/>
              </a:ext>
            </a:extLst>
          </p:cNvPr>
          <p:cNvSpPr txBox="1"/>
          <p:nvPr/>
        </p:nvSpPr>
        <p:spPr>
          <a:xfrm>
            <a:off x="2731279" y="103947"/>
            <a:ext cx="146706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Attention</a:t>
            </a:r>
          </a:p>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Storage</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B26CE0D8-D67F-6095-DEC2-B356D6B8E917}"/>
              </a:ext>
            </a:extLst>
          </p:cNvPr>
          <p:cNvSpPr txBox="1"/>
          <p:nvPr/>
        </p:nvSpPr>
        <p:spPr>
          <a:xfrm>
            <a:off x="4912914" y="98867"/>
            <a:ext cx="1184941" cy="646331"/>
          </a:xfrm>
          <a:prstGeom prst="rect">
            <a:avLst/>
          </a:prstGeom>
          <a:noFill/>
        </p:spPr>
        <p:txBody>
          <a:bodyPr vert="horz" wrap="none" rtlCol="0">
            <a:spAutoFit/>
          </a:bodyPr>
          <a:lstStyle/>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Local </a:t>
            </a:r>
          </a:p>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Editing</a:t>
            </a:r>
            <a:endParaRPr kumimoji="1" lang="zh-CN" altLang="en-US"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 name="PA-直接连接符 17">
            <a:extLst>
              <a:ext uri="{FF2B5EF4-FFF2-40B4-BE49-F238E27FC236}">
                <a16:creationId xmlns:a16="http://schemas.microsoft.com/office/drawing/2014/main" id="{7B3ED434-F69D-378D-B82F-E35D8BF74885}"/>
              </a:ext>
            </a:extLst>
          </p:cNvPr>
          <p:cNvCxnSpPr>
            <a:cxnSpLocks/>
          </p:cNvCxnSpPr>
          <p:nvPr>
            <p:custDataLst>
              <p:tags r:id="rId1"/>
            </p:custDataLst>
          </p:nvPr>
        </p:nvCxnSpPr>
        <p:spPr>
          <a:xfrm>
            <a:off x="1549217" y="1659981"/>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PA-直接连接符 17">
            <a:extLst>
              <a:ext uri="{FF2B5EF4-FFF2-40B4-BE49-F238E27FC236}">
                <a16:creationId xmlns:a16="http://schemas.microsoft.com/office/drawing/2014/main" id="{662A7919-3C2A-5610-EABF-5E4ECEBC9068}"/>
              </a:ext>
            </a:extLst>
          </p:cNvPr>
          <p:cNvCxnSpPr>
            <a:cxnSpLocks/>
          </p:cNvCxnSpPr>
          <p:nvPr>
            <p:custDataLst>
              <p:tags r:id="rId2"/>
            </p:custDataLst>
          </p:nvPr>
        </p:nvCxnSpPr>
        <p:spPr>
          <a:xfrm>
            <a:off x="548533" y="165998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9" name="PA-文本框 14">
            <a:extLst>
              <a:ext uri="{FF2B5EF4-FFF2-40B4-BE49-F238E27FC236}">
                <a16:creationId xmlns:a16="http://schemas.microsoft.com/office/drawing/2014/main" id="{49657F09-EFC2-1DC8-5761-FF36AFFA2304}"/>
              </a:ext>
            </a:extLst>
          </p:cNvPr>
          <p:cNvSpPr txBox="1"/>
          <p:nvPr>
            <p:custDataLst>
              <p:tags r:id="rId3"/>
            </p:custDataLst>
          </p:nvPr>
        </p:nvSpPr>
        <p:spPr>
          <a:xfrm>
            <a:off x="441671" y="1066036"/>
            <a:ext cx="10064963" cy="52322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itchFamily="2" charset="2"/>
              <a:buChar char="Ø"/>
            </a:pPr>
            <a:r>
              <a:rPr lang="en-US" altLang="zh-CN"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rPr>
              <a:t>Local Editing Module</a:t>
            </a:r>
            <a:endParaRPr lang="zh-CN" altLang="en-US"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endParaRPr>
          </a:p>
        </p:txBody>
      </p:sp>
      <p:grpSp>
        <p:nvGrpSpPr>
          <p:cNvPr id="24" name="组合 23">
            <a:extLst>
              <a:ext uri="{FF2B5EF4-FFF2-40B4-BE49-F238E27FC236}">
                <a16:creationId xmlns:a16="http://schemas.microsoft.com/office/drawing/2014/main" id="{E34A2114-5069-ABBB-909B-134D5F09456A}"/>
              </a:ext>
            </a:extLst>
          </p:cNvPr>
          <p:cNvGrpSpPr/>
          <p:nvPr/>
        </p:nvGrpSpPr>
        <p:grpSpPr>
          <a:xfrm>
            <a:off x="370072" y="219176"/>
            <a:ext cx="2150839" cy="449040"/>
            <a:chOff x="2085654" y="644950"/>
            <a:chExt cx="7772400" cy="1622679"/>
          </a:xfrm>
        </p:grpSpPr>
        <p:pic>
          <p:nvPicPr>
            <p:cNvPr id="25" name="图片 24">
              <a:extLst>
                <a:ext uri="{FF2B5EF4-FFF2-40B4-BE49-F238E27FC236}">
                  <a16:creationId xmlns:a16="http://schemas.microsoft.com/office/drawing/2014/main" id="{D10684F7-A0BD-996A-DAA5-D9895A89399B}"/>
                </a:ext>
              </a:extLst>
            </p:cNvPr>
            <p:cNvPicPr>
              <a:picLocks noChangeAspect="1"/>
            </p:cNvPicPr>
            <p:nvPr/>
          </p:nvPicPr>
          <p:blipFill rotWithShape="1">
            <a:blip r:embed="rId6"/>
            <a:srcRect r="78982"/>
            <a:stretch/>
          </p:blipFill>
          <p:spPr>
            <a:xfrm>
              <a:off x="2085654" y="644950"/>
              <a:ext cx="1633591" cy="1622679"/>
            </a:xfrm>
            <a:prstGeom prst="rect">
              <a:avLst/>
            </a:prstGeom>
          </p:spPr>
        </p:pic>
        <p:pic>
          <p:nvPicPr>
            <p:cNvPr id="26" name="图片 25">
              <a:extLst>
                <a:ext uri="{FF2B5EF4-FFF2-40B4-BE49-F238E27FC236}">
                  <a16:creationId xmlns:a16="http://schemas.microsoft.com/office/drawing/2014/main" id="{5BC805BD-08C5-3C74-E693-D055974060CB}"/>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7" name="文本框 6">
            <a:extLst>
              <a:ext uri="{FF2B5EF4-FFF2-40B4-BE49-F238E27FC236}">
                <a16:creationId xmlns:a16="http://schemas.microsoft.com/office/drawing/2014/main" id="{23352941-DA01-8303-EE6A-D73D32CCB8BA}"/>
              </a:ext>
            </a:extLst>
          </p:cNvPr>
          <p:cNvSpPr txBox="1"/>
          <p:nvPr/>
        </p:nvSpPr>
        <p:spPr>
          <a:xfrm>
            <a:off x="588942" y="2491319"/>
            <a:ext cx="3649814" cy="2308324"/>
          </a:xfrm>
          <a:prstGeom prst="rect">
            <a:avLst/>
          </a:prstGeom>
          <a:noFill/>
        </p:spPr>
        <p:txBody>
          <a:bodyPr wrap="square" rtlCol="0">
            <a:spAutoFit/>
          </a:bodyPr>
          <a:lstStyle/>
          <a:p>
            <a:pPr algn="just"/>
            <a:r>
              <a:rPr lang="en-US" altLang="zh-CN" dirty="0">
                <a:highlight>
                  <a:srgbClr val="FFFF00"/>
                </a:highlight>
                <a:latin typeface="Times New Roman" panose="02020603050405020304" pitchFamily="18" charset="0"/>
                <a:cs typeface="Times New Roman" panose="02020603050405020304" pitchFamily="18" charset="0"/>
              </a:rPr>
              <a:t>Class </a:t>
            </a:r>
            <a:r>
              <a:rPr lang="zh-CN" altLang="zh-CN" dirty="0">
                <a:highlight>
                  <a:srgbClr val="FFFF00"/>
                </a:highlight>
                <a:latin typeface="Times New Roman" panose="02020603050405020304" pitchFamily="18" charset="0"/>
                <a:cs typeface="Times New Roman" panose="02020603050405020304" pitchFamily="18" charset="0"/>
              </a:rPr>
              <a:t>LocalBlend</a:t>
            </a:r>
            <a:r>
              <a:rPr lang="en-US" altLang="zh-CN" dirty="0">
                <a:highlight>
                  <a:srgbClr val="FFFF00"/>
                </a:highlight>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p>
          <a:p>
            <a:pPr algn="just"/>
            <a:r>
              <a:rPr lang="en-US" altLang="zh-CN" dirty="0">
                <a:latin typeface="Times New Roman" panose="02020603050405020304" pitchFamily="18" charset="0"/>
                <a:cs typeface="Times New Roman" panose="02020603050405020304" pitchFamily="18" charset="0"/>
              </a:rPr>
              <a:t>U</a:t>
            </a:r>
            <a:r>
              <a:rPr lang="zh-CN" altLang="zh-CN" dirty="0">
                <a:latin typeface="Times New Roman" panose="02020603050405020304" pitchFamily="18" charset="0"/>
                <a:cs typeface="Times New Roman" panose="02020603050405020304" pitchFamily="18" charset="0"/>
              </a:rPr>
              <a:t>tiliz</a:t>
            </a:r>
            <a:r>
              <a:rPr lang="en-US" altLang="zh-CN" dirty="0">
                <a:latin typeface="Times New Roman" panose="02020603050405020304" pitchFamily="18" charset="0"/>
                <a:cs typeface="Times New Roman" panose="02020603050405020304" pitchFamily="18" charset="0"/>
              </a:rPr>
              <a:t>e</a:t>
            </a:r>
            <a:r>
              <a:rPr lang="zh-CN" altLang="zh-CN" dirty="0">
                <a:latin typeface="Times New Roman" panose="02020603050405020304" pitchFamily="18" charset="0"/>
                <a:cs typeface="Times New Roman" panose="02020603050405020304" pitchFamily="18" charset="0"/>
              </a:rPr>
              <a:t> the cross-attention priors spontaneously generated within the diffusion model to achieve local image editing, where only the semantic parts specified by the user are modified while the remaining regions remain unchanged.</a:t>
            </a:r>
          </a:p>
        </p:txBody>
      </p:sp>
      <p:grpSp>
        <p:nvGrpSpPr>
          <p:cNvPr id="21" name="组合 20">
            <a:extLst>
              <a:ext uri="{FF2B5EF4-FFF2-40B4-BE49-F238E27FC236}">
                <a16:creationId xmlns:a16="http://schemas.microsoft.com/office/drawing/2014/main" id="{C34A3752-BC58-9AFB-7F44-7F3573D6B6F4}"/>
              </a:ext>
            </a:extLst>
          </p:cNvPr>
          <p:cNvGrpSpPr/>
          <p:nvPr/>
        </p:nvGrpSpPr>
        <p:grpSpPr>
          <a:xfrm>
            <a:off x="4238756" y="1811229"/>
            <a:ext cx="7407282" cy="4572396"/>
            <a:chOff x="4140141" y="1811229"/>
            <a:chExt cx="7407282" cy="4572396"/>
          </a:xfrm>
        </p:grpSpPr>
        <p:pic>
          <p:nvPicPr>
            <p:cNvPr id="12" name="图片 11">
              <a:extLst>
                <a:ext uri="{FF2B5EF4-FFF2-40B4-BE49-F238E27FC236}">
                  <a16:creationId xmlns:a16="http://schemas.microsoft.com/office/drawing/2014/main" id="{307BAEBB-D2B9-596E-A62D-3F8D9C96F2DD}"/>
                </a:ext>
              </a:extLst>
            </p:cNvPr>
            <p:cNvPicPr>
              <a:picLocks noChangeAspect="1"/>
            </p:cNvPicPr>
            <p:nvPr/>
          </p:nvPicPr>
          <p:blipFill>
            <a:blip r:embed="rId9"/>
            <a:stretch>
              <a:fillRect/>
            </a:stretch>
          </p:blipFill>
          <p:spPr>
            <a:xfrm>
              <a:off x="4140141" y="1811229"/>
              <a:ext cx="7407282" cy="4572396"/>
            </a:xfrm>
            <a:prstGeom prst="rect">
              <a:avLst/>
            </a:prstGeom>
          </p:spPr>
        </p:pic>
        <p:sp>
          <p:nvSpPr>
            <p:cNvPr id="13" name="矩形: 圆角 12">
              <a:extLst>
                <a:ext uri="{FF2B5EF4-FFF2-40B4-BE49-F238E27FC236}">
                  <a16:creationId xmlns:a16="http://schemas.microsoft.com/office/drawing/2014/main" id="{54640E46-DD30-E09C-1047-7C23BFDA9D25}"/>
                </a:ext>
              </a:extLst>
            </p:cNvPr>
            <p:cNvSpPr/>
            <p:nvPr/>
          </p:nvSpPr>
          <p:spPr>
            <a:xfrm>
              <a:off x="4840940" y="2921324"/>
              <a:ext cx="3501374" cy="216326"/>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12E72D0-2348-2826-4142-A0C87297D386}"/>
                </a:ext>
              </a:extLst>
            </p:cNvPr>
            <p:cNvSpPr/>
            <p:nvPr/>
          </p:nvSpPr>
          <p:spPr>
            <a:xfrm>
              <a:off x="4840940" y="3162802"/>
              <a:ext cx="2510117" cy="266197"/>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3E714D78-AAD5-E5D4-9898-F7C9C506E579}"/>
                </a:ext>
              </a:extLst>
            </p:cNvPr>
            <p:cNvSpPr/>
            <p:nvPr/>
          </p:nvSpPr>
          <p:spPr>
            <a:xfrm>
              <a:off x="4347881" y="5791964"/>
              <a:ext cx="3501374" cy="266197"/>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1A6936E0-C093-8171-11CF-2A639103E980}"/>
                </a:ext>
              </a:extLst>
            </p:cNvPr>
            <p:cNvSpPr txBox="1"/>
            <p:nvPr/>
          </p:nvSpPr>
          <p:spPr>
            <a:xfrm>
              <a:off x="8244074" y="2582622"/>
              <a:ext cx="717177" cy="369332"/>
            </a:xfrm>
            <a:prstGeom prst="rect">
              <a:avLst/>
            </a:prstGeom>
            <a:noFill/>
          </p:spPr>
          <p:txBody>
            <a:bodyPr wrap="square" rtlCol="0">
              <a:spAutoFit/>
            </a:bodyPr>
            <a:lstStyle/>
            <a:p>
              <a:r>
                <a:rPr lang="zh-CN" altLang="en-US" b="1" dirty="0">
                  <a:solidFill>
                    <a:srgbClr val="0070C0"/>
                  </a:solidFill>
                </a:rPr>
                <a:t>①</a:t>
              </a:r>
            </a:p>
          </p:txBody>
        </p:sp>
        <p:sp>
          <p:nvSpPr>
            <p:cNvPr id="18" name="文本框 17">
              <a:extLst>
                <a:ext uri="{FF2B5EF4-FFF2-40B4-BE49-F238E27FC236}">
                  <a16:creationId xmlns:a16="http://schemas.microsoft.com/office/drawing/2014/main" id="{EDF26DA0-8745-9DFC-A84B-C04705B3AF4B}"/>
                </a:ext>
              </a:extLst>
            </p:cNvPr>
            <p:cNvSpPr txBox="1"/>
            <p:nvPr/>
          </p:nvSpPr>
          <p:spPr>
            <a:xfrm>
              <a:off x="7625137" y="3288897"/>
              <a:ext cx="717177" cy="369332"/>
            </a:xfrm>
            <a:prstGeom prst="rect">
              <a:avLst/>
            </a:prstGeom>
            <a:noFill/>
          </p:spPr>
          <p:txBody>
            <a:bodyPr wrap="square" rtlCol="0">
              <a:spAutoFit/>
            </a:bodyPr>
            <a:lstStyle/>
            <a:p>
              <a:r>
                <a:rPr lang="zh-CN" altLang="en-US" b="1" dirty="0">
                  <a:solidFill>
                    <a:srgbClr val="0070C0"/>
                  </a:solidFill>
                </a:rPr>
                <a:t>②</a:t>
              </a:r>
            </a:p>
          </p:txBody>
        </p:sp>
        <p:sp>
          <p:nvSpPr>
            <p:cNvPr id="19" name="文本框 18">
              <a:extLst>
                <a:ext uri="{FF2B5EF4-FFF2-40B4-BE49-F238E27FC236}">
                  <a16:creationId xmlns:a16="http://schemas.microsoft.com/office/drawing/2014/main" id="{92AEA85A-B75B-A6E4-6B39-02BDD2119B73}"/>
                </a:ext>
              </a:extLst>
            </p:cNvPr>
            <p:cNvSpPr txBox="1"/>
            <p:nvPr/>
          </p:nvSpPr>
          <p:spPr>
            <a:xfrm>
              <a:off x="7983725" y="5740396"/>
              <a:ext cx="717177" cy="369332"/>
            </a:xfrm>
            <a:prstGeom prst="rect">
              <a:avLst/>
            </a:prstGeom>
            <a:noFill/>
          </p:spPr>
          <p:txBody>
            <a:bodyPr wrap="square" rtlCol="0">
              <a:spAutoFit/>
            </a:bodyPr>
            <a:lstStyle/>
            <a:p>
              <a:r>
                <a:rPr lang="zh-CN" altLang="en-US" b="1" dirty="0">
                  <a:solidFill>
                    <a:srgbClr val="0070C0"/>
                  </a:solidFill>
                </a:rPr>
                <a:t>③</a:t>
              </a:r>
            </a:p>
          </p:txBody>
        </p:sp>
      </p:grpSp>
      <p:sp>
        <p:nvSpPr>
          <p:cNvPr id="20" name="文本框 19">
            <a:extLst>
              <a:ext uri="{FF2B5EF4-FFF2-40B4-BE49-F238E27FC236}">
                <a16:creationId xmlns:a16="http://schemas.microsoft.com/office/drawing/2014/main" id="{FD15D0DD-0B89-DB7F-0F75-875E4B2614B9}"/>
              </a:ext>
            </a:extLst>
          </p:cNvPr>
          <p:cNvSpPr txBox="1"/>
          <p:nvPr/>
        </p:nvSpPr>
        <p:spPr>
          <a:xfrm>
            <a:off x="8692978" y="2491319"/>
            <a:ext cx="2854445" cy="584775"/>
          </a:xfrm>
          <a:prstGeom prst="rect">
            <a:avLst/>
          </a:prstGeom>
          <a:noFill/>
        </p:spPr>
        <p:txBody>
          <a:bodyPr wrap="square" rtlCol="0">
            <a:spAutoFit/>
          </a:bodyPr>
          <a:lstStyle/>
          <a:p>
            <a:pPr algn="just"/>
            <a:r>
              <a:rPr lang="zh-CN" altLang="zh-CN" sz="1600" i="1" dirty="0">
                <a:latin typeface="Times New Roman" panose="02020603050405020304" pitchFamily="18" charset="0"/>
                <a:cs typeface="Times New Roman" panose="02020603050405020304" pitchFamily="18" charset="0"/>
              </a:rPr>
              <a:t>This parameter is crucial for the subsequent process.</a:t>
            </a:r>
            <a:endParaRPr lang="zh-CN" altLang="zh-CN" sz="1600" b="1" i="1" dirty="0">
              <a:latin typeface="Times New Roman" panose="02020603050405020304" pitchFamily="18" charset="0"/>
              <a:cs typeface="Times New Roman" panose="02020603050405020304" pitchFamily="18" charset="0"/>
            </a:endParaRPr>
          </a:p>
        </p:txBody>
      </p:sp>
      <p:sp>
        <p:nvSpPr>
          <p:cNvPr id="8" name="灯片编号占位符 7">
            <a:extLst>
              <a:ext uri="{FF2B5EF4-FFF2-40B4-BE49-F238E27FC236}">
                <a16:creationId xmlns:a16="http://schemas.microsoft.com/office/drawing/2014/main" id="{F6012BC1-11CC-EFC0-CAC6-5D75785A1C1E}"/>
              </a:ext>
            </a:extLst>
          </p:cNvPr>
          <p:cNvSpPr>
            <a:spLocks noGrp="1"/>
          </p:cNvSpPr>
          <p:nvPr>
            <p:ph type="sldNum" sz="quarter" idx="12"/>
          </p:nvPr>
        </p:nvSpPr>
        <p:spPr/>
        <p:txBody>
          <a:bodyPr/>
          <a:lstStyle/>
          <a:p>
            <a:fld id="{E6518835-16E6-9244-9C02-6BFB876E5D3C}" type="slidenum">
              <a:rPr kumimoji="1" lang="zh-CN" altLang="en-US" smtClean="0"/>
              <a:t>23</a:t>
            </a:fld>
            <a:endParaRPr kumimoji="1" lang="zh-CN" altLang="en-US"/>
          </a:p>
        </p:txBody>
      </p:sp>
    </p:spTree>
    <p:extLst>
      <p:ext uri="{BB962C8B-B14F-4D97-AF65-F5344CB8AC3E}">
        <p14:creationId xmlns:p14="http://schemas.microsoft.com/office/powerpoint/2010/main" val="1386898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94996-256B-3DBA-201B-9CAFA078A0D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3F695B7-A586-BA2C-6C95-32CF7DEC8C9E}"/>
              </a:ext>
            </a:extLst>
          </p:cNvPr>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2B5DC64F-F6EF-5F51-B2C7-595CC2BBA7EF}"/>
              </a:ext>
            </a:extLst>
          </p:cNvPr>
          <p:cNvSpPr txBox="1"/>
          <p:nvPr/>
        </p:nvSpPr>
        <p:spPr>
          <a:xfrm>
            <a:off x="6872282" y="96465"/>
            <a:ext cx="1347357"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Style</a:t>
            </a:r>
            <a:b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b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Transfer</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0" name="圆角矩形 9">
            <a:extLst>
              <a:ext uri="{FF2B5EF4-FFF2-40B4-BE49-F238E27FC236}">
                <a16:creationId xmlns:a16="http://schemas.microsoft.com/office/drawing/2014/main" id="{727C56C3-34EA-7AC1-ABBF-1240F66F584D}"/>
              </a:ext>
            </a:extLst>
          </p:cNvPr>
          <p:cNvSpPr/>
          <p:nvPr/>
        </p:nvSpPr>
        <p:spPr>
          <a:xfrm>
            <a:off x="456148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1B71B248-AE44-3FD6-CFAD-62A076E2D6E3}"/>
              </a:ext>
            </a:extLst>
          </p:cNvPr>
          <p:cNvSpPr txBox="1"/>
          <p:nvPr/>
        </p:nvSpPr>
        <p:spPr>
          <a:xfrm>
            <a:off x="2731279" y="103947"/>
            <a:ext cx="146706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Attention</a:t>
            </a:r>
          </a:p>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Storage</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0D4D6BBD-24DF-F3DC-CFB2-E223341CA940}"/>
              </a:ext>
            </a:extLst>
          </p:cNvPr>
          <p:cNvSpPr txBox="1"/>
          <p:nvPr/>
        </p:nvSpPr>
        <p:spPr>
          <a:xfrm>
            <a:off x="4912914" y="98867"/>
            <a:ext cx="1184941" cy="646331"/>
          </a:xfrm>
          <a:prstGeom prst="rect">
            <a:avLst/>
          </a:prstGeom>
          <a:noFill/>
        </p:spPr>
        <p:txBody>
          <a:bodyPr vert="horz" wrap="none" rtlCol="0">
            <a:spAutoFit/>
          </a:bodyPr>
          <a:lstStyle/>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Local </a:t>
            </a:r>
          </a:p>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Editing</a:t>
            </a:r>
            <a:endParaRPr kumimoji="1" lang="zh-CN" altLang="en-US"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 name="PA-直接连接符 17">
            <a:extLst>
              <a:ext uri="{FF2B5EF4-FFF2-40B4-BE49-F238E27FC236}">
                <a16:creationId xmlns:a16="http://schemas.microsoft.com/office/drawing/2014/main" id="{7F7857F0-C76C-245C-2164-8AFDF724CC09}"/>
              </a:ext>
            </a:extLst>
          </p:cNvPr>
          <p:cNvCxnSpPr>
            <a:cxnSpLocks/>
          </p:cNvCxnSpPr>
          <p:nvPr>
            <p:custDataLst>
              <p:tags r:id="rId1"/>
            </p:custDataLst>
          </p:nvPr>
        </p:nvCxnSpPr>
        <p:spPr>
          <a:xfrm>
            <a:off x="1549217" y="1659981"/>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PA-直接连接符 17">
            <a:extLst>
              <a:ext uri="{FF2B5EF4-FFF2-40B4-BE49-F238E27FC236}">
                <a16:creationId xmlns:a16="http://schemas.microsoft.com/office/drawing/2014/main" id="{F1E04466-CFB9-AEB1-0C24-0FC106A4AB7A}"/>
              </a:ext>
            </a:extLst>
          </p:cNvPr>
          <p:cNvCxnSpPr>
            <a:cxnSpLocks/>
          </p:cNvCxnSpPr>
          <p:nvPr>
            <p:custDataLst>
              <p:tags r:id="rId2"/>
            </p:custDataLst>
          </p:nvPr>
        </p:nvCxnSpPr>
        <p:spPr>
          <a:xfrm>
            <a:off x="548533" y="165998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9" name="PA-文本框 14">
            <a:extLst>
              <a:ext uri="{FF2B5EF4-FFF2-40B4-BE49-F238E27FC236}">
                <a16:creationId xmlns:a16="http://schemas.microsoft.com/office/drawing/2014/main" id="{1F76DF0E-E7F4-3001-C6D5-2F2C4E122FA3}"/>
              </a:ext>
            </a:extLst>
          </p:cNvPr>
          <p:cNvSpPr txBox="1"/>
          <p:nvPr>
            <p:custDataLst>
              <p:tags r:id="rId3"/>
            </p:custDataLst>
          </p:nvPr>
        </p:nvSpPr>
        <p:spPr>
          <a:xfrm>
            <a:off x="441671" y="1066036"/>
            <a:ext cx="10064963" cy="52322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itchFamily="2" charset="2"/>
              <a:buChar char="Ø"/>
            </a:pPr>
            <a:r>
              <a:rPr lang="en-US" altLang="zh-CN"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rPr>
              <a:t>Local Editing Module</a:t>
            </a:r>
            <a:endParaRPr lang="zh-CN" altLang="en-US"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endParaRPr>
          </a:p>
        </p:txBody>
      </p:sp>
      <p:grpSp>
        <p:nvGrpSpPr>
          <p:cNvPr id="24" name="组合 23">
            <a:extLst>
              <a:ext uri="{FF2B5EF4-FFF2-40B4-BE49-F238E27FC236}">
                <a16:creationId xmlns:a16="http://schemas.microsoft.com/office/drawing/2014/main" id="{CBF3F45B-1796-5A17-B6C6-8429585A79BE}"/>
              </a:ext>
            </a:extLst>
          </p:cNvPr>
          <p:cNvGrpSpPr/>
          <p:nvPr/>
        </p:nvGrpSpPr>
        <p:grpSpPr>
          <a:xfrm>
            <a:off x="370072" y="219176"/>
            <a:ext cx="2150839" cy="449040"/>
            <a:chOff x="2085654" y="644950"/>
            <a:chExt cx="7772400" cy="1622679"/>
          </a:xfrm>
        </p:grpSpPr>
        <p:pic>
          <p:nvPicPr>
            <p:cNvPr id="25" name="图片 24">
              <a:extLst>
                <a:ext uri="{FF2B5EF4-FFF2-40B4-BE49-F238E27FC236}">
                  <a16:creationId xmlns:a16="http://schemas.microsoft.com/office/drawing/2014/main" id="{8402A501-9A81-7558-0E79-6E72F68F04B0}"/>
                </a:ext>
              </a:extLst>
            </p:cNvPr>
            <p:cNvPicPr>
              <a:picLocks noChangeAspect="1"/>
            </p:cNvPicPr>
            <p:nvPr/>
          </p:nvPicPr>
          <p:blipFill rotWithShape="1">
            <a:blip r:embed="rId6"/>
            <a:srcRect r="78982"/>
            <a:stretch/>
          </p:blipFill>
          <p:spPr>
            <a:xfrm>
              <a:off x="2085654" y="644950"/>
              <a:ext cx="1633591" cy="1622679"/>
            </a:xfrm>
            <a:prstGeom prst="rect">
              <a:avLst/>
            </a:prstGeom>
          </p:spPr>
        </p:pic>
        <p:pic>
          <p:nvPicPr>
            <p:cNvPr id="26" name="图片 25">
              <a:extLst>
                <a:ext uri="{FF2B5EF4-FFF2-40B4-BE49-F238E27FC236}">
                  <a16:creationId xmlns:a16="http://schemas.microsoft.com/office/drawing/2014/main" id="{2EDA1B4B-F49D-B276-778E-C7F159FEEFBE}"/>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17" name="文本框 16">
            <a:extLst>
              <a:ext uri="{FF2B5EF4-FFF2-40B4-BE49-F238E27FC236}">
                <a16:creationId xmlns:a16="http://schemas.microsoft.com/office/drawing/2014/main" id="{57A536BA-DB72-F0BE-BAAB-D1CD8A81C039}"/>
              </a:ext>
            </a:extLst>
          </p:cNvPr>
          <p:cNvSpPr txBox="1"/>
          <p:nvPr/>
        </p:nvSpPr>
        <p:spPr>
          <a:xfrm>
            <a:off x="441671" y="1816877"/>
            <a:ext cx="11056104" cy="2308324"/>
          </a:xfrm>
          <a:prstGeom prst="rect">
            <a:avLst/>
          </a:prstGeom>
          <a:noFill/>
        </p:spPr>
        <p:txBody>
          <a:bodyPr wrap="square" rtlCol="0">
            <a:spAutoFit/>
          </a:bodyPr>
          <a:lstStyle/>
          <a:p>
            <a:r>
              <a:rPr lang="zh-CN" altLang="en-US" b="1" dirty="0">
                <a:solidFill>
                  <a:srgbClr val="0070C0"/>
                </a:solidFill>
              </a:rPr>
              <a:t>① </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ind = ptp_utils.get_word_inds(prompt, word, tokenizer)</a:t>
            </a:r>
            <a:endPar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The entire sentence, the target word, and the tokenizer are passed in. It returns the index position (ind) of the target word in the sentence.</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zh-CN" altLang="zh-C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br>
              <a:rPr lang="zh-CN" altLang="zh-CN" dirty="0">
                <a:latin typeface="Times New Roman" panose="02020603050405020304" pitchFamily="18" charset="0"/>
                <a:cs typeface="Times New Roman" panose="02020603050405020304" pitchFamily="18" charset="0"/>
              </a:rPr>
            </a:br>
            <a:r>
              <a:rPr lang="zh-CN" altLang="zh-CN" dirty="0">
                <a:latin typeface="Times New Roman" panose="02020603050405020304" pitchFamily="18" charset="0"/>
                <a:cs typeface="Times New Roman" panose="02020603050405020304" pitchFamily="18" charset="0"/>
              </a:rPr>
              <a:t>If the target word to be edited is </a:t>
            </a:r>
            <a:r>
              <a:rPr lang="en-US" altLang="zh-CN" dirty="0">
                <a:latin typeface="Times New Roman" panose="02020603050405020304" pitchFamily="18" charset="0"/>
                <a:cs typeface="Times New Roman" panose="02020603050405020304" pitchFamily="18" charset="0"/>
              </a:rPr>
              <a:t>“</a:t>
            </a:r>
            <a:r>
              <a:rPr lang="zh-CN" altLang="zh-CN" dirty="0">
                <a:solidFill>
                  <a:srgbClr val="0070C0"/>
                </a:solidFill>
                <a:latin typeface="Times New Roman" panose="02020603050405020304" pitchFamily="18" charset="0"/>
                <a:cs typeface="Times New Roman" panose="02020603050405020304" pitchFamily="18" charset="0"/>
              </a:rPr>
              <a:t>woman</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 and the prompt is </a:t>
            </a:r>
            <a:r>
              <a:rPr lang="en-US" altLang="zh-CN" dirty="0">
                <a:latin typeface="Times New Roman" panose="02020603050405020304" pitchFamily="18" charset="0"/>
                <a:cs typeface="Times New Roman" panose="02020603050405020304" pitchFamily="18" charset="0"/>
              </a:rPr>
              <a:t>“</a:t>
            </a:r>
            <a:r>
              <a:rPr lang="zh-CN" altLang="zh-CN" dirty="0">
                <a:solidFill>
                  <a:srgbClr val="0070C0"/>
                </a:solidFill>
                <a:latin typeface="Times New Roman" panose="02020603050405020304" pitchFamily="18" charset="0"/>
                <a:cs typeface="Times New Roman" panose="02020603050405020304" pitchFamily="18" charset="0"/>
              </a:rPr>
              <a:t>A photo of a woman</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A</a:t>
            </a:r>
            <a:r>
              <a:rPr lang="zh-CN" altLang="zh-CN" dirty="0">
                <a:latin typeface="Times New Roman" panose="02020603050405020304" pitchFamily="18" charset="0"/>
                <a:cs typeface="Times New Roman" panose="02020603050405020304" pitchFamily="18" charset="0"/>
              </a:rPr>
              <a:t>fter tokenization </a:t>
            </a: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[&lt;start&gt;, A, photo, of, a, </a:t>
            </a:r>
            <a:r>
              <a:rPr lang="zh-CN" altLang="zh-CN" dirty="0">
                <a:solidFill>
                  <a:srgbClr val="0070C0"/>
                </a:solidFill>
                <a:latin typeface="Times New Roman" panose="02020603050405020304" pitchFamily="18" charset="0"/>
                <a:cs typeface="Times New Roman" panose="02020603050405020304" pitchFamily="18" charset="0"/>
              </a:rPr>
              <a:t>woman</a:t>
            </a:r>
            <a:r>
              <a:rPr lang="zh-CN" altLang="zh-CN" dirty="0">
                <a:latin typeface="Times New Roman" panose="02020603050405020304" pitchFamily="18" charset="0"/>
                <a:cs typeface="Times New Roman" panose="02020603050405020304" pitchFamily="18" charset="0"/>
              </a:rPr>
              <a:t>, &lt;end&gt;]. </a:t>
            </a:r>
            <a:endParaRPr lang="en-US" altLang="zh-CN" dirty="0">
              <a:latin typeface="Times New Roman" panose="02020603050405020304" pitchFamily="18" charset="0"/>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The program finds that "woman" is at the 5th position, so ind returns 5. </a:t>
            </a:r>
            <a:endParaRPr lang="en-US" altLang="zh-CN"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F2EECF3F-EEDE-6A03-05C5-B588773EBBD0}"/>
              </a:ext>
            </a:extLst>
          </p:cNvPr>
          <p:cNvSpPr txBox="1"/>
          <p:nvPr/>
        </p:nvSpPr>
        <p:spPr>
          <a:xfrm>
            <a:off x="441671" y="4506129"/>
            <a:ext cx="11056104" cy="2031325"/>
          </a:xfrm>
          <a:prstGeom prst="rect">
            <a:avLst/>
          </a:prstGeom>
          <a:noFill/>
        </p:spPr>
        <p:txBody>
          <a:bodyPr wrap="square" rtlCol="0">
            <a:spAutoFit/>
          </a:bodyPr>
          <a:lstStyle/>
          <a:p>
            <a:pPr algn="just"/>
            <a:r>
              <a:rPr lang="zh-CN" altLang="en-US" b="1" dirty="0">
                <a:solidFill>
                  <a:srgbClr val="0070C0"/>
                </a:solidFill>
                <a:latin typeface="Times New Roman" panose="02020603050405020304" pitchFamily="18" charset="0"/>
                <a:cs typeface="Times New Roman" panose="02020603050405020304" pitchFamily="18" charset="0"/>
              </a:rPr>
              <a:t>② </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alpha_layers[i, :, :, :, :, ind] = 1</a:t>
            </a:r>
            <a:endPar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This performs tensor slicing and assignment, setting the value at the position we want to edit to 1. This prepares for the </a:t>
            </a:r>
            <a:r>
              <a:rPr lang="zh-CN" altLang="zh-CN" dirty="0">
                <a:solidFill>
                  <a:srgbClr val="0070C0"/>
                </a:solidFill>
                <a:latin typeface="Times New Roman" panose="02020603050405020304" pitchFamily="18" charset="0"/>
                <a:cs typeface="Times New Roman" panose="02020603050405020304" pitchFamily="18" charset="0"/>
              </a:rPr>
              <a:t>get_mask </a:t>
            </a:r>
            <a:r>
              <a:rPr lang="zh-CN" altLang="zh-CN" dirty="0">
                <a:latin typeface="Times New Roman" panose="02020603050405020304" pitchFamily="18" charset="0"/>
                <a:cs typeface="Times New Roman" panose="02020603050405020304" pitchFamily="18" charset="0"/>
              </a:rPr>
              <a:t>function to generate a mask.</a:t>
            </a:r>
            <a:endParaRPr lang="en-US" altLang="zh-CN" dirty="0">
              <a:latin typeface="Times New Roman" panose="02020603050405020304" pitchFamily="18" charset="0"/>
              <a:cs typeface="Times New Roman" panose="02020603050405020304" pitchFamily="18" charset="0"/>
            </a:endParaRPr>
          </a:p>
          <a:p>
            <a:br>
              <a:rPr lang="zh-CN" altLang="zh-CN" dirty="0">
                <a:latin typeface="Times New Roman" panose="02020603050405020304" pitchFamily="18" charset="0"/>
                <a:cs typeface="Times New Roman" panose="02020603050405020304" pitchFamily="18" charset="0"/>
              </a:rPr>
            </a:br>
            <a:r>
              <a:rPr lang="zh-CN" altLang="zh-C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endParaRPr lang="en-US" altLang="zh-C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 "</a:t>
            </a:r>
            <a:r>
              <a:rPr lang="zh-CN" altLang="zh-CN" dirty="0">
                <a:solidFill>
                  <a:srgbClr val="0070C0"/>
                </a:solidFill>
                <a:latin typeface="Times New Roman" panose="02020603050405020304" pitchFamily="18" charset="0"/>
                <a:cs typeface="Times New Roman" panose="02020603050405020304" pitchFamily="18" charset="0"/>
              </a:rPr>
              <a:t>woman</a:t>
            </a:r>
            <a:r>
              <a:rPr lang="zh-CN" altLang="zh-CN" dirty="0">
                <a:latin typeface="Times New Roman" panose="02020603050405020304" pitchFamily="18" charset="0"/>
                <a:cs typeface="Times New Roman" panose="02020603050405020304" pitchFamily="18" charset="0"/>
              </a:rPr>
              <a:t>" is at the 5th position, so [0, 0, 0, 0, 0, 0, 0] is transformed into [0, 0, 0, 0, 0, </a:t>
            </a:r>
            <a:r>
              <a:rPr lang="zh-CN" altLang="zh-CN" dirty="0">
                <a:solidFill>
                  <a:srgbClr val="0070C0"/>
                </a:solidFill>
                <a:latin typeface="Times New Roman" panose="02020603050405020304" pitchFamily="18" charset="0"/>
                <a:cs typeface="Times New Roman" panose="02020603050405020304" pitchFamily="18" charset="0"/>
              </a:rPr>
              <a:t>1</a:t>
            </a:r>
            <a:r>
              <a:rPr lang="zh-CN" altLang="zh-CN" dirty="0">
                <a:latin typeface="Times New Roman" panose="02020603050405020304" pitchFamily="18" charset="0"/>
                <a:cs typeface="Times New Roman" panose="02020603050405020304" pitchFamily="18" charset="0"/>
              </a:rPr>
              <a:t>, 0].</a:t>
            </a:r>
            <a:endParaRPr lang="zh-CN" altLang="zh-CN" b="1" dirty="0">
              <a:latin typeface="Times New Roman" panose="02020603050405020304" pitchFamily="18" charset="0"/>
              <a:cs typeface="Times New Roman" panose="02020603050405020304" pitchFamily="18" charset="0"/>
            </a:endParaRPr>
          </a:p>
          <a:p>
            <a:endParaRPr lang="zh-CN" altLang="en-US" b="1" dirty="0">
              <a:solidFill>
                <a:srgbClr val="0070C0"/>
              </a:solidFill>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1CD796BA-BF9D-CBAB-9C16-FB79F9627454}"/>
              </a:ext>
            </a:extLst>
          </p:cNvPr>
          <p:cNvSpPr>
            <a:spLocks noGrp="1"/>
          </p:cNvSpPr>
          <p:nvPr>
            <p:ph type="sldNum" sz="quarter" idx="12"/>
          </p:nvPr>
        </p:nvSpPr>
        <p:spPr/>
        <p:txBody>
          <a:bodyPr/>
          <a:lstStyle/>
          <a:p>
            <a:fld id="{E6518835-16E6-9244-9C02-6BFB876E5D3C}" type="slidenum">
              <a:rPr kumimoji="1" lang="zh-CN" altLang="en-US" smtClean="0"/>
              <a:t>24</a:t>
            </a:fld>
            <a:endParaRPr kumimoji="1" lang="zh-CN" altLang="en-US"/>
          </a:p>
        </p:txBody>
      </p:sp>
    </p:spTree>
    <p:extLst>
      <p:ext uri="{BB962C8B-B14F-4D97-AF65-F5344CB8AC3E}">
        <p14:creationId xmlns:p14="http://schemas.microsoft.com/office/powerpoint/2010/main" val="897618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68750-AECD-D55C-7A2D-5C2F2DED64C7}"/>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A723F746-D091-FE83-AA88-F4DF48883A32}"/>
              </a:ext>
            </a:extLst>
          </p:cNvPr>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17A7D831-C709-B1AE-B831-65C725837D91}"/>
              </a:ext>
            </a:extLst>
          </p:cNvPr>
          <p:cNvSpPr txBox="1"/>
          <p:nvPr/>
        </p:nvSpPr>
        <p:spPr>
          <a:xfrm>
            <a:off x="6844488" y="96465"/>
            <a:ext cx="140294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Style</a:t>
            </a:r>
            <a:b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b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Intensity</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0" name="圆角矩形 9">
            <a:extLst>
              <a:ext uri="{FF2B5EF4-FFF2-40B4-BE49-F238E27FC236}">
                <a16:creationId xmlns:a16="http://schemas.microsoft.com/office/drawing/2014/main" id="{4169C59B-6F3B-6E16-B18C-EA7240E704DB}"/>
              </a:ext>
            </a:extLst>
          </p:cNvPr>
          <p:cNvSpPr/>
          <p:nvPr/>
        </p:nvSpPr>
        <p:spPr>
          <a:xfrm>
            <a:off x="456148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04B23674-B9AD-02CA-4115-294D8DE5779D}"/>
              </a:ext>
            </a:extLst>
          </p:cNvPr>
          <p:cNvSpPr txBox="1"/>
          <p:nvPr/>
        </p:nvSpPr>
        <p:spPr>
          <a:xfrm>
            <a:off x="2731279" y="103947"/>
            <a:ext cx="146706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Attention</a:t>
            </a:r>
          </a:p>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Storage</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70AB6D72-6C54-218D-53FD-5794F8D1D72E}"/>
              </a:ext>
            </a:extLst>
          </p:cNvPr>
          <p:cNvSpPr txBox="1"/>
          <p:nvPr/>
        </p:nvSpPr>
        <p:spPr>
          <a:xfrm>
            <a:off x="4912914" y="98867"/>
            <a:ext cx="1184941" cy="646331"/>
          </a:xfrm>
          <a:prstGeom prst="rect">
            <a:avLst/>
          </a:prstGeom>
          <a:noFill/>
        </p:spPr>
        <p:txBody>
          <a:bodyPr vert="horz" wrap="none" rtlCol="0">
            <a:spAutoFit/>
          </a:bodyPr>
          <a:lstStyle/>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Local </a:t>
            </a:r>
          </a:p>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Editing</a:t>
            </a:r>
            <a:endParaRPr kumimoji="1" lang="zh-CN" altLang="en-US"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 name="PA-直接连接符 17">
            <a:extLst>
              <a:ext uri="{FF2B5EF4-FFF2-40B4-BE49-F238E27FC236}">
                <a16:creationId xmlns:a16="http://schemas.microsoft.com/office/drawing/2014/main" id="{0034AFA5-4446-405B-2148-45E52F0B8F46}"/>
              </a:ext>
            </a:extLst>
          </p:cNvPr>
          <p:cNvCxnSpPr>
            <a:cxnSpLocks/>
          </p:cNvCxnSpPr>
          <p:nvPr>
            <p:custDataLst>
              <p:tags r:id="rId1"/>
            </p:custDataLst>
          </p:nvPr>
        </p:nvCxnSpPr>
        <p:spPr>
          <a:xfrm>
            <a:off x="1549217" y="1659981"/>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PA-直接连接符 17">
            <a:extLst>
              <a:ext uri="{FF2B5EF4-FFF2-40B4-BE49-F238E27FC236}">
                <a16:creationId xmlns:a16="http://schemas.microsoft.com/office/drawing/2014/main" id="{B2971EF7-E8A2-E84F-0837-119C0C3C1FDA}"/>
              </a:ext>
            </a:extLst>
          </p:cNvPr>
          <p:cNvCxnSpPr>
            <a:cxnSpLocks/>
          </p:cNvCxnSpPr>
          <p:nvPr>
            <p:custDataLst>
              <p:tags r:id="rId2"/>
            </p:custDataLst>
          </p:nvPr>
        </p:nvCxnSpPr>
        <p:spPr>
          <a:xfrm>
            <a:off x="548533" y="165998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9" name="PA-文本框 14">
            <a:extLst>
              <a:ext uri="{FF2B5EF4-FFF2-40B4-BE49-F238E27FC236}">
                <a16:creationId xmlns:a16="http://schemas.microsoft.com/office/drawing/2014/main" id="{8AB3E883-51CA-EA33-0A76-AF1F26D66C81}"/>
              </a:ext>
            </a:extLst>
          </p:cNvPr>
          <p:cNvSpPr txBox="1"/>
          <p:nvPr>
            <p:custDataLst>
              <p:tags r:id="rId3"/>
            </p:custDataLst>
          </p:nvPr>
        </p:nvSpPr>
        <p:spPr>
          <a:xfrm>
            <a:off x="441671" y="1066036"/>
            <a:ext cx="10064963" cy="52322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itchFamily="2" charset="2"/>
              <a:buChar char="Ø"/>
            </a:pPr>
            <a:r>
              <a:rPr lang="en-US" altLang="zh-CN"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rPr>
              <a:t>Local Editing Module</a:t>
            </a:r>
            <a:endParaRPr lang="zh-CN" altLang="en-US"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endParaRPr>
          </a:p>
        </p:txBody>
      </p:sp>
      <p:grpSp>
        <p:nvGrpSpPr>
          <p:cNvPr id="24" name="组合 23">
            <a:extLst>
              <a:ext uri="{FF2B5EF4-FFF2-40B4-BE49-F238E27FC236}">
                <a16:creationId xmlns:a16="http://schemas.microsoft.com/office/drawing/2014/main" id="{DAB7701B-C2D6-3FD7-8964-810442DFB305}"/>
              </a:ext>
            </a:extLst>
          </p:cNvPr>
          <p:cNvGrpSpPr/>
          <p:nvPr/>
        </p:nvGrpSpPr>
        <p:grpSpPr>
          <a:xfrm>
            <a:off x="370072" y="219176"/>
            <a:ext cx="2150839" cy="449040"/>
            <a:chOff x="2085654" y="644950"/>
            <a:chExt cx="7772400" cy="1622679"/>
          </a:xfrm>
        </p:grpSpPr>
        <p:pic>
          <p:nvPicPr>
            <p:cNvPr id="25" name="图片 24">
              <a:extLst>
                <a:ext uri="{FF2B5EF4-FFF2-40B4-BE49-F238E27FC236}">
                  <a16:creationId xmlns:a16="http://schemas.microsoft.com/office/drawing/2014/main" id="{3358E318-6417-05D0-195F-4F847D7208C0}"/>
                </a:ext>
              </a:extLst>
            </p:cNvPr>
            <p:cNvPicPr>
              <a:picLocks noChangeAspect="1"/>
            </p:cNvPicPr>
            <p:nvPr/>
          </p:nvPicPr>
          <p:blipFill rotWithShape="1">
            <a:blip r:embed="rId6"/>
            <a:srcRect r="78982"/>
            <a:stretch/>
          </p:blipFill>
          <p:spPr>
            <a:xfrm>
              <a:off x="2085654" y="644950"/>
              <a:ext cx="1633591" cy="1622679"/>
            </a:xfrm>
            <a:prstGeom prst="rect">
              <a:avLst/>
            </a:prstGeom>
          </p:spPr>
        </p:pic>
        <p:pic>
          <p:nvPicPr>
            <p:cNvPr id="26" name="图片 25">
              <a:extLst>
                <a:ext uri="{FF2B5EF4-FFF2-40B4-BE49-F238E27FC236}">
                  <a16:creationId xmlns:a16="http://schemas.microsoft.com/office/drawing/2014/main" id="{37622871-DF87-11EE-5D28-9D5189E37BE6}"/>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p:blipFill>
          <p:spPr>
            <a:xfrm>
              <a:off x="3914454" y="644950"/>
              <a:ext cx="5943600" cy="1622679"/>
            </a:xfrm>
            <a:prstGeom prst="rect">
              <a:avLst/>
            </a:prstGeom>
          </p:spPr>
        </p:pic>
      </p:gr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13CBD30-2971-3A48-45E8-269CC31AD085}"/>
                  </a:ext>
                </a:extLst>
              </p:cNvPr>
              <p:cNvSpPr txBox="1"/>
              <p:nvPr/>
            </p:nvSpPr>
            <p:spPr>
              <a:xfrm>
                <a:off x="596102" y="1962256"/>
                <a:ext cx="11040086" cy="2031325"/>
              </a:xfrm>
              <a:prstGeom prst="rect">
                <a:avLst/>
              </a:prstGeom>
              <a:noFill/>
            </p:spPr>
            <p:txBody>
              <a:bodyPr wrap="square" rtlCol="0">
                <a:spAutoFit/>
              </a:bodyPr>
              <a:lstStyle/>
              <a:p>
                <a:r>
                  <a:rPr lang="zh-CN" altLang="en-US" b="1" dirty="0">
                    <a:solidFill>
                      <a:srgbClr val="0070C0"/>
                    </a:solidFill>
                    <a:latin typeface="Times New Roman" panose="02020603050405020304" pitchFamily="18" charset="0"/>
                    <a:cs typeface="Times New Roman" panose="02020603050405020304" pitchFamily="18" charset="0"/>
                  </a:rPr>
                  <a:t>③ </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self.start_blend = int(start_blend * NUM_DDIM_STEPS)</a:t>
                </a:r>
                <a:r>
                  <a:rPr lang="zh-CN"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This calculates the specific step at which to start the intervention.</a:t>
                </a:r>
                <a:endParaRPr lang="en-US" altLang="zh-CN" dirty="0">
                  <a:latin typeface="Times New Roman" panose="02020603050405020304" pitchFamily="18" charset="0"/>
                  <a:cs typeface="Times New Roman" panose="02020603050405020304" pitchFamily="18" charset="0"/>
                </a:endParaRPr>
              </a:p>
              <a:p>
                <a:br>
                  <a:rPr lang="zh-CN" altLang="zh-CN" dirty="0">
                    <a:latin typeface="Times New Roman" panose="02020603050405020304" pitchFamily="18" charset="0"/>
                    <a:cs typeface="Times New Roman" panose="02020603050405020304" pitchFamily="18" charset="0"/>
                  </a:rPr>
                </a:br>
                <a:r>
                  <a:rPr lang="zh-CN" altLang="zh-C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endParaRPr lang="en-US" altLang="zh-C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If the total steps </a:t>
                </a:r>
                <a:r>
                  <a:rPr lang="zh-CN" altLang="zh-CN" b="1" i="1" dirty="0">
                    <a:solidFill>
                      <a:srgbClr val="0070C0"/>
                    </a:solidFill>
                    <a:latin typeface="Times New Roman" panose="02020603050405020304" pitchFamily="18" charset="0"/>
                    <a:cs typeface="Times New Roman" panose="02020603050405020304" pitchFamily="18" charset="0"/>
                  </a:rPr>
                  <a:t>NUM_DDIM_STEPS </a:t>
                </a:r>
                <a:r>
                  <a:rPr lang="zh-CN" altLang="zh-CN" dirty="0">
                    <a:latin typeface="Times New Roman" panose="02020603050405020304" pitchFamily="18" charset="0"/>
                    <a:cs typeface="Times New Roman" panose="02020603050405020304" pitchFamily="18" charset="0"/>
                  </a:rPr>
                  <a:t>is 50 and the specified </a:t>
                </a:r>
                <a:r>
                  <a:rPr lang="zh-CN" altLang="zh-CN" b="1" i="1" dirty="0">
                    <a:solidFill>
                      <a:srgbClr val="0070C0"/>
                    </a:solidFill>
                    <a:latin typeface="Times New Roman" panose="02020603050405020304" pitchFamily="18" charset="0"/>
                    <a:cs typeface="Times New Roman" panose="02020603050405020304" pitchFamily="18" charset="0"/>
                  </a:rPr>
                  <a:t>start_blend </a:t>
                </a:r>
                <a:r>
                  <a:rPr lang="zh-CN" altLang="zh-CN" dirty="0">
                    <a:latin typeface="Times New Roman" panose="02020603050405020304" pitchFamily="18" charset="0"/>
                    <a:cs typeface="Times New Roman" panose="02020603050405020304" pitchFamily="18" charset="0"/>
                  </a:rPr>
                  <a:t>is 0.2, then </a:t>
                </a:r>
                <a14:m>
                  <m:oMath xmlns:m="http://schemas.openxmlformats.org/officeDocument/2006/math">
                    <m:r>
                      <a:rPr lang="en-US" altLang="zh-CN" b="0" i="1" smtClean="0">
                        <a:latin typeface="Cambria Math" panose="02040503050406030204" pitchFamily="18" charset="0"/>
                        <a:cs typeface="Times New Roman" panose="02020603050405020304" pitchFamily="18" charset="0"/>
                      </a:rPr>
                      <m:t>50</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×0.2=10</m:t>
                    </m:r>
                  </m:oMath>
                </a14:m>
                <a:r>
                  <a:rPr lang="en-US" altLang="zh-CN" dirty="0">
                    <a:latin typeface="Times New Roman" panose="02020603050405020304" pitchFamily="18" charset="0"/>
                    <a:cs typeface="Times New Roman" panose="02020603050405020304" pitchFamily="18" charset="0"/>
                  </a:rPr>
                  <a:t>. </a:t>
                </a:r>
              </a:p>
              <a:p>
                <a:r>
                  <a:rPr lang="zh-CN" altLang="zh-CN" dirty="0">
                    <a:latin typeface="Times New Roman" panose="02020603050405020304" pitchFamily="18" charset="0"/>
                    <a:cs typeface="Times New Roman" panose="02020603050405020304" pitchFamily="18" charset="0"/>
                  </a:rPr>
                  <a:t>This means the model generates the general outline freely for the first 10 steps, and background protection is enforced starting from the 11th step.</a:t>
                </a:r>
                <a:endParaRPr lang="zh-CN" altLang="zh-CN" b="1" dirty="0">
                  <a:latin typeface="Times New Roman" panose="02020603050405020304" pitchFamily="18" charset="0"/>
                  <a:cs typeface="Times New Roman" panose="02020603050405020304" pitchFamily="18" charset="0"/>
                </a:endParaRPr>
              </a:p>
            </p:txBody>
          </p:sp>
        </mc:Choice>
        <mc:Fallback xmlns="">
          <p:sp>
            <p:nvSpPr>
              <p:cNvPr id="19" name="文本框 18">
                <a:extLst>
                  <a:ext uri="{FF2B5EF4-FFF2-40B4-BE49-F238E27FC236}">
                    <a16:creationId xmlns:a16="http://schemas.microsoft.com/office/drawing/2014/main" id="{613CBD30-2971-3A48-45E8-269CC31AD085}"/>
                  </a:ext>
                </a:extLst>
              </p:cNvPr>
              <p:cNvSpPr txBox="1">
                <a:spLocks noRot="1" noChangeAspect="1" noMove="1" noResize="1" noEditPoints="1" noAdjustHandles="1" noChangeArrowheads="1" noChangeShapeType="1" noTextEdit="1"/>
              </p:cNvSpPr>
              <p:nvPr/>
            </p:nvSpPr>
            <p:spPr>
              <a:xfrm>
                <a:off x="596102" y="1962256"/>
                <a:ext cx="11040086" cy="2031325"/>
              </a:xfrm>
              <a:prstGeom prst="rect">
                <a:avLst/>
              </a:prstGeom>
              <a:blipFill>
                <a:blip r:embed="rId9"/>
                <a:stretch>
                  <a:fillRect l="-497" t="-2102" r="-442" b="-3904"/>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0D614052-BD63-106D-9834-190188485130}"/>
              </a:ext>
            </a:extLst>
          </p:cNvPr>
          <p:cNvPicPr>
            <a:picLocks noChangeAspect="1"/>
          </p:cNvPicPr>
          <p:nvPr/>
        </p:nvPicPr>
        <p:blipFill>
          <a:blip r:embed="rId10"/>
          <a:stretch>
            <a:fillRect/>
          </a:stretch>
        </p:blipFill>
        <p:spPr>
          <a:xfrm>
            <a:off x="603738" y="4227419"/>
            <a:ext cx="5845549" cy="1769967"/>
          </a:xfrm>
          <a:prstGeom prst="rect">
            <a:avLst/>
          </a:prstGeom>
        </p:spPr>
      </p:pic>
      <p:sp>
        <p:nvSpPr>
          <p:cNvPr id="14" name="矩形: 圆角 13">
            <a:extLst>
              <a:ext uri="{FF2B5EF4-FFF2-40B4-BE49-F238E27FC236}">
                <a16:creationId xmlns:a16="http://schemas.microsoft.com/office/drawing/2014/main" id="{F24117D1-9BD2-E0A3-0D38-6BAC42943D2A}"/>
              </a:ext>
            </a:extLst>
          </p:cNvPr>
          <p:cNvSpPr/>
          <p:nvPr/>
        </p:nvSpPr>
        <p:spPr>
          <a:xfrm>
            <a:off x="696972" y="5065058"/>
            <a:ext cx="5273521" cy="313541"/>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灯片编号占位符 6">
            <a:extLst>
              <a:ext uri="{FF2B5EF4-FFF2-40B4-BE49-F238E27FC236}">
                <a16:creationId xmlns:a16="http://schemas.microsoft.com/office/drawing/2014/main" id="{4ECE16DE-4B0E-896C-CBC2-A8B9E8722611}"/>
              </a:ext>
            </a:extLst>
          </p:cNvPr>
          <p:cNvSpPr>
            <a:spLocks noGrp="1"/>
          </p:cNvSpPr>
          <p:nvPr>
            <p:ph type="sldNum" sz="quarter" idx="12"/>
          </p:nvPr>
        </p:nvSpPr>
        <p:spPr/>
        <p:txBody>
          <a:bodyPr/>
          <a:lstStyle/>
          <a:p>
            <a:fld id="{E6518835-16E6-9244-9C02-6BFB876E5D3C}" type="slidenum">
              <a:rPr kumimoji="1" lang="zh-CN" altLang="en-US" smtClean="0"/>
              <a:t>25</a:t>
            </a:fld>
            <a:endParaRPr kumimoji="1" lang="zh-CN" altLang="en-US"/>
          </a:p>
        </p:txBody>
      </p:sp>
    </p:spTree>
    <p:extLst>
      <p:ext uri="{BB962C8B-B14F-4D97-AF65-F5344CB8AC3E}">
        <p14:creationId xmlns:p14="http://schemas.microsoft.com/office/powerpoint/2010/main" val="17941354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47CC1-3031-6C84-887A-C7F6A9A41E8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F4B83855-0B69-46C4-DD68-5085B939917C}"/>
              </a:ext>
            </a:extLst>
          </p:cNvPr>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79FADA65-8647-3702-6FE0-6EFEC6B79CCC}"/>
              </a:ext>
            </a:extLst>
          </p:cNvPr>
          <p:cNvSpPr txBox="1"/>
          <p:nvPr/>
        </p:nvSpPr>
        <p:spPr>
          <a:xfrm>
            <a:off x="6844487" y="96465"/>
            <a:ext cx="140294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Style</a:t>
            </a:r>
            <a:b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b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Intensity</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0" name="圆角矩形 9">
            <a:extLst>
              <a:ext uri="{FF2B5EF4-FFF2-40B4-BE49-F238E27FC236}">
                <a16:creationId xmlns:a16="http://schemas.microsoft.com/office/drawing/2014/main" id="{CE32E692-F684-A487-0FD5-F0641C20B596}"/>
              </a:ext>
            </a:extLst>
          </p:cNvPr>
          <p:cNvSpPr/>
          <p:nvPr/>
        </p:nvSpPr>
        <p:spPr>
          <a:xfrm>
            <a:off x="456148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82B6068B-1382-5339-AB50-D573BD748EA6}"/>
              </a:ext>
            </a:extLst>
          </p:cNvPr>
          <p:cNvSpPr txBox="1"/>
          <p:nvPr/>
        </p:nvSpPr>
        <p:spPr>
          <a:xfrm>
            <a:off x="2731279" y="103947"/>
            <a:ext cx="146706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Attention</a:t>
            </a:r>
          </a:p>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Storage</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B5BD7828-33DE-BCF1-2DC1-FAE8F9C12CD3}"/>
              </a:ext>
            </a:extLst>
          </p:cNvPr>
          <p:cNvSpPr txBox="1"/>
          <p:nvPr/>
        </p:nvSpPr>
        <p:spPr>
          <a:xfrm>
            <a:off x="4912914" y="98867"/>
            <a:ext cx="1184941" cy="646331"/>
          </a:xfrm>
          <a:prstGeom prst="rect">
            <a:avLst/>
          </a:prstGeom>
          <a:noFill/>
        </p:spPr>
        <p:txBody>
          <a:bodyPr vert="horz" wrap="none" rtlCol="0">
            <a:spAutoFit/>
          </a:bodyPr>
          <a:lstStyle/>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Local </a:t>
            </a:r>
          </a:p>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Editing</a:t>
            </a:r>
            <a:endParaRPr kumimoji="1" lang="zh-CN" altLang="en-US"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 name="PA-直接连接符 17">
            <a:extLst>
              <a:ext uri="{FF2B5EF4-FFF2-40B4-BE49-F238E27FC236}">
                <a16:creationId xmlns:a16="http://schemas.microsoft.com/office/drawing/2014/main" id="{3F6E49E4-B5F6-43D2-5973-431624D4BF84}"/>
              </a:ext>
            </a:extLst>
          </p:cNvPr>
          <p:cNvCxnSpPr>
            <a:cxnSpLocks/>
          </p:cNvCxnSpPr>
          <p:nvPr>
            <p:custDataLst>
              <p:tags r:id="rId1"/>
            </p:custDataLst>
          </p:nvPr>
        </p:nvCxnSpPr>
        <p:spPr>
          <a:xfrm>
            <a:off x="1549217" y="1659981"/>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PA-直接连接符 17">
            <a:extLst>
              <a:ext uri="{FF2B5EF4-FFF2-40B4-BE49-F238E27FC236}">
                <a16:creationId xmlns:a16="http://schemas.microsoft.com/office/drawing/2014/main" id="{97D0EE08-C3C1-E5EF-765D-11429272ACD3}"/>
              </a:ext>
            </a:extLst>
          </p:cNvPr>
          <p:cNvCxnSpPr>
            <a:cxnSpLocks/>
          </p:cNvCxnSpPr>
          <p:nvPr>
            <p:custDataLst>
              <p:tags r:id="rId2"/>
            </p:custDataLst>
          </p:nvPr>
        </p:nvCxnSpPr>
        <p:spPr>
          <a:xfrm>
            <a:off x="548533" y="165998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9" name="PA-文本框 14">
            <a:extLst>
              <a:ext uri="{FF2B5EF4-FFF2-40B4-BE49-F238E27FC236}">
                <a16:creationId xmlns:a16="http://schemas.microsoft.com/office/drawing/2014/main" id="{0ED62902-BCBC-5097-B9AF-BA7604AA7121}"/>
              </a:ext>
            </a:extLst>
          </p:cNvPr>
          <p:cNvSpPr txBox="1"/>
          <p:nvPr>
            <p:custDataLst>
              <p:tags r:id="rId3"/>
            </p:custDataLst>
          </p:nvPr>
        </p:nvSpPr>
        <p:spPr>
          <a:xfrm>
            <a:off x="441671" y="1066036"/>
            <a:ext cx="10064963" cy="52322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itchFamily="2" charset="2"/>
              <a:buChar char="Ø"/>
            </a:pPr>
            <a:r>
              <a:rPr lang="en-US" altLang="zh-CN"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rPr>
              <a:t>Local Editing Module</a:t>
            </a:r>
            <a:endParaRPr lang="zh-CN" altLang="en-US"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endParaRPr>
          </a:p>
        </p:txBody>
      </p:sp>
      <p:grpSp>
        <p:nvGrpSpPr>
          <p:cNvPr id="24" name="组合 23">
            <a:extLst>
              <a:ext uri="{FF2B5EF4-FFF2-40B4-BE49-F238E27FC236}">
                <a16:creationId xmlns:a16="http://schemas.microsoft.com/office/drawing/2014/main" id="{45F5DE13-DAF9-B3A2-CAAF-2F501AD2651E}"/>
              </a:ext>
            </a:extLst>
          </p:cNvPr>
          <p:cNvGrpSpPr/>
          <p:nvPr/>
        </p:nvGrpSpPr>
        <p:grpSpPr>
          <a:xfrm>
            <a:off x="370072" y="219176"/>
            <a:ext cx="2150839" cy="449040"/>
            <a:chOff x="2085654" y="644950"/>
            <a:chExt cx="7772400" cy="1622679"/>
          </a:xfrm>
        </p:grpSpPr>
        <p:pic>
          <p:nvPicPr>
            <p:cNvPr id="25" name="图片 24">
              <a:extLst>
                <a:ext uri="{FF2B5EF4-FFF2-40B4-BE49-F238E27FC236}">
                  <a16:creationId xmlns:a16="http://schemas.microsoft.com/office/drawing/2014/main" id="{EDF6F955-F027-5774-8B4E-9E8C21DAB413}"/>
                </a:ext>
              </a:extLst>
            </p:cNvPr>
            <p:cNvPicPr>
              <a:picLocks noChangeAspect="1"/>
            </p:cNvPicPr>
            <p:nvPr/>
          </p:nvPicPr>
          <p:blipFill rotWithShape="1">
            <a:blip r:embed="rId6"/>
            <a:srcRect r="78982"/>
            <a:stretch/>
          </p:blipFill>
          <p:spPr>
            <a:xfrm>
              <a:off x="2085654" y="644950"/>
              <a:ext cx="1633591" cy="1622679"/>
            </a:xfrm>
            <a:prstGeom prst="rect">
              <a:avLst/>
            </a:prstGeom>
          </p:spPr>
        </p:pic>
        <p:pic>
          <p:nvPicPr>
            <p:cNvPr id="26" name="图片 25">
              <a:extLst>
                <a:ext uri="{FF2B5EF4-FFF2-40B4-BE49-F238E27FC236}">
                  <a16:creationId xmlns:a16="http://schemas.microsoft.com/office/drawing/2014/main" id="{585DD803-A66E-0B85-FAC6-1BFB454EBE0D}"/>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7" name="文本框 6">
            <a:extLst>
              <a:ext uri="{FF2B5EF4-FFF2-40B4-BE49-F238E27FC236}">
                <a16:creationId xmlns:a16="http://schemas.microsoft.com/office/drawing/2014/main" id="{577CBE3B-393E-8012-83C5-395E507D8C74}"/>
              </a:ext>
            </a:extLst>
          </p:cNvPr>
          <p:cNvSpPr txBox="1"/>
          <p:nvPr/>
        </p:nvSpPr>
        <p:spPr>
          <a:xfrm>
            <a:off x="370071" y="1882588"/>
            <a:ext cx="5321023" cy="3847207"/>
          </a:xfrm>
          <a:prstGeom prst="rect">
            <a:avLst/>
          </a:prstGeom>
          <a:noFill/>
        </p:spPr>
        <p:txBody>
          <a:bodyPr wrap="square" rtlCol="0">
            <a:spAutoFit/>
          </a:bodyPr>
          <a:lstStyle/>
          <a:p>
            <a:pPr algn="just"/>
            <a:r>
              <a:rPr lang="zh-CN"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get_mask</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altLang="zh-C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en-US" altLang="zh-CN" dirty="0">
                <a:latin typeface="Times New Roman" panose="02020603050405020304" pitchFamily="18" charset="0"/>
                <a:cs typeface="Times New Roman" panose="02020603050405020304" pitchFamily="18" charset="0"/>
              </a:rPr>
              <a:t>T</a:t>
            </a:r>
            <a:r>
              <a:rPr lang="zh-CN" altLang="zh-CN" dirty="0">
                <a:latin typeface="Times New Roman" panose="02020603050405020304" pitchFamily="18" charset="0"/>
                <a:cs typeface="Times New Roman" panose="02020603050405020304" pitchFamily="18" charset="0"/>
              </a:rPr>
              <a:t>he most critical part for achieving local editing.</a:t>
            </a:r>
            <a:endParaRPr lang="en-US" altLang="zh-CN" dirty="0">
              <a:latin typeface="Times New Roman" panose="02020603050405020304" pitchFamily="18" charset="0"/>
              <a:cs typeface="Times New Roman" panose="02020603050405020304" pitchFamily="18" charset="0"/>
            </a:endParaRPr>
          </a:p>
          <a:p>
            <a:pPr algn="just"/>
            <a:r>
              <a:rPr lang="zh-CN"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algn="just"/>
            <a:r>
              <a:rPr lang="zh-CN" altLang="zh-CN" dirty="0">
                <a:latin typeface="Times New Roman" panose="02020603050405020304" pitchFamily="18" charset="0"/>
                <a:cs typeface="Times New Roman" panose="02020603050405020304" pitchFamily="18" charset="0"/>
              </a:rPr>
              <a:t>It receives high-dimensional "Cross-Attention Maps" from within the neural network and, through a series of mathematical calculations, converts them into a black-and-white 2D local protection mask. </a:t>
            </a:r>
            <a:endParaRPr lang="en-US" altLang="zh-CN" dirty="0">
              <a:latin typeface="Times New Roman" panose="02020603050405020304" pitchFamily="18" charset="0"/>
              <a:cs typeface="Times New Roman" panose="02020603050405020304" pitchFamily="18" charset="0"/>
            </a:endParaRPr>
          </a:p>
          <a:p>
            <a:pPr algn="just"/>
            <a:endParaRPr lang="en-US" altLang="zh-CN" dirty="0">
              <a:latin typeface="Times New Roman" panose="02020603050405020304" pitchFamily="18" charset="0"/>
              <a:cs typeface="Times New Roman" panose="02020603050405020304" pitchFamily="18" charset="0"/>
            </a:endParaRPr>
          </a:p>
          <a:p>
            <a:pPr algn="just"/>
            <a:r>
              <a:rPr lang="zh-CN" altLang="zh-CN" dirty="0">
                <a:latin typeface="Times New Roman" panose="02020603050405020304" pitchFamily="18" charset="0"/>
                <a:cs typeface="Times New Roman" panose="02020603050405020304" pitchFamily="18" charset="0"/>
              </a:rPr>
              <a:t>During each image denoising step, it precisely blocks the features that would disrupt the background (occluded by the black mask) and only allows the style features acting on the target area to pass through.</a:t>
            </a:r>
          </a:p>
        </p:txBody>
      </p:sp>
      <p:pic>
        <p:nvPicPr>
          <p:cNvPr id="16" name="图片 15">
            <a:extLst>
              <a:ext uri="{FF2B5EF4-FFF2-40B4-BE49-F238E27FC236}">
                <a16:creationId xmlns:a16="http://schemas.microsoft.com/office/drawing/2014/main" id="{136B2A4D-0B7F-258C-7CBA-05427B0A2531}"/>
              </a:ext>
            </a:extLst>
          </p:cNvPr>
          <p:cNvPicPr>
            <a:picLocks noChangeAspect="1"/>
          </p:cNvPicPr>
          <p:nvPr/>
        </p:nvPicPr>
        <p:blipFill>
          <a:blip r:embed="rId9"/>
          <a:stretch>
            <a:fillRect/>
          </a:stretch>
        </p:blipFill>
        <p:spPr>
          <a:xfrm>
            <a:off x="5691094" y="2849268"/>
            <a:ext cx="6160246" cy="2348751"/>
          </a:xfrm>
          <a:prstGeom prst="rect">
            <a:avLst/>
          </a:prstGeom>
        </p:spPr>
      </p:pic>
      <p:sp>
        <p:nvSpPr>
          <p:cNvPr id="8" name="灯片编号占位符 7">
            <a:extLst>
              <a:ext uri="{FF2B5EF4-FFF2-40B4-BE49-F238E27FC236}">
                <a16:creationId xmlns:a16="http://schemas.microsoft.com/office/drawing/2014/main" id="{44FFEFF1-1BDA-BA07-5D59-DA8E7CB246A6}"/>
              </a:ext>
            </a:extLst>
          </p:cNvPr>
          <p:cNvSpPr>
            <a:spLocks noGrp="1"/>
          </p:cNvSpPr>
          <p:nvPr>
            <p:ph type="sldNum" sz="quarter" idx="12"/>
          </p:nvPr>
        </p:nvSpPr>
        <p:spPr/>
        <p:txBody>
          <a:bodyPr/>
          <a:lstStyle/>
          <a:p>
            <a:fld id="{E6518835-16E6-9244-9C02-6BFB876E5D3C}" type="slidenum">
              <a:rPr kumimoji="1" lang="zh-CN" altLang="en-US" smtClean="0"/>
              <a:t>26</a:t>
            </a:fld>
            <a:endParaRPr kumimoji="1" lang="zh-CN" altLang="en-US"/>
          </a:p>
        </p:txBody>
      </p:sp>
    </p:spTree>
    <p:extLst>
      <p:ext uri="{BB962C8B-B14F-4D97-AF65-F5344CB8AC3E}">
        <p14:creationId xmlns:p14="http://schemas.microsoft.com/office/powerpoint/2010/main" val="415107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F60C-3D39-5A18-899C-83C62C25750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F2FBA0A-971F-1C45-A2BB-7B12F5681E81}"/>
              </a:ext>
            </a:extLst>
          </p:cNvPr>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D4AF2F3A-05CE-5263-182A-96D87E688E5D}"/>
              </a:ext>
            </a:extLst>
          </p:cNvPr>
          <p:cNvSpPr txBox="1"/>
          <p:nvPr/>
        </p:nvSpPr>
        <p:spPr>
          <a:xfrm>
            <a:off x="6844487" y="96465"/>
            <a:ext cx="140294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Style</a:t>
            </a:r>
            <a:b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b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Intensity</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0" name="圆角矩形 9">
            <a:extLst>
              <a:ext uri="{FF2B5EF4-FFF2-40B4-BE49-F238E27FC236}">
                <a16:creationId xmlns:a16="http://schemas.microsoft.com/office/drawing/2014/main" id="{62277414-98B8-E515-0F4C-E243C9EEEBA2}"/>
              </a:ext>
            </a:extLst>
          </p:cNvPr>
          <p:cNvSpPr/>
          <p:nvPr/>
        </p:nvSpPr>
        <p:spPr>
          <a:xfrm>
            <a:off x="456148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325C3400-5C50-E5E8-0FE2-C625552D6F59}"/>
              </a:ext>
            </a:extLst>
          </p:cNvPr>
          <p:cNvSpPr txBox="1"/>
          <p:nvPr/>
        </p:nvSpPr>
        <p:spPr>
          <a:xfrm>
            <a:off x="2731279" y="103947"/>
            <a:ext cx="146706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Attention</a:t>
            </a:r>
          </a:p>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Storage</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A5F03953-3E28-100D-24EC-57644E23CFA1}"/>
              </a:ext>
            </a:extLst>
          </p:cNvPr>
          <p:cNvSpPr txBox="1"/>
          <p:nvPr/>
        </p:nvSpPr>
        <p:spPr>
          <a:xfrm>
            <a:off x="4912914" y="98867"/>
            <a:ext cx="1184941" cy="646331"/>
          </a:xfrm>
          <a:prstGeom prst="rect">
            <a:avLst/>
          </a:prstGeom>
          <a:noFill/>
        </p:spPr>
        <p:txBody>
          <a:bodyPr vert="horz" wrap="none" rtlCol="0">
            <a:spAutoFit/>
          </a:bodyPr>
          <a:lstStyle/>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Local </a:t>
            </a:r>
          </a:p>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Editing</a:t>
            </a:r>
            <a:endParaRPr kumimoji="1" lang="zh-CN" altLang="en-US"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 name="PA-直接连接符 17">
            <a:extLst>
              <a:ext uri="{FF2B5EF4-FFF2-40B4-BE49-F238E27FC236}">
                <a16:creationId xmlns:a16="http://schemas.microsoft.com/office/drawing/2014/main" id="{1D5CE484-B91B-38CF-5366-35D1C79C9F01}"/>
              </a:ext>
            </a:extLst>
          </p:cNvPr>
          <p:cNvCxnSpPr>
            <a:cxnSpLocks/>
          </p:cNvCxnSpPr>
          <p:nvPr>
            <p:custDataLst>
              <p:tags r:id="rId1"/>
            </p:custDataLst>
          </p:nvPr>
        </p:nvCxnSpPr>
        <p:spPr>
          <a:xfrm>
            <a:off x="1549217" y="1659981"/>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PA-直接连接符 17">
            <a:extLst>
              <a:ext uri="{FF2B5EF4-FFF2-40B4-BE49-F238E27FC236}">
                <a16:creationId xmlns:a16="http://schemas.microsoft.com/office/drawing/2014/main" id="{A0ED0748-B0D2-C1E5-2FE0-953E24CB712B}"/>
              </a:ext>
            </a:extLst>
          </p:cNvPr>
          <p:cNvCxnSpPr>
            <a:cxnSpLocks/>
          </p:cNvCxnSpPr>
          <p:nvPr>
            <p:custDataLst>
              <p:tags r:id="rId2"/>
            </p:custDataLst>
          </p:nvPr>
        </p:nvCxnSpPr>
        <p:spPr>
          <a:xfrm>
            <a:off x="548533" y="165998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9" name="PA-文本框 14">
            <a:extLst>
              <a:ext uri="{FF2B5EF4-FFF2-40B4-BE49-F238E27FC236}">
                <a16:creationId xmlns:a16="http://schemas.microsoft.com/office/drawing/2014/main" id="{01DFEDA8-D640-508B-6DAE-0CF3061C1AC3}"/>
              </a:ext>
            </a:extLst>
          </p:cNvPr>
          <p:cNvSpPr txBox="1"/>
          <p:nvPr>
            <p:custDataLst>
              <p:tags r:id="rId3"/>
            </p:custDataLst>
          </p:nvPr>
        </p:nvSpPr>
        <p:spPr>
          <a:xfrm>
            <a:off x="441671" y="1066036"/>
            <a:ext cx="10064963" cy="52322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itchFamily="2" charset="2"/>
              <a:buChar char="Ø"/>
            </a:pPr>
            <a:r>
              <a:rPr lang="en-US" altLang="zh-CN"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rPr>
              <a:t>Local Editing Module</a:t>
            </a:r>
            <a:endParaRPr lang="zh-CN" altLang="en-US"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endParaRPr>
          </a:p>
        </p:txBody>
      </p:sp>
      <p:grpSp>
        <p:nvGrpSpPr>
          <p:cNvPr id="24" name="组合 23">
            <a:extLst>
              <a:ext uri="{FF2B5EF4-FFF2-40B4-BE49-F238E27FC236}">
                <a16:creationId xmlns:a16="http://schemas.microsoft.com/office/drawing/2014/main" id="{51145E18-1F2B-1B96-0E94-C4C9071474C3}"/>
              </a:ext>
            </a:extLst>
          </p:cNvPr>
          <p:cNvGrpSpPr/>
          <p:nvPr/>
        </p:nvGrpSpPr>
        <p:grpSpPr>
          <a:xfrm>
            <a:off x="370072" y="219176"/>
            <a:ext cx="2150839" cy="449040"/>
            <a:chOff x="2085654" y="644950"/>
            <a:chExt cx="7772400" cy="1622679"/>
          </a:xfrm>
        </p:grpSpPr>
        <p:pic>
          <p:nvPicPr>
            <p:cNvPr id="25" name="图片 24">
              <a:extLst>
                <a:ext uri="{FF2B5EF4-FFF2-40B4-BE49-F238E27FC236}">
                  <a16:creationId xmlns:a16="http://schemas.microsoft.com/office/drawing/2014/main" id="{3F3A416A-1961-E819-B180-2602CFD36609}"/>
                </a:ext>
              </a:extLst>
            </p:cNvPr>
            <p:cNvPicPr>
              <a:picLocks noChangeAspect="1"/>
            </p:cNvPicPr>
            <p:nvPr/>
          </p:nvPicPr>
          <p:blipFill rotWithShape="1">
            <a:blip r:embed="rId6"/>
            <a:srcRect r="78982"/>
            <a:stretch/>
          </p:blipFill>
          <p:spPr>
            <a:xfrm>
              <a:off x="2085654" y="644950"/>
              <a:ext cx="1633591" cy="1622679"/>
            </a:xfrm>
            <a:prstGeom prst="rect">
              <a:avLst/>
            </a:prstGeom>
          </p:spPr>
        </p:pic>
        <p:pic>
          <p:nvPicPr>
            <p:cNvPr id="26" name="图片 25">
              <a:extLst>
                <a:ext uri="{FF2B5EF4-FFF2-40B4-BE49-F238E27FC236}">
                  <a16:creationId xmlns:a16="http://schemas.microsoft.com/office/drawing/2014/main" id="{1C9F5C49-18FA-DD1A-1B23-87949843623C}"/>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7" name="文本框 6">
            <a:extLst>
              <a:ext uri="{FF2B5EF4-FFF2-40B4-BE49-F238E27FC236}">
                <a16:creationId xmlns:a16="http://schemas.microsoft.com/office/drawing/2014/main" id="{F0EF251F-EADB-5B9B-09D2-53B2CAC84D83}"/>
              </a:ext>
            </a:extLst>
          </p:cNvPr>
          <p:cNvSpPr txBox="1"/>
          <p:nvPr/>
        </p:nvSpPr>
        <p:spPr>
          <a:xfrm>
            <a:off x="548533" y="1811229"/>
            <a:ext cx="4812361" cy="2862322"/>
          </a:xfrm>
          <a:prstGeom prst="rect">
            <a:avLst/>
          </a:prstGeom>
          <a:noFill/>
        </p:spPr>
        <p:txBody>
          <a:bodyPr wrap="square" rtlCol="0">
            <a:spAutoFit/>
          </a:bodyPr>
          <a:lstStyle/>
          <a:p>
            <a:r>
              <a:rPr lang="zh-CN" altLang="en-US"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①</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maps = (maps * alpha).sum(-1).mean(1)</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zh-CN" altLang="zh-CN" dirty="0">
                <a:latin typeface="Times New Roman" panose="02020603050405020304" pitchFamily="18" charset="0"/>
                <a:cs typeface="Times New Roman" panose="02020603050405020304" pitchFamily="18" charset="0"/>
              </a:rPr>
              <a:t>We obtained alpha from the</a:t>
            </a:r>
            <a:r>
              <a:rPr lang="en-US" altLang="zh-CN" dirty="0">
                <a:latin typeface="Times New Roman" panose="02020603050405020304" pitchFamily="18" charset="0"/>
                <a:cs typeface="Times New Roman" panose="02020603050405020304" pitchFamily="18" charset="0"/>
              </a:rPr>
              <a:t> __</a:t>
            </a:r>
            <a:r>
              <a:rPr lang="en-US" altLang="zh-CN" dirty="0" err="1">
                <a:latin typeface="Times New Roman" panose="02020603050405020304" pitchFamily="18" charset="0"/>
                <a:cs typeface="Times New Roman" panose="02020603050405020304" pitchFamily="18" charset="0"/>
              </a:rPr>
              <a:t>init</a:t>
            </a:r>
            <a:r>
              <a:rPr lang="en-US" altLang="zh-CN" dirty="0">
                <a:latin typeface="Times New Roman" panose="02020603050405020304" pitchFamily="18" charset="0"/>
                <a:cs typeface="Times New Roman" panose="02020603050405020304" pitchFamily="18" charset="0"/>
              </a:rPr>
              <a:t>__</a:t>
            </a:r>
            <a:r>
              <a:rPr lang="zh-CN" altLang="zh-CN" dirty="0">
                <a:latin typeface="Times New Roman" panose="02020603050405020304" pitchFamily="18" charset="0"/>
                <a:cs typeface="Times New Roman" panose="02020603050405020304" pitchFamily="18" charset="0"/>
              </a:rPr>
              <a:t>, and in this step, element-wise multiplication is performed. Except for the attention data of the word "</a:t>
            </a:r>
            <a:r>
              <a:rPr lang="zh-CN" altLang="zh-CN" dirty="0">
                <a:solidFill>
                  <a:srgbClr val="0070C0"/>
                </a:solidFill>
                <a:latin typeface="Times New Roman" panose="02020603050405020304" pitchFamily="18" charset="0"/>
                <a:cs typeface="Times New Roman" panose="02020603050405020304" pitchFamily="18" charset="0"/>
              </a:rPr>
              <a:t>woman</a:t>
            </a:r>
            <a:r>
              <a:rPr lang="zh-CN" altLang="zh-CN" dirty="0">
                <a:latin typeface="Times New Roman" panose="02020603050405020304" pitchFamily="18" charset="0"/>
                <a:cs typeface="Times New Roman" panose="02020603050405020304" pitchFamily="18" charset="0"/>
              </a:rPr>
              <a:t>," the attention of all other irrelevant words becomes 0. </a:t>
            </a:r>
            <a:r>
              <a:rPr lang="en-US" altLang="zh-CN" dirty="0">
                <a:latin typeface="Times New Roman" panose="02020603050405020304" pitchFamily="18" charset="0"/>
                <a:cs typeface="Times New Roman" panose="02020603050405020304" pitchFamily="18" charset="0"/>
              </a:rPr>
              <a:t>Then </a:t>
            </a:r>
            <a:r>
              <a:rPr lang="zh-CN" altLang="zh-CN" dirty="0">
                <a:latin typeface="Times New Roman" panose="02020603050405020304" pitchFamily="18" charset="0"/>
                <a:cs typeface="Times New Roman" panose="02020603050405020304" pitchFamily="18" charset="0"/>
              </a:rPr>
              <a:t>the originally complex tensor is transformed into a 2D base heatmap specifically for the target word.</a:t>
            </a:r>
          </a:p>
          <a:p>
            <a:pPr algn="just"/>
            <a:endParaRPr lang="zh-CN" altLang="zh-CN" dirty="0">
              <a:latin typeface="Times New Roman" panose="02020603050405020304" pitchFamily="18" charset="0"/>
              <a:cs typeface="Times New Roman" panose="02020603050405020304" pitchFamily="18" charset="0"/>
            </a:endParaRPr>
          </a:p>
        </p:txBody>
      </p:sp>
      <p:pic>
        <p:nvPicPr>
          <p:cNvPr id="16" name="图片 15">
            <a:extLst>
              <a:ext uri="{FF2B5EF4-FFF2-40B4-BE49-F238E27FC236}">
                <a16:creationId xmlns:a16="http://schemas.microsoft.com/office/drawing/2014/main" id="{D400A3E2-3D13-95E1-CD3C-87AD53D3F938}"/>
              </a:ext>
            </a:extLst>
          </p:cNvPr>
          <p:cNvPicPr>
            <a:picLocks noChangeAspect="1"/>
          </p:cNvPicPr>
          <p:nvPr/>
        </p:nvPicPr>
        <p:blipFill>
          <a:blip r:embed="rId9"/>
          <a:stretch>
            <a:fillRect/>
          </a:stretch>
        </p:blipFill>
        <p:spPr>
          <a:xfrm>
            <a:off x="5661682" y="1888639"/>
            <a:ext cx="6160246" cy="2348751"/>
          </a:xfrm>
          <a:prstGeom prst="rect">
            <a:avLst/>
          </a:prstGeom>
        </p:spPr>
      </p:pic>
      <p:sp>
        <p:nvSpPr>
          <p:cNvPr id="8" name="文本框 7">
            <a:extLst>
              <a:ext uri="{FF2B5EF4-FFF2-40B4-BE49-F238E27FC236}">
                <a16:creationId xmlns:a16="http://schemas.microsoft.com/office/drawing/2014/main" id="{55BB0788-206D-33CF-6D4D-DD61DC112C86}"/>
              </a:ext>
            </a:extLst>
          </p:cNvPr>
          <p:cNvSpPr txBox="1"/>
          <p:nvPr/>
        </p:nvSpPr>
        <p:spPr>
          <a:xfrm>
            <a:off x="370072" y="4738229"/>
            <a:ext cx="11248187" cy="1754326"/>
          </a:xfrm>
          <a:prstGeom prst="rect">
            <a:avLst/>
          </a:prstGeom>
          <a:noFill/>
        </p:spPr>
        <p:txBody>
          <a:bodyPr wrap="square" rtlCol="0">
            <a:spAutoFit/>
          </a:bodyPr>
          <a:lstStyle/>
          <a:p>
            <a:r>
              <a:rPr lang="zh-CN" altLang="en-US"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②</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These four </a:t>
            </a:r>
            <a:r>
              <a:rPr lang="zh-CN" altLang="zh-CN" dirty="0">
                <a:latin typeface="Times New Roman" panose="02020603050405020304" pitchFamily="18" charset="0"/>
                <a:cs typeface="Times New Roman" panose="02020603050405020304" pitchFamily="18" charset="0"/>
              </a:rPr>
              <a:t>process the previously generated blurry, small, and numerically inconsistent heatmap into a standard mask with matching dimensions.</a:t>
            </a:r>
          </a:p>
          <a:p>
            <a:r>
              <a:rPr lang="zh-CN" altLang="zh-CN" dirty="0">
                <a:latin typeface="Times New Roman" panose="02020603050405020304" pitchFamily="18" charset="0"/>
                <a:cs typeface="Times New Roman" panose="02020603050405020304" pitchFamily="18" charset="0"/>
              </a:rPr>
              <a:t>Finally, the pre-prepared mask is executed. During the 50 denoising steps of image generation, the system automatically calls this function after each step. It performs a local replacement of the current latent variable x_t at the tensor level, achieving text-driven local image protection.</a:t>
            </a:r>
          </a:p>
          <a:p>
            <a:pPr algn="just"/>
            <a:endParaRPr lang="zh-CN" altLang="zh-CN" dirty="0">
              <a:latin typeface="Times New Roman" panose="02020603050405020304" pitchFamily="18" charset="0"/>
              <a:cs typeface="Times New Roman" panose="02020603050405020304" pitchFamily="18" charset="0"/>
            </a:endParaRPr>
          </a:p>
        </p:txBody>
      </p:sp>
      <p:sp>
        <p:nvSpPr>
          <p:cNvPr id="12" name="矩形: 圆角 11">
            <a:extLst>
              <a:ext uri="{FF2B5EF4-FFF2-40B4-BE49-F238E27FC236}">
                <a16:creationId xmlns:a16="http://schemas.microsoft.com/office/drawing/2014/main" id="{C037B2AA-C3B2-9C35-8F70-36872EF16663}"/>
              </a:ext>
            </a:extLst>
          </p:cNvPr>
          <p:cNvSpPr/>
          <p:nvPr/>
        </p:nvSpPr>
        <p:spPr>
          <a:xfrm>
            <a:off x="5791200" y="3063014"/>
            <a:ext cx="5414682" cy="890421"/>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DA18B0AB-94EA-4588-DCBA-77043A75541D}"/>
              </a:ext>
            </a:extLst>
          </p:cNvPr>
          <p:cNvCxnSpPr>
            <a:cxnSpLocks/>
            <a:endCxn id="8" idx="0"/>
          </p:cNvCxnSpPr>
          <p:nvPr/>
        </p:nvCxnSpPr>
        <p:spPr>
          <a:xfrm flipH="1">
            <a:off x="5994166" y="3953435"/>
            <a:ext cx="2585058" cy="7847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矩形: 圆角 17">
            <a:extLst>
              <a:ext uri="{FF2B5EF4-FFF2-40B4-BE49-F238E27FC236}">
                <a16:creationId xmlns:a16="http://schemas.microsoft.com/office/drawing/2014/main" id="{C04598BD-6731-AD43-592F-A372C52845BC}"/>
              </a:ext>
            </a:extLst>
          </p:cNvPr>
          <p:cNvSpPr/>
          <p:nvPr/>
        </p:nvSpPr>
        <p:spPr>
          <a:xfrm>
            <a:off x="5907740" y="2334091"/>
            <a:ext cx="2949389" cy="299742"/>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箭头连接符 18">
            <a:extLst>
              <a:ext uri="{FF2B5EF4-FFF2-40B4-BE49-F238E27FC236}">
                <a16:creationId xmlns:a16="http://schemas.microsoft.com/office/drawing/2014/main" id="{CCCC94CC-E0E7-63CA-8827-6BD4F369B5C6}"/>
              </a:ext>
            </a:extLst>
          </p:cNvPr>
          <p:cNvCxnSpPr>
            <a:cxnSpLocks/>
          </p:cNvCxnSpPr>
          <p:nvPr/>
        </p:nvCxnSpPr>
        <p:spPr>
          <a:xfrm flipH="1" flipV="1">
            <a:off x="4912914" y="2050136"/>
            <a:ext cx="994826" cy="41995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灯片编号占位符 12">
            <a:extLst>
              <a:ext uri="{FF2B5EF4-FFF2-40B4-BE49-F238E27FC236}">
                <a16:creationId xmlns:a16="http://schemas.microsoft.com/office/drawing/2014/main" id="{73F77015-9BC7-826C-34EB-12D036BDB927}"/>
              </a:ext>
            </a:extLst>
          </p:cNvPr>
          <p:cNvSpPr>
            <a:spLocks noGrp="1"/>
          </p:cNvSpPr>
          <p:nvPr>
            <p:ph type="sldNum" sz="quarter" idx="12"/>
          </p:nvPr>
        </p:nvSpPr>
        <p:spPr/>
        <p:txBody>
          <a:bodyPr/>
          <a:lstStyle/>
          <a:p>
            <a:fld id="{E6518835-16E6-9244-9C02-6BFB876E5D3C}" type="slidenum">
              <a:rPr kumimoji="1" lang="zh-CN" altLang="en-US" smtClean="0"/>
              <a:t>27</a:t>
            </a:fld>
            <a:endParaRPr kumimoji="1" lang="zh-CN" altLang="en-US"/>
          </a:p>
        </p:txBody>
      </p:sp>
    </p:spTree>
    <p:extLst>
      <p:ext uri="{BB962C8B-B14F-4D97-AF65-F5344CB8AC3E}">
        <p14:creationId xmlns:p14="http://schemas.microsoft.com/office/powerpoint/2010/main" val="9614558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6ADF8-79DC-B7CC-3632-0AD84833766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EDBA88-A75F-6CD8-259A-722B3FF5F069}"/>
              </a:ext>
            </a:extLst>
          </p:cNvPr>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C7F8C5DB-926E-4ABB-D65D-0D0E9682F515}"/>
              </a:ext>
            </a:extLst>
          </p:cNvPr>
          <p:cNvSpPr txBox="1"/>
          <p:nvPr/>
        </p:nvSpPr>
        <p:spPr>
          <a:xfrm>
            <a:off x="6844487" y="96465"/>
            <a:ext cx="140294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Style</a:t>
            </a:r>
            <a:b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b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Intensity</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0" name="圆角矩形 9">
            <a:extLst>
              <a:ext uri="{FF2B5EF4-FFF2-40B4-BE49-F238E27FC236}">
                <a16:creationId xmlns:a16="http://schemas.microsoft.com/office/drawing/2014/main" id="{78CD3A88-8458-38F0-C0E3-40895FAB50A2}"/>
              </a:ext>
            </a:extLst>
          </p:cNvPr>
          <p:cNvSpPr/>
          <p:nvPr/>
        </p:nvSpPr>
        <p:spPr>
          <a:xfrm>
            <a:off x="456148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0193F968-FCA9-0DC2-9B83-B207239EF539}"/>
              </a:ext>
            </a:extLst>
          </p:cNvPr>
          <p:cNvSpPr txBox="1"/>
          <p:nvPr/>
        </p:nvSpPr>
        <p:spPr>
          <a:xfrm>
            <a:off x="2731279" y="103947"/>
            <a:ext cx="146706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Attention</a:t>
            </a:r>
          </a:p>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Storage</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3C13C4D9-B5CF-57FC-FFE1-8619C57B8959}"/>
              </a:ext>
            </a:extLst>
          </p:cNvPr>
          <p:cNvSpPr txBox="1"/>
          <p:nvPr/>
        </p:nvSpPr>
        <p:spPr>
          <a:xfrm>
            <a:off x="4912914" y="98867"/>
            <a:ext cx="1184941" cy="646331"/>
          </a:xfrm>
          <a:prstGeom prst="rect">
            <a:avLst/>
          </a:prstGeom>
          <a:noFill/>
        </p:spPr>
        <p:txBody>
          <a:bodyPr vert="horz" wrap="none" rtlCol="0">
            <a:spAutoFit/>
          </a:bodyPr>
          <a:lstStyle/>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Local </a:t>
            </a:r>
          </a:p>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Editing</a:t>
            </a:r>
            <a:endParaRPr kumimoji="1" lang="zh-CN" altLang="en-US"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 name="PA-直接连接符 17">
            <a:extLst>
              <a:ext uri="{FF2B5EF4-FFF2-40B4-BE49-F238E27FC236}">
                <a16:creationId xmlns:a16="http://schemas.microsoft.com/office/drawing/2014/main" id="{070D8692-D66A-57D4-78B0-DB1FEAE3C6B0}"/>
              </a:ext>
            </a:extLst>
          </p:cNvPr>
          <p:cNvCxnSpPr>
            <a:cxnSpLocks/>
          </p:cNvCxnSpPr>
          <p:nvPr>
            <p:custDataLst>
              <p:tags r:id="rId1"/>
            </p:custDataLst>
          </p:nvPr>
        </p:nvCxnSpPr>
        <p:spPr>
          <a:xfrm>
            <a:off x="1549217" y="1659981"/>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PA-直接连接符 17">
            <a:extLst>
              <a:ext uri="{FF2B5EF4-FFF2-40B4-BE49-F238E27FC236}">
                <a16:creationId xmlns:a16="http://schemas.microsoft.com/office/drawing/2014/main" id="{17FDFE00-9549-02DA-FC27-9CA80F5DE63F}"/>
              </a:ext>
            </a:extLst>
          </p:cNvPr>
          <p:cNvCxnSpPr>
            <a:cxnSpLocks/>
          </p:cNvCxnSpPr>
          <p:nvPr>
            <p:custDataLst>
              <p:tags r:id="rId2"/>
            </p:custDataLst>
          </p:nvPr>
        </p:nvCxnSpPr>
        <p:spPr>
          <a:xfrm>
            <a:off x="548533" y="165998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9" name="PA-文本框 14">
            <a:extLst>
              <a:ext uri="{FF2B5EF4-FFF2-40B4-BE49-F238E27FC236}">
                <a16:creationId xmlns:a16="http://schemas.microsoft.com/office/drawing/2014/main" id="{CA96D245-F182-4AD3-945D-098CE048FDFE}"/>
              </a:ext>
            </a:extLst>
          </p:cNvPr>
          <p:cNvSpPr txBox="1"/>
          <p:nvPr>
            <p:custDataLst>
              <p:tags r:id="rId3"/>
            </p:custDataLst>
          </p:nvPr>
        </p:nvSpPr>
        <p:spPr>
          <a:xfrm>
            <a:off x="441671" y="1066036"/>
            <a:ext cx="10064963" cy="52322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itchFamily="2" charset="2"/>
              <a:buChar char="Ø"/>
            </a:pPr>
            <a:r>
              <a:rPr lang="en-US" altLang="zh-CN"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rPr>
              <a:t>Local Editing Module</a:t>
            </a:r>
            <a:endParaRPr lang="zh-CN" altLang="en-US"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endParaRPr>
          </a:p>
        </p:txBody>
      </p:sp>
      <p:grpSp>
        <p:nvGrpSpPr>
          <p:cNvPr id="24" name="组合 23">
            <a:extLst>
              <a:ext uri="{FF2B5EF4-FFF2-40B4-BE49-F238E27FC236}">
                <a16:creationId xmlns:a16="http://schemas.microsoft.com/office/drawing/2014/main" id="{5E0737C9-1AF0-7BDC-3044-D7075250DC4B}"/>
              </a:ext>
            </a:extLst>
          </p:cNvPr>
          <p:cNvGrpSpPr/>
          <p:nvPr/>
        </p:nvGrpSpPr>
        <p:grpSpPr>
          <a:xfrm>
            <a:off x="370072" y="219176"/>
            <a:ext cx="2150839" cy="449040"/>
            <a:chOff x="2085654" y="644950"/>
            <a:chExt cx="7772400" cy="1622679"/>
          </a:xfrm>
        </p:grpSpPr>
        <p:pic>
          <p:nvPicPr>
            <p:cNvPr id="25" name="图片 24">
              <a:extLst>
                <a:ext uri="{FF2B5EF4-FFF2-40B4-BE49-F238E27FC236}">
                  <a16:creationId xmlns:a16="http://schemas.microsoft.com/office/drawing/2014/main" id="{290AFA51-49D4-864D-C20C-AA41F4B52F81}"/>
                </a:ext>
              </a:extLst>
            </p:cNvPr>
            <p:cNvPicPr>
              <a:picLocks noChangeAspect="1"/>
            </p:cNvPicPr>
            <p:nvPr/>
          </p:nvPicPr>
          <p:blipFill rotWithShape="1">
            <a:blip r:embed="rId6"/>
            <a:srcRect r="78982"/>
            <a:stretch/>
          </p:blipFill>
          <p:spPr>
            <a:xfrm>
              <a:off x="2085654" y="644950"/>
              <a:ext cx="1633591" cy="1622679"/>
            </a:xfrm>
            <a:prstGeom prst="rect">
              <a:avLst/>
            </a:prstGeom>
          </p:spPr>
        </p:pic>
        <p:pic>
          <p:nvPicPr>
            <p:cNvPr id="26" name="图片 25">
              <a:extLst>
                <a:ext uri="{FF2B5EF4-FFF2-40B4-BE49-F238E27FC236}">
                  <a16:creationId xmlns:a16="http://schemas.microsoft.com/office/drawing/2014/main" id="{34535E85-ACE1-E9FA-7DA8-3F00D067CBB3}"/>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7" name="文本框 6">
            <a:extLst>
              <a:ext uri="{FF2B5EF4-FFF2-40B4-BE49-F238E27FC236}">
                <a16:creationId xmlns:a16="http://schemas.microsoft.com/office/drawing/2014/main" id="{844A6EE3-FB6A-AD36-A99D-1586597DD96F}"/>
              </a:ext>
            </a:extLst>
          </p:cNvPr>
          <p:cNvSpPr txBox="1"/>
          <p:nvPr/>
        </p:nvSpPr>
        <p:spPr>
          <a:xfrm>
            <a:off x="370071" y="1882588"/>
            <a:ext cx="10683411" cy="1292662"/>
          </a:xfrm>
          <a:prstGeom prst="rect">
            <a:avLst/>
          </a:prstGeom>
          <a:noFill/>
        </p:spPr>
        <p:txBody>
          <a:bodyPr wrap="square" rtlCol="0">
            <a:spAutoFit/>
          </a:bodyPr>
          <a:lstStyle/>
          <a:p>
            <a:pPr algn="just"/>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__call__  </a:t>
            </a:r>
          </a:p>
          <a:p>
            <a:pPr algn="just"/>
            <a:r>
              <a:rPr lang="en-US" altLang="zh-CN" dirty="0">
                <a:latin typeface="Times New Roman" panose="02020603050405020304" pitchFamily="18" charset="0"/>
                <a:cs typeface="Times New Roman" panose="02020603050405020304" pitchFamily="18" charset="0"/>
              </a:rPr>
              <a:t>Executes the previously prepared "</a:t>
            </a:r>
            <a:r>
              <a:rPr lang="en-US" altLang="zh-CN" dirty="0">
                <a:solidFill>
                  <a:srgbClr val="0070C0"/>
                </a:solidFill>
                <a:latin typeface="Times New Roman" panose="02020603050405020304" pitchFamily="18" charset="0"/>
                <a:cs typeface="Times New Roman" panose="02020603050405020304" pitchFamily="18" charset="0"/>
              </a:rPr>
              <a:t>target word switches</a:t>
            </a:r>
            <a:r>
              <a:rPr lang="en-US" altLang="zh-CN" dirty="0">
                <a:latin typeface="Times New Roman" panose="02020603050405020304" pitchFamily="18" charset="0"/>
                <a:cs typeface="Times New Roman" panose="02020603050405020304" pitchFamily="18" charset="0"/>
              </a:rPr>
              <a:t>" and "</a:t>
            </a:r>
            <a:r>
              <a:rPr lang="en-US" altLang="zh-CN" dirty="0">
                <a:solidFill>
                  <a:srgbClr val="0070C0"/>
                </a:solidFill>
                <a:latin typeface="Times New Roman" panose="02020603050405020304" pitchFamily="18" charset="0"/>
                <a:cs typeface="Times New Roman" panose="02020603050405020304" pitchFamily="18" charset="0"/>
              </a:rPr>
              <a:t>attention feature data</a:t>
            </a:r>
            <a:r>
              <a:rPr lang="en-US" altLang="zh-CN" dirty="0">
                <a:latin typeface="Times New Roman" panose="02020603050405020304" pitchFamily="18" charset="0"/>
                <a:cs typeface="Times New Roman" panose="02020603050405020304" pitchFamily="18" charset="0"/>
              </a:rPr>
              <a:t>." Through physical-level operations—masking and replacing at every step—it achieves text-driven local image protection at the tensor level.</a:t>
            </a:r>
            <a:endParaRPr lang="zh-CN" altLang="zh-CN" dirty="0">
              <a:latin typeface="Times New Roman" panose="02020603050405020304" pitchFamily="18" charset="0"/>
              <a:cs typeface="Times New Roman" panose="02020603050405020304" pitchFamily="18" charset="0"/>
            </a:endParaRPr>
          </a:p>
        </p:txBody>
      </p:sp>
      <p:pic>
        <p:nvPicPr>
          <p:cNvPr id="12" name="图片 11">
            <a:extLst>
              <a:ext uri="{FF2B5EF4-FFF2-40B4-BE49-F238E27FC236}">
                <a16:creationId xmlns:a16="http://schemas.microsoft.com/office/drawing/2014/main" id="{A0C75655-67CD-29F8-C8E3-362C8971428D}"/>
              </a:ext>
            </a:extLst>
          </p:cNvPr>
          <p:cNvPicPr>
            <a:picLocks noChangeAspect="1"/>
          </p:cNvPicPr>
          <p:nvPr/>
        </p:nvPicPr>
        <p:blipFill>
          <a:blip r:embed="rId9"/>
          <a:stretch>
            <a:fillRect/>
          </a:stretch>
        </p:blipFill>
        <p:spPr>
          <a:xfrm>
            <a:off x="441671" y="3267629"/>
            <a:ext cx="6576630" cy="2674852"/>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210EDB7-9A35-5F3C-28D8-665FF91AADCE}"/>
                  </a:ext>
                </a:extLst>
              </p:cNvPr>
              <p:cNvSpPr txBox="1"/>
              <p:nvPr/>
            </p:nvSpPr>
            <p:spPr>
              <a:xfrm>
                <a:off x="7216588" y="3397856"/>
                <a:ext cx="4686023" cy="2308324"/>
              </a:xfrm>
              <a:prstGeom prst="rect">
                <a:avLst/>
              </a:prstGeom>
              <a:noFill/>
            </p:spPr>
            <p:txBody>
              <a:bodyPr wrap="square" rtlCol="0">
                <a:spAutoFit/>
              </a:bodyPr>
              <a:lstStyle/>
              <a:p>
                <a:pPr algn="just" fontAlgn="ctr"/>
                <a14:m>
                  <m:oMath xmlns:m="http://schemas.openxmlformats.org/officeDocument/2006/math">
                    <m:r>
                      <a:rPr lang="en-US" altLang="zh-CN" b="1" i="1" smtClean="0">
                        <a:latin typeface="Cambria Math" panose="02040503050406030204" pitchFamily="18" charset="0"/>
                      </a:rPr>
                      <m:t>𝒙</m:t>
                    </m:r>
                    <m:r>
                      <a:rPr lang="en-US" altLang="zh-CN" b="1" i="1" smtClean="0">
                        <a:latin typeface="Cambria Math" panose="02040503050406030204" pitchFamily="18" charset="0"/>
                      </a:rPr>
                      <m:t>_</m:t>
                    </m:r>
                    <m:r>
                      <a:rPr lang="en-US" altLang="zh-CN" b="1" i="1" smtClean="0">
                        <a:latin typeface="Cambria Math" panose="02040503050406030204" pitchFamily="18" charset="0"/>
                      </a:rPr>
                      <m:t>𝒕</m:t>
                    </m:r>
                  </m:oMath>
                </a14:m>
                <a:r>
                  <a:rPr lang="en-US" altLang="zh-CN" b="1"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is the latent variable of the image generated at the current step.</a:t>
                </a:r>
                <a:endParaRPr lang="en-US" altLang="zh-CN" dirty="0">
                  <a:latin typeface="Times New Roman" panose="02020603050405020304" pitchFamily="18" charset="0"/>
                  <a:cs typeface="Times New Roman" panose="02020603050405020304" pitchFamily="18" charset="0"/>
                </a:endParaRPr>
              </a:p>
              <a:p>
                <a:pPr algn="just" fontAlgn="ctr"/>
                <a:endParaRPr lang="zh-CN" altLang="zh-CN" dirty="0">
                  <a:latin typeface="Times New Roman" panose="02020603050405020304" pitchFamily="18" charset="0"/>
                  <a:cs typeface="Times New Roman" panose="02020603050405020304" pitchFamily="18" charset="0"/>
                </a:endParaRPr>
              </a:p>
              <a:p>
                <a:pPr algn="just" fontAlgn="ctr"/>
                <a14:m>
                  <m:oMath xmlns:m="http://schemas.openxmlformats.org/officeDocument/2006/math">
                    <m:r>
                      <a:rPr lang="en-US" altLang="zh-CN" b="1" i="1" smtClean="0">
                        <a:latin typeface="Cambria Math" panose="02040503050406030204" pitchFamily="18" charset="0"/>
                      </a:rPr>
                      <m:t>𝒙</m:t>
                    </m:r>
                    <m:r>
                      <a:rPr lang="en-US" altLang="zh-CN" b="1" i="1" smtClean="0">
                        <a:latin typeface="Cambria Math" panose="02040503050406030204" pitchFamily="18" charset="0"/>
                      </a:rPr>
                      <m:t>_</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en-US" altLang="zh-CN" b="1" i="1" smtClean="0">
                        <a:latin typeface="Cambria Math" panose="02040503050406030204" pitchFamily="18" charset="0"/>
                      </a:rPr>
                      <m:t>]</m:t>
                    </m:r>
                  </m:oMath>
                </a14:m>
                <a:r>
                  <a:rPr lang="zh-CN" altLang="zh-CN" b="1"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The latent variable of the source image.</a:t>
                </a:r>
                <a:endParaRPr lang="en-US" altLang="zh-CN" dirty="0">
                  <a:latin typeface="Times New Roman" panose="02020603050405020304" pitchFamily="18" charset="0"/>
                  <a:cs typeface="Times New Roman" panose="02020603050405020304" pitchFamily="18" charset="0"/>
                </a:endParaRPr>
              </a:p>
              <a:p>
                <a:pPr algn="just" fontAlgn="ctr"/>
                <a:endParaRPr lang="zh-CN" altLang="zh-CN" dirty="0">
                  <a:latin typeface="Times New Roman" panose="02020603050405020304" pitchFamily="18" charset="0"/>
                  <a:cs typeface="Times New Roman" panose="02020603050405020304" pitchFamily="18" charset="0"/>
                </a:endParaRPr>
              </a:p>
              <a:p>
                <a:pPr algn="just" fontAlgn="ctr"/>
                <a:r>
                  <a:rPr lang="zh-CN" altLang="zh-CN" b="1" dirty="0">
                    <a:latin typeface="Times New Roman" panose="02020603050405020304" pitchFamily="18" charset="0"/>
                    <a:cs typeface="Times New Roman" panose="02020603050405020304" pitchFamily="18" charset="0"/>
                  </a:rPr>
                  <a:t>mask</a:t>
                </a:r>
                <a:r>
                  <a:rPr lang="zh-CN" altLang="zh-CN" dirty="0">
                    <a:latin typeface="Times New Roman" panose="02020603050405020304" pitchFamily="18" charset="0"/>
                    <a:cs typeface="Times New Roman" panose="02020603050405020304" pitchFamily="18" charset="0"/>
                  </a:rPr>
                  <a:t>: The mask generated previously. The white area (</a:t>
                </a:r>
                <a:r>
                  <a:rPr lang="zh-CN" altLang="zh-CN" dirty="0">
                    <a:solidFill>
                      <a:srgbClr val="0070C0"/>
                    </a:solidFill>
                    <a:latin typeface="Times New Roman" panose="02020603050405020304" pitchFamily="18" charset="0"/>
                    <a:cs typeface="Times New Roman" panose="02020603050405020304" pitchFamily="18" charset="0"/>
                  </a:rPr>
                  <a:t>1</a:t>
                </a:r>
                <a:r>
                  <a:rPr lang="zh-CN" altLang="zh-CN" dirty="0">
                    <a:latin typeface="Times New Roman" panose="02020603050405020304" pitchFamily="18" charset="0"/>
                    <a:cs typeface="Times New Roman" panose="02020603050405020304" pitchFamily="18" charset="0"/>
                  </a:rPr>
                  <a:t>) represents the </a:t>
                </a:r>
                <a:r>
                  <a:rPr lang="zh-CN" altLang="zh-CN" dirty="0">
                    <a:solidFill>
                      <a:srgbClr val="0070C0"/>
                    </a:solidFill>
                    <a:latin typeface="Times New Roman" panose="02020603050405020304" pitchFamily="18" charset="0"/>
                    <a:cs typeface="Times New Roman" panose="02020603050405020304" pitchFamily="18" charset="0"/>
                  </a:rPr>
                  <a:t>target</a:t>
                </a:r>
                <a:r>
                  <a:rPr lang="zh-CN" altLang="zh-CN" dirty="0">
                    <a:latin typeface="Times New Roman" panose="02020603050405020304" pitchFamily="18" charset="0"/>
                    <a:cs typeface="Times New Roman" panose="02020603050405020304" pitchFamily="18" charset="0"/>
                  </a:rPr>
                  <a:t>, and the black area (</a:t>
                </a:r>
                <a:r>
                  <a:rPr lang="zh-CN" altLang="zh-CN" dirty="0">
                    <a:solidFill>
                      <a:srgbClr val="0070C0"/>
                    </a:solidFill>
                    <a:latin typeface="Times New Roman" panose="02020603050405020304" pitchFamily="18" charset="0"/>
                    <a:cs typeface="Times New Roman" panose="02020603050405020304" pitchFamily="18" charset="0"/>
                  </a:rPr>
                  <a:t>0</a:t>
                </a:r>
                <a:r>
                  <a:rPr lang="zh-CN" altLang="zh-CN" dirty="0">
                    <a:latin typeface="Times New Roman" panose="02020603050405020304" pitchFamily="18" charset="0"/>
                    <a:cs typeface="Times New Roman" panose="02020603050405020304" pitchFamily="18" charset="0"/>
                  </a:rPr>
                  <a:t>) represents the </a:t>
                </a:r>
                <a:r>
                  <a:rPr lang="zh-CN" altLang="zh-CN" dirty="0">
                    <a:solidFill>
                      <a:srgbClr val="0070C0"/>
                    </a:solidFill>
                    <a:latin typeface="Times New Roman" panose="02020603050405020304" pitchFamily="18" charset="0"/>
                    <a:cs typeface="Times New Roman" panose="02020603050405020304" pitchFamily="18" charset="0"/>
                  </a:rPr>
                  <a:t>background</a:t>
                </a:r>
                <a:r>
                  <a:rPr lang="zh-CN" altLang="zh-CN" dirty="0">
                    <a:latin typeface="Times New Roman" panose="02020603050405020304" pitchFamily="18" charset="0"/>
                    <a:cs typeface="Times New Roman" panose="02020603050405020304" pitchFamily="18" charset="0"/>
                  </a:rPr>
                  <a:t>.</a:t>
                </a:r>
              </a:p>
            </p:txBody>
          </p:sp>
        </mc:Choice>
        <mc:Fallback xmlns="">
          <p:sp>
            <p:nvSpPr>
              <p:cNvPr id="13" name="文本框 12">
                <a:extLst>
                  <a:ext uri="{FF2B5EF4-FFF2-40B4-BE49-F238E27FC236}">
                    <a16:creationId xmlns:a16="http://schemas.microsoft.com/office/drawing/2014/main" id="{D210EDB7-9A35-5F3C-28D8-665FF91AADCE}"/>
                  </a:ext>
                </a:extLst>
              </p:cNvPr>
              <p:cNvSpPr txBox="1">
                <a:spLocks noRot="1" noChangeAspect="1" noMove="1" noResize="1" noEditPoints="1" noAdjustHandles="1" noChangeArrowheads="1" noChangeShapeType="1" noTextEdit="1"/>
              </p:cNvSpPr>
              <p:nvPr/>
            </p:nvSpPr>
            <p:spPr>
              <a:xfrm>
                <a:off x="7216588" y="3397856"/>
                <a:ext cx="4686023" cy="2308324"/>
              </a:xfrm>
              <a:prstGeom prst="rect">
                <a:avLst/>
              </a:prstGeom>
              <a:blipFill>
                <a:blip r:embed="rId10"/>
                <a:stretch>
                  <a:fillRect l="-1170" t="-1055" r="-2211" b="-3430"/>
                </a:stretch>
              </a:blipFill>
            </p:spPr>
            <p:txBody>
              <a:bodyPr/>
              <a:lstStyle/>
              <a:p>
                <a:r>
                  <a:rPr lang="zh-CN" altLang="en-US">
                    <a:noFill/>
                  </a:rPr>
                  <a:t> </a:t>
                </a:r>
              </a:p>
            </p:txBody>
          </p:sp>
        </mc:Fallback>
      </mc:AlternateContent>
      <p:sp>
        <p:nvSpPr>
          <p:cNvPr id="14" name="矩形: 圆角 13">
            <a:extLst>
              <a:ext uri="{FF2B5EF4-FFF2-40B4-BE49-F238E27FC236}">
                <a16:creationId xmlns:a16="http://schemas.microsoft.com/office/drawing/2014/main" id="{46A3994C-AE7C-C79F-6EDA-F52DC43D5759}"/>
              </a:ext>
            </a:extLst>
          </p:cNvPr>
          <p:cNvSpPr/>
          <p:nvPr/>
        </p:nvSpPr>
        <p:spPr>
          <a:xfrm>
            <a:off x="876152" y="5570350"/>
            <a:ext cx="2949389" cy="299742"/>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7289821-69C0-329A-96B9-8142CBE090FC}"/>
                  </a:ext>
                </a:extLst>
              </p:cNvPr>
              <p:cNvSpPr txBox="1"/>
              <p:nvPr/>
            </p:nvSpPr>
            <p:spPr>
              <a:xfrm>
                <a:off x="1904181" y="6097613"/>
                <a:ext cx="9090211" cy="584775"/>
              </a:xfrm>
              <a:prstGeom prst="rect">
                <a:avLst/>
              </a:prstGeom>
              <a:noFill/>
            </p:spPr>
            <p:txBody>
              <a:bodyPr wrap="square" rtlCol="0">
                <a:spAutoFit/>
              </a:bodyPr>
              <a:lstStyle/>
              <a:p>
                <a:pPr algn="just"/>
                <a:r>
                  <a:rPr lang="zh-CN" altLang="zh-CN" sz="1600" i="1" dirty="0">
                    <a:latin typeface="Times New Roman" panose="02020603050405020304" pitchFamily="18" charset="0"/>
                    <a:cs typeface="Times New Roman" panose="02020603050405020304" pitchFamily="18" charset="0"/>
                  </a:rPr>
                  <a:t>The black background portion is completely zeroed out and perfectly replaced by the actual pixels of the source image</a:t>
                </a:r>
                <a:r>
                  <a:rPr lang="en-US" altLang="zh-CN" sz="1600" i="1"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600" i="1">
                        <a:latin typeface="Cambria Math" panose="02040503050406030204" pitchFamily="18" charset="0"/>
                        <a:cs typeface="Times New Roman" panose="02020603050405020304" pitchFamily="18" charset="0"/>
                      </a:rPr>
                      <m:t>𝑥</m:t>
                    </m:r>
                    <m:r>
                      <a:rPr lang="en-US" altLang="zh-CN" sz="1600" i="1">
                        <a:latin typeface="Cambria Math" panose="02040503050406030204" pitchFamily="18" charset="0"/>
                        <a:cs typeface="Times New Roman" panose="02020603050405020304" pitchFamily="18" charset="0"/>
                      </a:rPr>
                      <m:t>_</m:t>
                    </m:r>
                    <m:r>
                      <a:rPr lang="en-US" altLang="zh-CN" sz="1600" i="1">
                        <a:latin typeface="Cambria Math" panose="02040503050406030204" pitchFamily="18" charset="0"/>
                        <a:cs typeface="Times New Roman" panose="02020603050405020304" pitchFamily="18" charset="0"/>
                      </a:rPr>
                      <m:t>𝑡</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1</m:t>
                    </m:r>
                    <m:r>
                      <a:rPr lang="en-US" altLang="zh-CN" sz="1600" i="1">
                        <a:latin typeface="Cambria Math" panose="02040503050406030204" pitchFamily="18" charset="0"/>
                        <a:cs typeface="Times New Roman" panose="02020603050405020304" pitchFamily="18" charset="0"/>
                      </a:rPr>
                      <m:t>]</m:t>
                    </m:r>
                  </m:oMath>
                </a14:m>
                <a:r>
                  <a:rPr lang="en-US" altLang="zh-CN" sz="1600" i="1" dirty="0">
                    <a:latin typeface="Times New Roman" panose="02020603050405020304" pitchFamily="18" charset="0"/>
                    <a:cs typeface="Times New Roman" panose="02020603050405020304" pitchFamily="18" charset="0"/>
                  </a:rPr>
                  <a:t> </a:t>
                </a:r>
                <a:r>
                  <a:rPr lang="zh-CN" altLang="zh-CN" sz="1600" i="1" dirty="0">
                    <a:latin typeface="Times New Roman" panose="02020603050405020304" pitchFamily="18" charset="0"/>
                    <a:cs typeface="Times New Roman" panose="02020603050405020304" pitchFamily="18" charset="0"/>
                  </a:rPr>
                  <a:t>; the white target portion is allowed to pass, retaining the newly generated style pixels.</a:t>
                </a:r>
              </a:p>
            </p:txBody>
          </p:sp>
        </mc:Choice>
        <mc:Fallback xmlns="">
          <p:sp>
            <p:nvSpPr>
              <p:cNvPr id="15" name="文本框 14">
                <a:extLst>
                  <a:ext uri="{FF2B5EF4-FFF2-40B4-BE49-F238E27FC236}">
                    <a16:creationId xmlns:a16="http://schemas.microsoft.com/office/drawing/2014/main" id="{27289821-69C0-329A-96B9-8142CBE090FC}"/>
                  </a:ext>
                </a:extLst>
              </p:cNvPr>
              <p:cNvSpPr txBox="1">
                <a:spLocks noRot="1" noChangeAspect="1" noMove="1" noResize="1" noEditPoints="1" noAdjustHandles="1" noChangeArrowheads="1" noChangeShapeType="1" noTextEdit="1"/>
              </p:cNvSpPr>
              <p:nvPr/>
            </p:nvSpPr>
            <p:spPr>
              <a:xfrm>
                <a:off x="1904181" y="6097613"/>
                <a:ext cx="9090211" cy="584775"/>
              </a:xfrm>
              <a:prstGeom prst="rect">
                <a:avLst/>
              </a:prstGeom>
              <a:blipFill>
                <a:blip r:embed="rId11"/>
                <a:stretch>
                  <a:fillRect l="-335" t="-3125" r="-335" b="-12500"/>
                </a:stretch>
              </a:blipFill>
            </p:spPr>
            <p:txBody>
              <a:bodyPr/>
              <a:lstStyle/>
              <a:p>
                <a:r>
                  <a:rPr lang="zh-CN" altLang="en-US">
                    <a:noFill/>
                  </a:rPr>
                  <a:t> </a:t>
                </a:r>
              </a:p>
            </p:txBody>
          </p:sp>
        </mc:Fallback>
      </mc:AlternateContent>
      <p:sp>
        <p:nvSpPr>
          <p:cNvPr id="8" name="灯片编号占位符 7">
            <a:extLst>
              <a:ext uri="{FF2B5EF4-FFF2-40B4-BE49-F238E27FC236}">
                <a16:creationId xmlns:a16="http://schemas.microsoft.com/office/drawing/2014/main" id="{AA55737D-A385-2DC7-5445-380431615924}"/>
              </a:ext>
            </a:extLst>
          </p:cNvPr>
          <p:cNvSpPr>
            <a:spLocks noGrp="1"/>
          </p:cNvSpPr>
          <p:nvPr>
            <p:ph type="sldNum" sz="quarter" idx="12"/>
          </p:nvPr>
        </p:nvSpPr>
        <p:spPr/>
        <p:txBody>
          <a:bodyPr/>
          <a:lstStyle/>
          <a:p>
            <a:fld id="{E6518835-16E6-9244-9C02-6BFB876E5D3C}" type="slidenum">
              <a:rPr kumimoji="1" lang="zh-CN" altLang="en-US" smtClean="0"/>
              <a:t>28</a:t>
            </a:fld>
            <a:endParaRPr kumimoji="1" lang="zh-CN" altLang="en-US"/>
          </a:p>
        </p:txBody>
      </p:sp>
    </p:spTree>
    <p:extLst>
      <p:ext uri="{BB962C8B-B14F-4D97-AF65-F5344CB8AC3E}">
        <p14:creationId xmlns:p14="http://schemas.microsoft.com/office/powerpoint/2010/main" val="326189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98978-3019-DB02-0B85-0FF55C308E9F}"/>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048EEF9-D304-F567-6332-C57C65D0F0CA}"/>
              </a:ext>
            </a:extLst>
          </p:cNvPr>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1155AEFC-6571-832B-CB5E-95437B100F3B}"/>
              </a:ext>
            </a:extLst>
          </p:cNvPr>
          <p:cNvSpPr txBox="1"/>
          <p:nvPr/>
        </p:nvSpPr>
        <p:spPr>
          <a:xfrm>
            <a:off x="6844487" y="96465"/>
            <a:ext cx="140294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Style</a:t>
            </a:r>
            <a:b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b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Intensity</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0" name="圆角矩形 9">
            <a:extLst>
              <a:ext uri="{FF2B5EF4-FFF2-40B4-BE49-F238E27FC236}">
                <a16:creationId xmlns:a16="http://schemas.microsoft.com/office/drawing/2014/main" id="{F1573A8E-D263-71F8-1F2E-1502DD66F0F9}"/>
              </a:ext>
            </a:extLst>
          </p:cNvPr>
          <p:cNvSpPr/>
          <p:nvPr/>
        </p:nvSpPr>
        <p:spPr>
          <a:xfrm>
            <a:off x="456148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69BEB0FB-8CC4-E318-FC1E-86EF78254C99}"/>
              </a:ext>
            </a:extLst>
          </p:cNvPr>
          <p:cNvSpPr txBox="1"/>
          <p:nvPr/>
        </p:nvSpPr>
        <p:spPr>
          <a:xfrm>
            <a:off x="2731279" y="103947"/>
            <a:ext cx="146706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Attention</a:t>
            </a:r>
          </a:p>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Storage</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AC8EA90B-8EAB-1704-4581-DD75F431020A}"/>
              </a:ext>
            </a:extLst>
          </p:cNvPr>
          <p:cNvSpPr txBox="1"/>
          <p:nvPr/>
        </p:nvSpPr>
        <p:spPr>
          <a:xfrm>
            <a:off x="4912914" y="98867"/>
            <a:ext cx="1184941" cy="646331"/>
          </a:xfrm>
          <a:prstGeom prst="rect">
            <a:avLst/>
          </a:prstGeom>
          <a:noFill/>
        </p:spPr>
        <p:txBody>
          <a:bodyPr vert="horz" wrap="none" rtlCol="0">
            <a:spAutoFit/>
          </a:bodyPr>
          <a:lstStyle/>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Local </a:t>
            </a:r>
          </a:p>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Editing</a:t>
            </a:r>
            <a:endParaRPr kumimoji="1" lang="zh-CN" altLang="en-US"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 name="PA-直接连接符 17">
            <a:extLst>
              <a:ext uri="{FF2B5EF4-FFF2-40B4-BE49-F238E27FC236}">
                <a16:creationId xmlns:a16="http://schemas.microsoft.com/office/drawing/2014/main" id="{7983FDA7-4EA0-3C39-8A5B-AE2D323AD411}"/>
              </a:ext>
            </a:extLst>
          </p:cNvPr>
          <p:cNvCxnSpPr>
            <a:cxnSpLocks/>
          </p:cNvCxnSpPr>
          <p:nvPr>
            <p:custDataLst>
              <p:tags r:id="rId1"/>
            </p:custDataLst>
          </p:nvPr>
        </p:nvCxnSpPr>
        <p:spPr>
          <a:xfrm>
            <a:off x="1549217" y="1659981"/>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PA-直接连接符 17">
            <a:extLst>
              <a:ext uri="{FF2B5EF4-FFF2-40B4-BE49-F238E27FC236}">
                <a16:creationId xmlns:a16="http://schemas.microsoft.com/office/drawing/2014/main" id="{24DA8D65-4A90-1408-0FF2-28E90C73440F}"/>
              </a:ext>
            </a:extLst>
          </p:cNvPr>
          <p:cNvCxnSpPr>
            <a:cxnSpLocks/>
          </p:cNvCxnSpPr>
          <p:nvPr>
            <p:custDataLst>
              <p:tags r:id="rId2"/>
            </p:custDataLst>
          </p:nvPr>
        </p:nvCxnSpPr>
        <p:spPr>
          <a:xfrm>
            <a:off x="548533" y="165998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9" name="PA-文本框 14">
            <a:extLst>
              <a:ext uri="{FF2B5EF4-FFF2-40B4-BE49-F238E27FC236}">
                <a16:creationId xmlns:a16="http://schemas.microsoft.com/office/drawing/2014/main" id="{4C1B9BF3-DDD5-ABD9-710E-1861399EC129}"/>
              </a:ext>
            </a:extLst>
          </p:cNvPr>
          <p:cNvSpPr txBox="1"/>
          <p:nvPr>
            <p:custDataLst>
              <p:tags r:id="rId3"/>
            </p:custDataLst>
          </p:nvPr>
        </p:nvSpPr>
        <p:spPr>
          <a:xfrm>
            <a:off x="441671" y="1066036"/>
            <a:ext cx="10064963" cy="52322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itchFamily="2" charset="2"/>
              <a:buChar char="Ø"/>
            </a:pPr>
            <a:r>
              <a:rPr lang="en-US" altLang="zh-CN"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rPr>
              <a:t>Local Editing Module</a:t>
            </a:r>
            <a:endParaRPr lang="zh-CN" altLang="en-US"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endParaRPr>
          </a:p>
        </p:txBody>
      </p:sp>
      <p:grpSp>
        <p:nvGrpSpPr>
          <p:cNvPr id="24" name="组合 23">
            <a:extLst>
              <a:ext uri="{FF2B5EF4-FFF2-40B4-BE49-F238E27FC236}">
                <a16:creationId xmlns:a16="http://schemas.microsoft.com/office/drawing/2014/main" id="{3EAC8F87-6CC2-AB2A-A46F-7DC166683F65}"/>
              </a:ext>
            </a:extLst>
          </p:cNvPr>
          <p:cNvGrpSpPr/>
          <p:nvPr/>
        </p:nvGrpSpPr>
        <p:grpSpPr>
          <a:xfrm>
            <a:off x="370072" y="219176"/>
            <a:ext cx="2150839" cy="449040"/>
            <a:chOff x="2085654" y="644950"/>
            <a:chExt cx="7772400" cy="1622679"/>
          </a:xfrm>
        </p:grpSpPr>
        <p:pic>
          <p:nvPicPr>
            <p:cNvPr id="25" name="图片 24">
              <a:extLst>
                <a:ext uri="{FF2B5EF4-FFF2-40B4-BE49-F238E27FC236}">
                  <a16:creationId xmlns:a16="http://schemas.microsoft.com/office/drawing/2014/main" id="{8211B65E-552F-0755-9C9D-31404BFDB135}"/>
                </a:ext>
              </a:extLst>
            </p:cNvPr>
            <p:cNvPicPr>
              <a:picLocks noChangeAspect="1"/>
            </p:cNvPicPr>
            <p:nvPr/>
          </p:nvPicPr>
          <p:blipFill rotWithShape="1">
            <a:blip r:embed="rId6"/>
            <a:srcRect r="78982"/>
            <a:stretch/>
          </p:blipFill>
          <p:spPr>
            <a:xfrm>
              <a:off x="2085654" y="644950"/>
              <a:ext cx="1633591" cy="1622679"/>
            </a:xfrm>
            <a:prstGeom prst="rect">
              <a:avLst/>
            </a:prstGeom>
          </p:spPr>
        </p:pic>
        <p:pic>
          <p:nvPicPr>
            <p:cNvPr id="26" name="图片 25">
              <a:extLst>
                <a:ext uri="{FF2B5EF4-FFF2-40B4-BE49-F238E27FC236}">
                  <a16:creationId xmlns:a16="http://schemas.microsoft.com/office/drawing/2014/main" id="{81D7C062-F69B-2DCB-E986-C742158F03F4}"/>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p:blipFill>
          <p:spPr>
            <a:xfrm>
              <a:off x="3914454" y="644950"/>
              <a:ext cx="5943600" cy="1622679"/>
            </a:xfrm>
            <a:prstGeom prst="rect">
              <a:avLst/>
            </a:prstGeom>
          </p:spPr>
        </p:pic>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6D23803-7A80-15EF-E982-D8EEA34CA754}"/>
                  </a:ext>
                </a:extLst>
              </p:cNvPr>
              <p:cNvSpPr txBox="1"/>
              <p:nvPr/>
            </p:nvSpPr>
            <p:spPr>
              <a:xfrm>
                <a:off x="1416423" y="1955919"/>
                <a:ext cx="9090211" cy="584775"/>
              </a:xfrm>
              <a:prstGeom prst="rect">
                <a:avLst/>
              </a:prstGeom>
              <a:noFill/>
            </p:spPr>
            <p:txBody>
              <a:bodyPr wrap="square" rtlCol="0">
                <a:spAutoFit/>
              </a:bodyPr>
              <a:lstStyle/>
              <a:p>
                <a:pPr algn="just"/>
                <a:r>
                  <a:rPr lang="zh-CN" altLang="zh-CN" sz="1600" i="1" dirty="0">
                    <a:latin typeface="Times New Roman" panose="02020603050405020304" pitchFamily="18" charset="0"/>
                    <a:cs typeface="Times New Roman" panose="02020603050405020304" pitchFamily="18" charset="0"/>
                  </a:rPr>
                  <a:t>The black background portion is completely zeroed out and perfectly replaced by the actual pixels of the source image</a:t>
                </a:r>
                <a:r>
                  <a:rPr lang="en-US" altLang="zh-CN" sz="1600" i="1"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600" i="1">
                        <a:latin typeface="Cambria Math" panose="02040503050406030204" pitchFamily="18" charset="0"/>
                        <a:cs typeface="Times New Roman" panose="02020603050405020304" pitchFamily="18" charset="0"/>
                      </a:rPr>
                      <m:t>𝑥</m:t>
                    </m:r>
                    <m:r>
                      <a:rPr lang="en-US" altLang="zh-CN" sz="1600" i="1">
                        <a:latin typeface="Cambria Math" panose="02040503050406030204" pitchFamily="18" charset="0"/>
                        <a:cs typeface="Times New Roman" panose="02020603050405020304" pitchFamily="18" charset="0"/>
                      </a:rPr>
                      <m:t>_</m:t>
                    </m:r>
                    <m:r>
                      <a:rPr lang="en-US" altLang="zh-CN" sz="1600" i="1">
                        <a:latin typeface="Cambria Math" panose="02040503050406030204" pitchFamily="18" charset="0"/>
                        <a:cs typeface="Times New Roman" panose="02020603050405020304" pitchFamily="18" charset="0"/>
                      </a:rPr>
                      <m:t>𝑡</m:t>
                    </m:r>
                    <m:r>
                      <a:rPr lang="en-US" altLang="zh-CN" sz="1600" i="1">
                        <a:latin typeface="Cambria Math" panose="02040503050406030204" pitchFamily="18" charset="0"/>
                        <a:cs typeface="Times New Roman" panose="02020603050405020304" pitchFamily="18" charset="0"/>
                      </a:rPr>
                      <m:t>[:1]</m:t>
                    </m:r>
                  </m:oMath>
                </a14:m>
                <a:r>
                  <a:rPr lang="en-US" altLang="zh-CN" sz="1600" i="1" dirty="0">
                    <a:latin typeface="Times New Roman" panose="02020603050405020304" pitchFamily="18" charset="0"/>
                    <a:cs typeface="Times New Roman" panose="02020603050405020304" pitchFamily="18" charset="0"/>
                  </a:rPr>
                  <a:t> </a:t>
                </a:r>
                <a:r>
                  <a:rPr lang="zh-CN" altLang="zh-CN" sz="1600" i="1" dirty="0">
                    <a:latin typeface="Times New Roman" panose="02020603050405020304" pitchFamily="18" charset="0"/>
                    <a:cs typeface="Times New Roman" panose="02020603050405020304" pitchFamily="18" charset="0"/>
                  </a:rPr>
                  <a:t>; the white target portion is allowed to pass, retaining the newly generated style pixels.</a:t>
                </a:r>
              </a:p>
            </p:txBody>
          </p:sp>
        </mc:Choice>
        <mc:Fallback xmlns="">
          <p:sp>
            <p:nvSpPr>
              <p:cNvPr id="15" name="文本框 14">
                <a:extLst>
                  <a:ext uri="{FF2B5EF4-FFF2-40B4-BE49-F238E27FC236}">
                    <a16:creationId xmlns:a16="http://schemas.microsoft.com/office/drawing/2014/main" id="{56D23803-7A80-15EF-E982-D8EEA34CA754}"/>
                  </a:ext>
                </a:extLst>
              </p:cNvPr>
              <p:cNvSpPr txBox="1">
                <a:spLocks noRot="1" noChangeAspect="1" noMove="1" noResize="1" noEditPoints="1" noAdjustHandles="1" noChangeArrowheads="1" noChangeShapeType="1" noTextEdit="1"/>
              </p:cNvSpPr>
              <p:nvPr/>
            </p:nvSpPr>
            <p:spPr>
              <a:xfrm>
                <a:off x="1416423" y="1955919"/>
                <a:ext cx="9090211" cy="584775"/>
              </a:xfrm>
              <a:prstGeom prst="rect">
                <a:avLst/>
              </a:prstGeom>
              <a:blipFill>
                <a:blip r:embed="rId9"/>
                <a:stretch>
                  <a:fillRect l="-335" t="-3125" r="-335" b="-12500"/>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4E5434C6-4783-C3ED-DCEC-13E48C587AD3}"/>
              </a:ext>
            </a:extLst>
          </p:cNvPr>
          <p:cNvPicPr>
            <a:picLocks/>
          </p:cNvPicPr>
          <p:nvPr/>
        </p:nvPicPr>
        <p:blipFill>
          <a:blip r:embed="rId10"/>
          <a:srcRect r="719"/>
          <a:stretch>
            <a:fillRect/>
          </a:stretch>
        </p:blipFill>
        <p:spPr>
          <a:xfrm>
            <a:off x="2610559" y="2627596"/>
            <a:ext cx="6336218" cy="3876758"/>
          </a:xfrm>
          <a:prstGeom prst="rect">
            <a:avLst/>
          </a:prstGeom>
        </p:spPr>
      </p:pic>
      <p:sp>
        <p:nvSpPr>
          <p:cNvPr id="7" name="灯片编号占位符 6">
            <a:extLst>
              <a:ext uri="{FF2B5EF4-FFF2-40B4-BE49-F238E27FC236}">
                <a16:creationId xmlns:a16="http://schemas.microsoft.com/office/drawing/2014/main" id="{C6AE4C21-951E-D177-E970-F4DD401DC021}"/>
              </a:ext>
            </a:extLst>
          </p:cNvPr>
          <p:cNvSpPr>
            <a:spLocks noGrp="1"/>
          </p:cNvSpPr>
          <p:nvPr>
            <p:ph type="sldNum" sz="quarter" idx="12"/>
          </p:nvPr>
        </p:nvSpPr>
        <p:spPr/>
        <p:txBody>
          <a:bodyPr/>
          <a:lstStyle/>
          <a:p>
            <a:fld id="{E6518835-16E6-9244-9C02-6BFB876E5D3C}" type="slidenum">
              <a:rPr kumimoji="1" lang="zh-CN" altLang="en-US" smtClean="0"/>
              <a:t>29</a:t>
            </a:fld>
            <a:endParaRPr kumimoji="1" lang="zh-CN" altLang="en-US"/>
          </a:p>
        </p:txBody>
      </p:sp>
    </p:spTree>
    <p:extLst>
      <p:ext uri="{BB962C8B-B14F-4D97-AF65-F5344CB8AC3E}">
        <p14:creationId xmlns:p14="http://schemas.microsoft.com/office/powerpoint/2010/main" val="10005060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AD72F-A5DA-9D35-BCCC-32D53655DDA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7CF11C2-6D63-2AD5-C36B-CA6FD4F357D2}"/>
              </a:ext>
            </a:extLst>
          </p:cNvPr>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C8D97061-4599-DCCC-468E-6F744300C26D}"/>
              </a:ext>
            </a:extLst>
          </p:cNvPr>
          <p:cNvSpPr/>
          <p:nvPr/>
        </p:nvSpPr>
        <p:spPr>
          <a:xfrm>
            <a:off x="6340394" y="1"/>
            <a:ext cx="1887803" cy="844062"/>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A9063524-C2B2-FC18-E2BC-662CE4FF8FE0}"/>
              </a:ext>
            </a:extLst>
          </p:cNvPr>
          <p:cNvSpPr txBox="1"/>
          <p:nvPr/>
        </p:nvSpPr>
        <p:spPr>
          <a:xfrm>
            <a:off x="2731279" y="96465"/>
            <a:ext cx="1467068"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Attention</a:t>
            </a:r>
          </a:p>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Storage</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13024DE8-1C96-2BD6-8108-F8B1DEE8E7BD}"/>
              </a:ext>
            </a:extLst>
          </p:cNvPr>
          <p:cNvSpPr txBox="1"/>
          <p:nvPr/>
        </p:nvSpPr>
        <p:spPr>
          <a:xfrm>
            <a:off x="4651254" y="96465"/>
            <a:ext cx="1184941" cy="646331"/>
          </a:xfrm>
          <a:prstGeom prst="rect">
            <a:avLst/>
          </a:prstGeom>
          <a:noFill/>
        </p:spPr>
        <p:txBody>
          <a:bodyPr vert="horz" wrap="none" rtlCol="0">
            <a:spAutoFit/>
          </a:bodyPr>
          <a:lstStyle/>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Local</a:t>
            </a:r>
          </a:p>
          <a:p>
            <a:pPr algn="ctr"/>
            <a:r>
              <a:rPr kumimoji="1" lang="en-US" altLang="zh-CN"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Editing</a:t>
            </a:r>
            <a:endParaRPr kumimoji="1" lang="zh-CN" altLang="en-US" b="1" spc="3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053EE3C9-8545-DD9D-7C5A-BCBC7906C58A}"/>
              </a:ext>
            </a:extLst>
          </p:cNvPr>
          <p:cNvSpPr txBox="1"/>
          <p:nvPr/>
        </p:nvSpPr>
        <p:spPr>
          <a:xfrm>
            <a:off x="6582822" y="96466"/>
            <a:ext cx="1402948" cy="646331"/>
          </a:xfrm>
          <a:prstGeom prst="rect">
            <a:avLst/>
          </a:prstGeom>
          <a:noFill/>
        </p:spPr>
        <p:txBody>
          <a:bodyPr vert="horz" wrap="none" rtlCol="0">
            <a:spAutoFit/>
          </a:bodyPr>
          <a:lstStyle/>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Style</a:t>
            </a:r>
          </a:p>
          <a:p>
            <a:pPr algn="ctr"/>
            <a:r>
              <a:rPr kumimoji="1" lang="en-US" altLang="zh-CN"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rPr>
              <a:t>Intensity</a:t>
            </a:r>
            <a:endParaRPr kumimoji="1" lang="zh-CN" altLang="en-US" b="1" spc="300" dirty="0">
              <a:solidFill>
                <a:schemeClr val="accent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 name="PA-直接连接符 17">
            <a:extLst>
              <a:ext uri="{FF2B5EF4-FFF2-40B4-BE49-F238E27FC236}">
                <a16:creationId xmlns:a16="http://schemas.microsoft.com/office/drawing/2014/main" id="{7DBA9CA2-23DC-666F-AA9E-EC4933273D55}"/>
              </a:ext>
            </a:extLst>
          </p:cNvPr>
          <p:cNvCxnSpPr>
            <a:cxnSpLocks/>
          </p:cNvCxnSpPr>
          <p:nvPr>
            <p:custDataLst>
              <p:tags r:id="rId1"/>
            </p:custDataLst>
          </p:nvPr>
        </p:nvCxnSpPr>
        <p:spPr>
          <a:xfrm>
            <a:off x="1549217" y="1659981"/>
            <a:ext cx="10236801"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PA-直接连接符 17">
            <a:extLst>
              <a:ext uri="{FF2B5EF4-FFF2-40B4-BE49-F238E27FC236}">
                <a16:creationId xmlns:a16="http://schemas.microsoft.com/office/drawing/2014/main" id="{1B4ACD30-5ED7-E2C1-DCD6-139265DF5658}"/>
              </a:ext>
            </a:extLst>
          </p:cNvPr>
          <p:cNvCxnSpPr>
            <a:cxnSpLocks/>
          </p:cNvCxnSpPr>
          <p:nvPr>
            <p:custDataLst>
              <p:tags r:id="rId2"/>
            </p:custDataLst>
          </p:nvPr>
        </p:nvCxnSpPr>
        <p:spPr>
          <a:xfrm>
            <a:off x="548533" y="1659981"/>
            <a:ext cx="3860181" cy="0"/>
          </a:xfrm>
          <a:prstGeom prst="line">
            <a:avLst/>
          </a:prstGeom>
          <a:gradFill flip="none" rotWithShape="1">
            <a:gsLst>
              <a:gs pos="0">
                <a:srgbClr val="E6564F"/>
              </a:gs>
              <a:gs pos="70000">
                <a:srgbClr val="D12A22"/>
              </a:gs>
            </a:gsLst>
            <a:lin ang="5400000" scaled="1"/>
            <a:tileRect/>
          </a:gradFill>
          <a:ln w="41275">
            <a:gradFill>
              <a:gsLst>
                <a:gs pos="0">
                  <a:schemeClr val="accent1"/>
                </a:gs>
                <a:gs pos="100000">
                  <a:schemeClr val="accent1"/>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9" name="PA-文本框 14">
            <a:extLst>
              <a:ext uri="{FF2B5EF4-FFF2-40B4-BE49-F238E27FC236}">
                <a16:creationId xmlns:a16="http://schemas.microsoft.com/office/drawing/2014/main" id="{8DB30B1C-92A4-AA8B-4047-1D3B95995E61}"/>
              </a:ext>
            </a:extLst>
          </p:cNvPr>
          <p:cNvSpPr txBox="1"/>
          <p:nvPr>
            <p:custDataLst>
              <p:tags r:id="rId3"/>
            </p:custDataLst>
          </p:nvPr>
        </p:nvSpPr>
        <p:spPr>
          <a:xfrm>
            <a:off x="441671" y="1066036"/>
            <a:ext cx="10629741" cy="52322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marL="457200" indent="-457200">
              <a:buFont typeface="Wingdings" pitchFamily="2" charset="2"/>
              <a:buChar char="Ø"/>
            </a:pPr>
            <a:r>
              <a:rPr lang="en-US" altLang="zh-CN"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rPr>
              <a:t>Style Intensity</a:t>
            </a:r>
            <a:endParaRPr lang="zh-CN" altLang="en-US" dirty="0">
              <a:gradFill>
                <a:gsLst>
                  <a:gs pos="0">
                    <a:schemeClr val="accent1"/>
                  </a:gs>
                  <a:gs pos="100000">
                    <a:schemeClr val="accent1">
                      <a:lumMod val="75000"/>
                    </a:schemeClr>
                  </a:gs>
                </a:gsLst>
                <a:lin ang="0" scaled="0"/>
              </a:gradFill>
              <a:latin typeface="Times New Roman" panose="02020603050405020304" pitchFamily="18" charset="0"/>
              <a:cs typeface="Times New Roman" panose="02020603050405020304" pitchFamily="18" charset="0"/>
            </a:endParaRPr>
          </a:p>
        </p:txBody>
      </p:sp>
      <p:grpSp>
        <p:nvGrpSpPr>
          <p:cNvPr id="27" name="组合 26">
            <a:extLst>
              <a:ext uri="{FF2B5EF4-FFF2-40B4-BE49-F238E27FC236}">
                <a16:creationId xmlns:a16="http://schemas.microsoft.com/office/drawing/2014/main" id="{F1A11234-04A8-C8FE-97C2-D1D849CD6B85}"/>
              </a:ext>
            </a:extLst>
          </p:cNvPr>
          <p:cNvGrpSpPr/>
          <p:nvPr/>
        </p:nvGrpSpPr>
        <p:grpSpPr>
          <a:xfrm>
            <a:off x="370072" y="219176"/>
            <a:ext cx="2150839" cy="449040"/>
            <a:chOff x="2085654" y="644950"/>
            <a:chExt cx="7772400" cy="1622679"/>
          </a:xfrm>
        </p:grpSpPr>
        <p:pic>
          <p:nvPicPr>
            <p:cNvPr id="28" name="图片 27">
              <a:extLst>
                <a:ext uri="{FF2B5EF4-FFF2-40B4-BE49-F238E27FC236}">
                  <a16:creationId xmlns:a16="http://schemas.microsoft.com/office/drawing/2014/main" id="{B667C4D4-0693-B76E-792B-C5EC3B704002}"/>
                </a:ext>
              </a:extLst>
            </p:cNvPr>
            <p:cNvPicPr>
              <a:picLocks noChangeAspect="1"/>
            </p:cNvPicPr>
            <p:nvPr/>
          </p:nvPicPr>
          <p:blipFill rotWithShape="1">
            <a:blip r:embed="rId6"/>
            <a:srcRect r="78982"/>
            <a:stretch/>
          </p:blipFill>
          <p:spPr>
            <a:xfrm>
              <a:off x="2085654" y="644950"/>
              <a:ext cx="1633591" cy="1622679"/>
            </a:xfrm>
            <a:prstGeom prst="rect">
              <a:avLst/>
            </a:prstGeom>
          </p:spPr>
        </p:pic>
        <p:pic>
          <p:nvPicPr>
            <p:cNvPr id="29" name="图片 28">
              <a:extLst>
                <a:ext uri="{FF2B5EF4-FFF2-40B4-BE49-F238E27FC236}">
                  <a16:creationId xmlns:a16="http://schemas.microsoft.com/office/drawing/2014/main" id="{4F09557C-0617-4FAF-40B3-810A72FC798B}"/>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bright="100000"/>
                      </a14:imgEffect>
                    </a14:imgLayer>
                  </a14:imgProps>
                </a:ext>
              </a:extLst>
            </a:blip>
            <a:srcRect l="23530"/>
            <a:stretch/>
          </p:blipFill>
          <p:spPr>
            <a:xfrm>
              <a:off x="3914454" y="644950"/>
              <a:ext cx="5943600" cy="1622679"/>
            </a:xfrm>
            <a:prstGeom prst="rect">
              <a:avLst/>
            </a:prstGeom>
          </p:spPr>
        </p:pic>
      </p:grpSp>
      <p:sp>
        <p:nvSpPr>
          <p:cNvPr id="8" name="文本框 7">
            <a:extLst>
              <a:ext uri="{FF2B5EF4-FFF2-40B4-BE49-F238E27FC236}">
                <a16:creationId xmlns:a16="http://schemas.microsoft.com/office/drawing/2014/main" id="{B3658D0B-02FC-40FE-434A-AAA24FE336CD}"/>
              </a:ext>
            </a:extLst>
          </p:cNvPr>
          <p:cNvSpPr txBox="1"/>
          <p:nvPr/>
        </p:nvSpPr>
        <p:spPr>
          <a:xfrm>
            <a:off x="596102" y="1811229"/>
            <a:ext cx="10236801" cy="369332"/>
          </a:xfrm>
          <a:prstGeom prst="rect">
            <a:avLst/>
          </a:prstGeom>
          <a:noFill/>
        </p:spPr>
        <p:txBody>
          <a:bodyPr wrap="square" rtlCol="0">
            <a:spAutoFit/>
          </a:bodyPr>
          <a:lstStyle/>
          <a:p>
            <a:r>
              <a:rPr lang="zh-CN" altLang="zh-CN" dirty="0">
                <a:latin typeface="Times New Roman" panose="02020603050405020304" pitchFamily="18" charset="0"/>
                <a:cs typeface="Times New Roman" panose="02020603050405020304" pitchFamily="18" charset="0"/>
              </a:rPr>
              <a:t>Style Intensity — Controlling the strength of structural preservation through the </a:t>
            </a:r>
            <a:r>
              <a:rPr lang="zh-CN" altLang="zh-CN" dirty="0">
                <a:solidFill>
                  <a:srgbClr val="0070C0"/>
                </a:solidFill>
                <a:latin typeface="Times New Roman" panose="02020603050405020304" pitchFamily="18" charset="0"/>
                <a:cs typeface="Times New Roman" panose="02020603050405020304" pitchFamily="18" charset="0"/>
              </a:rPr>
              <a:t>self_ratio </a:t>
            </a:r>
            <a:r>
              <a:rPr lang="zh-CN" altLang="zh-CN" dirty="0">
                <a:latin typeface="Times New Roman" panose="02020603050405020304" pitchFamily="18" charset="0"/>
                <a:cs typeface="Times New Roman" panose="02020603050405020304" pitchFamily="18" charset="0"/>
              </a:rPr>
              <a:t>parameter.</a:t>
            </a:r>
            <a:endParaRPr lang="zh-CN" altLang="en-US"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183E697B-5355-9FFC-EC62-BFF2E39E48DF}"/>
              </a:ext>
            </a:extLst>
          </p:cNvPr>
          <p:cNvSpPr txBox="1"/>
          <p:nvPr/>
        </p:nvSpPr>
        <p:spPr>
          <a:xfrm>
            <a:off x="441671" y="2375647"/>
            <a:ext cx="11113835" cy="646331"/>
          </a:xfrm>
          <a:prstGeom prst="rect">
            <a:avLst/>
          </a:prstGeom>
          <a:noFill/>
        </p:spPr>
        <p:txBody>
          <a:bodyPr wrap="square" rtlCol="0">
            <a:spAutoFit/>
          </a:bodyPr>
          <a:lstStyle/>
          <a:p>
            <a:pPr algn="just"/>
            <a:r>
              <a:rPr lang="zh-CN" altLang="zh-C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python cartoon_styles.py --description "A </a:t>
            </a:r>
            <a:r>
              <a:rPr lang="en-US" altLang="zh-C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beautiful wo</a:t>
            </a:r>
            <a:r>
              <a:rPr lang="zh-CN" altLang="zh-C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man in </a:t>
            </a:r>
            <a:r>
              <a:rPr lang="en-US" altLang="zh-C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curly long</a:t>
            </a:r>
            <a:r>
              <a:rPr lang="zh-CN" altLang="zh-C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hair" --path example_images/</a:t>
            </a:r>
            <a:r>
              <a:rPr lang="en-US" altLang="zh-CN"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LiLandi</a:t>
            </a:r>
            <a:r>
              <a:rPr lang="zh-CN" altLang="zh-C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.jpg --blend </a:t>
            </a:r>
            <a:r>
              <a:rPr lang="en-US" altLang="zh-C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wo</a:t>
            </a:r>
            <a:r>
              <a:rPr lang="zh-CN" altLang="zh-C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man --self_ratio 0.</a:t>
            </a:r>
            <a:r>
              <a:rPr lang="en-US" altLang="zh-C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a:t>
            </a:r>
            <a:endParaRPr lang="zh-CN" altLang="en-US"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FC03402C-D01A-B8C8-B22A-25333F53D2FD}"/>
              </a:ext>
            </a:extLst>
          </p:cNvPr>
          <p:cNvSpPr txBox="1"/>
          <p:nvPr/>
        </p:nvSpPr>
        <p:spPr>
          <a:xfrm>
            <a:off x="548533" y="3208204"/>
            <a:ext cx="10780110" cy="1200329"/>
          </a:xfrm>
          <a:prstGeom prst="rect">
            <a:avLst/>
          </a:prstGeom>
          <a:noFill/>
        </p:spPr>
        <p:txBody>
          <a:bodyPr wrap="square" rtlCol="0">
            <a:spAutoFit/>
          </a:bodyPr>
          <a:lstStyle/>
          <a:p>
            <a:pPr algn="just"/>
            <a:r>
              <a:rPr lang="en-US" altLang="zh-CN" dirty="0" err="1">
                <a:latin typeface="Times New Roman" panose="02020603050405020304" pitchFamily="18" charset="0"/>
                <a:cs typeface="Times New Roman" panose="02020603050405020304" pitchFamily="18" charset="0"/>
              </a:rPr>
              <a:t>self_ratio</a:t>
            </a:r>
            <a:r>
              <a:rPr lang="en-US" altLang="zh-CN" dirty="0">
                <a:latin typeface="Times New Roman" panose="02020603050405020304" pitchFamily="18" charset="0"/>
                <a:cs typeface="Times New Roman" panose="02020603050405020304" pitchFamily="18" charset="0"/>
              </a:rPr>
              <a:t> is converted into the parameter </a:t>
            </a:r>
            <a:r>
              <a:rPr lang="en-US" altLang="zh-CN" dirty="0" err="1">
                <a:latin typeface="Times New Roman" panose="02020603050405020304" pitchFamily="18" charset="0"/>
                <a:cs typeface="Times New Roman" panose="02020603050405020304" pitchFamily="18" charset="0"/>
              </a:rPr>
              <a:t>self_replace_steps</a:t>
            </a:r>
            <a:r>
              <a:rPr lang="en-US" altLang="zh-CN" dirty="0">
                <a:latin typeface="Times New Roman" panose="02020603050405020304" pitchFamily="18" charset="0"/>
                <a:cs typeface="Times New Roman" panose="02020603050405020304" pitchFamily="18" charset="0"/>
              </a:rPr>
              <a:t> (Self-Attention replacement time steps). This is passed into the P2P framework, instructing the model to forcibly use the self-attention data of the original image during the first 60% of the time steps in the generation process, thereby strictly locking the physical structure of the person in the original image.</a:t>
            </a:r>
          </a:p>
        </p:txBody>
      </p:sp>
      <p:grpSp>
        <p:nvGrpSpPr>
          <p:cNvPr id="54" name="组合 53">
            <a:extLst>
              <a:ext uri="{FF2B5EF4-FFF2-40B4-BE49-F238E27FC236}">
                <a16:creationId xmlns:a16="http://schemas.microsoft.com/office/drawing/2014/main" id="{1DA9250D-736C-A27C-4031-8C18AC7D6562}"/>
              </a:ext>
            </a:extLst>
          </p:cNvPr>
          <p:cNvGrpSpPr/>
          <p:nvPr/>
        </p:nvGrpSpPr>
        <p:grpSpPr>
          <a:xfrm>
            <a:off x="548533" y="4695243"/>
            <a:ext cx="10912518" cy="1761723"/>
            <a:chOff x="620843" y="4850590"/>
            <a:chExt cx="9327842" cy="1505892"/>
          </a:xfrm>
        </p:grpSpPr>
        <p:pic>
          <p:nvPicPr>
            <p:cNvPr id="35" name="图片 34">
              <a:extLst>
                <a:ext uri="{FF2B5EF4-FFF2-40B4-BE49-F238E27FC236}">
                  <a16:creationId xmlns:a16="http://schemas.microsoft.com/office/drawing/2014/main" id="{EFE29BF4-7EA2-C6DF-CD5C-F2B8E71FD4B5}"/>
                </a:ext>
              </a:extLst>
            </p:cNvPr>
            <p:cNvPicPr>
              <a:picLocks noChangeAspect="1"/>
            </p:cNvPicPr>
            <p:nvPr/>
          </p:nvPicPr>
          <p:blipFill>
            <a:blip r:embed="rId9"/>
            <a:stretch>
              <a:fillRect/>
            </a:stretch>
          </p:blipFill>
          <p:spPr>
            <a:xfrm>
              <a:off x="620843" y="4861203"/>
              <a:ext cx="1481765" cy="1481765"/>
            </a:xfrm>
            <a:prstGeom prst="rect">
              <a:avLst/>
            </a:prstGeom>
          </p:spPr>
        </p:pic>
        <p:pic>
          <p:nvPicPr>
            <p:cNvPr id="37" name="图片 36">
              <a:extLst>
                <a:ext uri="{FF2B5EF4-FFF2-40B4-BE49-F238E27FC236}">
                  <a16:creationId xmlns:a16="http://schemas.microsoft.com/office/drawing/2014/main" id="{DCB4CE6E-C37D-EBAB-8236-E505F7E218D9}"/>
                </a:ext>
              </a:extLst>
            </p:cNvPr>
            <p:cNvPicPr>
              <a:picLocks noChangeAspect="1"/>
            </p:cNvPicPr>
            <p:nvPr/>
          </p:nvPicPr>
          <p:blipFill>
            <a:blip r:embed="rId10"/>
            <a:stretch>
              <a:fillRect/>
            </a:stretch>
          </p:blipFill>
          <p:spPr>
            <a:xfrm>
              <a:off x="2177891" y="4861202"/>
              <a:ext cx="1481766" cy="1481766"/>
            </a:xfrm>
            <a:prstGeom prst="rect">
              <a:avLst/>
            </a:prstGeom>
          </p:spPr>
        </p:pic>
        <p:pic>
          <p:nvPicPr>
            <p:cNvPr id="39" name="图片 38">
              <a:extLst>
                <a:ext uri="{FF2B5EF4-FFF2-40B4-BE49-F238E27FC236}">
                  <a16:creationId xmlns:a16="http://schemas.microsoft.com/office/drawing/2014/main" id="{057CD2F8-BC3F-D807-D4C5-91892D7A782D}"/>
                </a:ext>
              </a:extLst>
            </p:cNvPr>
            <p:cNvPicPr>
              <a:picLocks noChangeAspect="1"/>
            </p:cNvPicPr>
            <p:nvPr/>
          </p:nvPicPr>
          <p:blipFill>
            <a:blip r:embed="rId11"/>
            <a:stretch>
              <a:fillRect/>
            </a:stretch>
          </p:blipFill>
          <p:spPr>
            <a:xfrm>
              <a:off x="3734939" y="4861202"/>
              <a:ext cx="1496236" cy="1481766"/>
            </a:xfrm>
            <a:prstGeom prst="rect">
              <a:avLst/>
            </a:prstGeom>
          </p:spPr>
        </p:pic>
        <p:pic>
          <p:nvPicPr>
            <p:cNvPr id="41" name="图片 40">
              <a:extLst>
                <a:ext uri="{FF2B5EF4-FFF2-40B4-BE49-F238E27FC236}">
                  <a16:creationId xmlns:a16="http://schemas.microsoft.com/office/drawing/2014/main" id="{D3E6D1E6-BB8D-3D80-80D0-B9829393C9DB}"/>
                </a:ext>
              </a:extLst>
            </p:cNvPr>
            <p:cNvPicPr>
              <a:picLocks noChangeAspect="1"/>
            </p:cNvPicPr>
            <p:nvPr/>
          </p:nvPicPr>
          <p:blipFill>
            <a:blip r:embed="rId12"/>
            <a:stretch>
              <a:fillRect/>
            </a:stretch>
          </p:blipFill>
          <p:spPr>
            <a:xfrm>
              <a:off x="5306458" y="4868962"/>
              <a:ext cx="1496236" cy="1487520"/>
            </a:xfrm>
            <a:prstGeom prst="rect">
              <a:avLst/>
            </a:prstGeom>
          </p:spPr>
        </p:pic>
        <p:pic>
          <p:nvPicPr>
            <p:cNvPr id="43" name="图片 42">
              <a:extLst>
                <a:ext uri="{FF2B5EF4-FFF2-40B4-BE49-F238E27FC236}">
                  <a16:creationId xmlns:a16="http://schemas.microsoft.com/office/drawing/2014/main" id="{2069E11B-7378-542B-2A6F-4E67E145C310}"/>
                </a:ext>
              </a:extLst>
            </p:cNvPr>
            <p:cNvPicPr>
              <a:picLocks noChangeAspect="1"/>
            </p:cNvPicPr>
            <p:nvPr/>
          </p:nvPicPr>
          <p:blipFill>
            <a:blip r:embed="rId13"/>
            <a:stretch>
              <a:fillRect/>
            </a:stretch>
          </p:blipFill>
          <p:spPr>
            <a:xfrm>
              <a:off x="6877976" y="4861202"/>
              <a:ext cx="1501121" cy="1495280"/>
            </a:xfrm>
            <a:prstGeom prst="rect">
              <a:avLst/>
            </a:prstGeom>
          </p:spPr>
        </p:pic>
        <p:pic>
          <p:nvPicPr>
            <p:cNvPr id="53" name="图片 52">
              <a:extLst>
                <a:ext uri="{FF2B5EF4-FFF2-40B4-BE49-F238E27FC236}">
                  <a16:creationId xmlns:a16="http://schemas.microsoft.com/office/drawing/2014/main" id="{49CDE38B-9164-5614-54BD-C73A99D17A20}"/>
                </a:ext>
              </a:extLst>
            </p:cNvPr>
            <p:cNvPicPr>
              <a:picLocks noChangeAspect="1"/>
            </p:cNvPicPr>
            <p:nvPr/>
          </p:nvPicPr>
          <p:blipFill>
            <a:blip r:embed="rId14"/>
            <a:stretch>
              <a:fillRect/>
            </a:stretch>
          </p:blipFill>
          <p:spPr>
            <a:xfrm>
              <a:off x="8447564" y="4850590"/>
              <a:ext cx="1501121" cy="1492377"/>
            </a:xfrm>
            <a:prstGeom prst="rect">
              <a:avLst/>
            </a:prstGeom>
          </p:spPr>
        </p:pic>
      </p:grpSp>
      <p:sp>
        <p:nvSpPr>
          <p:cNvPr id="7" name="灯片编号占位符 6">
            <a:extLst>
              <a:ext uri="{FF2B5EF4-FFF2-40B4-BE49-F238E27FC236}">
                <a16:creationId xmlns:a16="http://schemas.microsoft.com/office/drawing/2014/main" id="{84F395A4-FEB4-EB94-A961-E95FD93F87BE}"/>
              </a:ext>
            </a:extLst>
          </p:cNvPr>
          <p:cNvSpPr>
            <a:spLocks noGrp="1"/>
          </p:cNvSpPr>
          <p:nvPr>
            <p:ph type="sldNum" sz="quarter" idx="12"/>
          </p:nvPr>
        </p:nvSpPr>
        <p:spPr/>
        <p:txBody>
          <a:bodyPr/>
          <a:lstStyle/>
          <a:p>
            <a:fld id="{E6518835-16E6-9244-9C02-6BFB876E5D3C}" type="slidenum">
              <a:rPr kumimoji="1" lang="zh-CN" altLang="en-US" smtClean="0"/>
              <a:t>30</a:t>
            </a:fld>
            <a:endParaRPr kumimoji="1" lang="zh-CN" altLang="en-US"/>
          </a:p>
        </p:txBody>
      </p:sp>
    </p:spTree>
    <p:extLst>
      <p:ext uri="{BB962C8B-B14F-4D97-AF65-F5344CB8AC3E}">
        <p14:creationId xmlns:p14="http://schemas.microsoft.com/office/powerpoint/2010/main" val="1499833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B1F97-DEEA-B785-F4DB-1F93F709A52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1FC8F0D2-86C5-8E74-1A50-57EC22C3DC90}"/>
              </a:ext>
            </a:extLst>
          </p:cNvPr>
          <p:cNvSpPr/>
          <p:nvPr/>
        </p:nvSpPr>
        <p:spPr>
          <a:xfrm>
            <a:off x="3201" y="-1187"/>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5B6DBBC0-1C47-9C10-890D-F85924750153}"/>
              </a:ext>
            </a:extLst>
          </p:cNvPr>
          <p:cNvSpPr/>
          <p:nvPr/>
        </p:nvSpPr>
        <p:spPr>
          <a:xfrm>
            <a:off x="10197222" y="0"/>
            <a:ext cx="1581150"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3" name="组合 12">
            <a:extLst>
              <a:ext uri="{FF2B5EF4-FFF2-40B4-BE49-F238E27FC236}">
                <a16:creationId xmlns:a16="http://schemas.microsoft.com/office/drawing/2014/main" id="{AF31FA1D-9EDE-B583-E9B9-C48867BBCA46}"/>
              </a:ext>
            </a:extLst>
          </p:cNvPr>
          <p:cNvGrpSpPr/>
          <p:nvPr/>
        </p:nvGrpSpPr>
        <p:grpSpPr>
          <a:xfrm>
            <a:off x="370072" y="219176"/>
            <a:ext cx="2150839" cy="449040"/>
            <a:chOff x="2085654" y="644950"/>
            <a:chExt cx="7772400" cy="1622679"/>
          </a:xfrm>
        </p:grpSpPr>
        <p:pic>
          <p:nvPicPr>
            <p:cNvPr id="41" name="图片 40">
              <a:extLst>
                <a:ext uri="{FF2B5EF4-FFF2-40B4-BE49-F238E27FC236}">
                  <a16:creationId xmlns:a16="http://schemas.microsoft.com/office/drawing/2014/main" id="{EA414562-509B-57F3-C85A-418CE0DFE21F}"/>
                </a:ext>
              </a:extLst>
            </p:cNvPr>
            <p:cNvPicPr>
              <a:picLocks noChangeAspect="1"/>
            </p:cNvPicPr>
            <p:nvPr/>
          </p:nvPicPr>
          <p:blipFill rotWithShape="1">
            <a:blip r:embed="rId2"/>
            <a:srcRect r="78982"/>
            <a:stretch>
              <a:fillRect/>
            </a:stretch>
          </p:blipFill>
          <p:spPr>
            <a:xfrm>
              <a:off x="2085654" y="644950"/>
              <a:ext cx="1633591" cy="1622679"/>
            </a:xfrm>
            <a:prstGeom prst="rect">
              <a:avLst/>
            </a:prstGeom>
          </p:spPr>
        </p:pic>
        <p:pic>
          <p:nvPicPr>
            <p:cNvPr id="42" name="图片 41">
              <a:extLst>
                <a:ext uri="{FF2B5EF4-FFF2-40B4-BE49-F238E27FC236}">
                  <a16:creationId xmlns:a16="http://schemas.microsoft.com/office/drawing/2014/main" id="{DF5634E1-D6D3-1C4F-CE03-93797BDD4A13}"/>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Lst>
            </a:blip>
            <a:srcRect l="23530"/>
            <a:stretch>
              <a:fillRect/>
            </a:stretch>
          </p:blipFill>
          <p:spPr>
            <a:xfrm>
              <a:off x="3914454" y="644950"/>
              <a:ext cx="5943600" cy="1622679"/>
            </a:xfrm>
            <a:prstGeom prst="rect">
              <a:avLst/>
            </a:prstGeom>
          </p:spPr>
        </p:pic>
      </p:grpSp>
      <p:sp>
        <p:nvSpPr>
          <p:cNvPr id="6" name="文本框 5">
            <a:extLst>
              <a:ext uri="{FF2B5EF4-FFF2-40B4-BE49-F238E27FC236}">
                <a16:creationId xmlns:a16="http://schemas.microsoft.com/office/drawing/2014/main" id="{61BD31D3-F330-6269-EB45-68E4949979C5}"/>
              </a:ext>
            </a:extLst>
          </p:cNvPr>
          <p:cNvSpPr txBox="1"/>
          <p:nvPr/>
        </p:nvSpPr>
        <p:spPr>
          <a:xfrm>
            <a:off x="5847715" y="219075"/>
            <a:ext cx="1736090" cy="523875"/>
          </a:xfrm>
          <a:prstGeom prst="rect">
            <a:avLst/>
          </a:prstGeom>
          <a:noFill/>
        </p:spPr>
        <p:txBody>
          <a:bodyPr vert="horz" wrap="none" rtlCol="0">
            <a:noAutofit/>
          </a:bodyPr>
          <a:lstStyle/>
          <a:p>
            <a:pPr algn="ctr"/>
            <a:r>
              <a:rPr kumimoji="1" lang="en-US" altLang="zh-CN" sz="2000" b="1" spc="300" dirty="0">
                <a:solidFill>
                  <a:srgbClr val="006BC0"/>
                </a:solidFill>
                <a:latin typeface="Times New Roman Bold" panose="02020503050405090304" charset="0"/>
                <a:ea typeface="微软雅黑" panose="020B0503020204020204" pitchFamily="34" charset="-122"/>
                <a:cs typeface="Times New Roman Bold" panose="02020503050405090304" charset="0"/>
              </a:rPr>
              <a:t>Methods</a:t>
            </a:r>
          </a:p>
        </p:txBody>
      </p:sp>
      <p:sp>
        <p:nvSpPr>
          <p:cNvPr id="7" name="文本框 6">
            <a:extLst>
              <a:ext uri="{FF2B5EF4-FFF2-40B4-BE49-F238E27FC236}">
                <a16:creationId xmlns:a16="http://schemas.microsoft.com/office/drawing/2014/main" id="{9611239F-78A1-A407-9F9B-B2C836BBDE3C}"/>
              </a:ext>
            </a:extLst>
          </p:cNvPr>
          <p:cNvSpPr txBox="1"/>
          <p:nvPr/>
        </p:nvSpPr>
        <p:spPr>
          <a:xfrm>
            <a:off x="-313055" y="3075940"/>
            <a:ext cx="4884420" cy="768350"/>
          </a:xfrm>
          <a:prstGeom prst="rect">
            <a:avLst/>
          </a:prstGeom>
          <a:noFill/>
        </p:spPr>
        <p:txBody>
          <a:bodyPr wrap="square" rtlCol="0">
            <a:spAutoFit/>
          </a:bodyPr>
          <a:lstStyle/>
          <a:p>
            <a:pPr algn="ctr"/>
            <a:r>
              <a:rPr lang="en-US" altLang="zh-CN" sz="4400" b="1" dirty="0">
                <a:solidFill>
                  <a:srgbClr val="006BC0"/>
                </a:solidFill>
                <a:latin typeface="Times New Roman Bold" panose="02020503050405090304" charset="0"/>
                <a:cs typeface="Times New Roman Bold" panose="02020503050405090304" charset="0"/>
              </a:rPr>
              <a:t>Results</a:t>
            </a:r>
          </a:p>
        </p:txBody>
      </p:sp>
      <p:cxnSp>
        <p:nvCxnSpPr>
          <p:cNvPr id="49" name="Straight Connector 3">
            <a:extLst>
              <a:ext uri="{FF2B5EF4-FFF2-40B4-BE49-F238E27FC236}">
                <a16:creationId xmlns:a16="http://schemas.microsoft.com/office/drawing/2014/main" id="{8335FF87-68B8-E3F7-3C8D-C50C5A58F86E}"/>
              </a:ext>
            </a:extLst>
          </p:cNvPr>
          <p:cNvCxnSpPr/>
          <p:nvPr/>
        </p:nvCxnSpPr>
        <p:spPr>
          <a:xfrm>
            <a:off x="4452339" y="995946"/>
            <a:ext cx="0" cy="5545455"/>
          </a:xfrm>
          <a:prstGeom prst="line">
            <a:avLst/>
          </a:prstGeom>
          <a:noFill/>
          <a:ln w="28575" cap="flat" cmpd="sng" algn="ctr">
            <a:solidFill>
              <a:schemeClr val="accent1"/>
            </a:solidFill>
            <a:prstDash val="dash"/>
          </a:ln>
          <a:effectLst/>
        </p:spPr>
      </p:cxnSp>
      <p:grpSp>
        <p:nvGrpSpPr>
          <p:cNvPr id="16" name="组合 15">
            <a:extLst>
              <a:ext uri="{FF2B5EF4-FFF2-40B4-BE49-F238E27FC236}">
                <a16:creationId xmlns:a16="http://schemas.microsoft.com/office/drawing/2014/main" id="{457D3A81-0205-814A-563D-53256AAF598F}"/>
              </a:ext>
            </a:extLst>
          </p:cNvPr>
          <p:cNvGrpSpPr/>
          <p:nvPr/>
        </p:nvGrpSpPr>
        <p:grpSpPr>
          <a:xfrm>
            <a:off x="2270125" y="104140"/>
            <a:ext cx="9402445" cy="891540"/>
            <a:chOff x="3575" y="164"/>
            <a:chExt cx="14807" cy="1404"/>
          </a:xfrm>
        </p:grpSpPr>
        <p:grpSp>
          <p:nvGrpSpPr>
            <p:cNvPr id="3" name="组合 2">
              <a:extLst>
                <a:ext uri="{FF2B5EF4-FFF2-40B4-BE49-F238E27FC236}">
                  <a16:creationId xmlns:a16="http://schemas.microsoft.com/office/drawing/2014/main" id="{E40B017D-D887-A295-5E18-072C4BD4C45E}"/>
                </a:ext>
              </a:extLst>
            </p:cNvPr>
            <p:cNvGrpSpPr/>
            <p:nvPr/>
          </p:nvGrpSpPr>
          <p:grpSpPr>
            <a:xfrm>
              <a:off x="3575" y="164"/>
              <a:ext cx="14807" cy="1404"/>
              <a:chOff x="3563" y="180"/>
              <a:chExt cx="14807" cy="1404"/>
            </a:xfrm>
          </p:grpSpPr>
          <p:sp>
            <p:nvSpPr>
              <p:cNvPr id="44" name="文本框 43">
                <a:extLst>
                  <a:ext uri="{FF2B5EF4-FFF2-40B4-BE49-F238E27FC236}">
                    <a16:creationId xmlns:a16="http://schemas.microsoft.com/office/drawing/2014/main" id="{DDDFC060-7C90-39E7-04F1-348EF72AE67D}"/>
                  </a:ext>
                </a:extLst>
              </p:cNvPr>
              <p:cNvSpPr txBox="1"/>
              <p:nvPr/>
            </p:nvSpPr>
            <p:spPr>
              <a:xfrm>
                <a:off x="12799" y="361"/>
                <a:ext cx="2734" cy="825"/>
              </a:xfrm>
              <a:prstGeom prst="rect">
                <a:avLst/>
              </a:prstGeom>
              <a:noFill/>
            </p:spPr>
            <p:txBody>
              <a:bodyPr vert="horz" wrap="none" rtlCol="0">
                <a:noAutofit/>
              </a:bodyPr>
              <a:lstStyle/>
              <a:p>
                <a:pPr algn="ctr"/>
                <a:r>
                  <a:rPr kumimoji="1" lang="en-US" altLang="zh-CN" sz="2000" b="1" spc="300" dirty="0">
                    <a:solidFill>
                      <a:schemeClr val="bg1"/>
                    </a:solidFill>
                    <a:latin typeface="Times New Roman" panose="02020503050405090304" charset="0"/>
                    <a:ea typeface="微软雅黑" panose="020B0503020204020204" pitchFamily="34" charset="-122"/>
                    <a:cs typeface="Times New Roman" panose="02020503050405090304" charset="0"/>
                  </a:rPr>
                  <a:t>Methods</a:t>
                </a:r>
              </a:p>
            </p:txBody>
          </p:sp>
          <p:sp>
            <p:nvSpPr>
              <p:cNvPr id="5" name="文本框 4">
                <a:extLst>
                  <a:ext uri="{FF2B5EF4-FFF2-40B4-BE49-F238E27FC236}">
                    <a16:creationId xmlns:a16="http://schemas.microsoft.com/office/drawing/2014/main" id="{EEDAA30D-7837-D695-B3A8-30DB1AEF9345}"/>
                  </a:ext>
                </a:extLst>
              </p:cNvPr>
              <p:cNvSpPr txBox="1"/>
              <p:nvPr/>
            </p:nvSpPr>
            <p:spPr>
              <a:xfrm>
                <a:off x="16222" y="350"/>
                <a:ext cx="2148" cy="580"/>
              </a:xfrm>
              <a:prstGeom prst="rect">
                <a:avLst/>
              </a:prstGeom>
              <a:noFill/>
            </p:spPr>
            <p:txBody>
              <a:bodyPr vert="horz" wrap="square" rtlCol="0">
                <a:spAutoFit/>
              </a:bodyPr>
              <a:lstStyle/>
              <a:p>
                <a:pPr algn="ctr"/>
                <a:r>
                  <a:rPr kumimoji="1" lang="en-US" altLang="zh-CN" b="1" spc="300" dirty="0">
                    <a:solidFill>
                      <a:srgbClr val="0070C0"/>
                    </a:solidFill>
                    <a:latin typeface="Times New Roman Regular" panose="02020503050405090304" charset="0"/>
                    <a:ea typeface="微软雅黑" panose="020B0503020204020204" pitchFamily="34" charset="-122"/>
                    <a:cs typeface="Times New Roman Regular" panose="02020503050405090304" charset="0"/>
                  </a:rPr>
                  <a:t>Results</a:t>
                </a:r>
              </a:p>
            </p:txBody>
          </p:sp>
          <p:sp>
            <p:nvSpPr>
              <p:cNvPr id="9" name="文本框 8">
                <a:extLst>
                  <a:ext uri="{FF2B5EF4-FFF2-40B4-BE49-F238E27FC236}">
                    <a16:creationId xmlns:a16="http://schemas.microsoft.com/office/drawing/2014/main" id="{F0DF9467-09AB-A003-AC25-9BF40C0F9D44}"/>
                  </a:ext>
                </a:extLst>
              </p:cNvPr>
              <p:cNvSpPr txBox="1"/>
              <p:nvPr/>
            </p:nvSpPr>
            <p:spPr>
              <a:xfrm>
                <a:off x="3563" y="180"/>
                <a:ext cx="4785" cy="1404"/>
              </a:xfrm>
              <a:prstGeom prst="rect">
                <a:avLst/>
              </a:prstGeom>
              <a:noFill/>
            </p:spPr>
            <p:txBody>
              <a:bodyPr vert="horz" wrap="square" rtlCol="0">
                <a:spAutoFit/>
              </a:bodyPr>
              <a:lstStyle/>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Background </a:t>
                </a:r>
              </a:p>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&amp; Significance</a:t>
                </a: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a:p>
                <a:pPr algn="ct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p:txBody>
          </p:sp>
        </p:grpSp>
        <p:sp>
          <p:nvSpPr>
            <p:cNvPr id="14" name="文本框 13">
              <a:extLst>
                <a:ext uri="{FF2B5EF4-FFF2-40B4-BE49-F238E27FC236}">
                  <a16:creationId xmlns:a16="http://schemas.microsoft.com/office/drawing/2014/main" id="{097F57AD-1965-0E48-6A53-3F8626487AD2}"/>
                </a:ext>
              </a:extLst>
            </p:cNvPr>
            <p:cNvSpPr txBox="1"/>
            <p:nvPr/>
          </p:nvSpPr>
          <p:spPr>
            <a:xfrm>
              <a:off x="8352" y="348"/>
              <a:ext cx="2878" cy="630"/>
            </a:xfrm>
            <a:prstGeom prst="rect">
              <a:avLst/>
            </a:prstGeom>
            <a:noFill/>
          </p:spPr>
          <p:txBody>
            <a:bodyPr vert="horz" wrap="none" rtlCol="0">
              <a:spAutoFit/>
            </a:bodyPr>
            <a:lstStyle/>
            <a:p>
              <a:pPr algn="ctr"/>
              <a:r>
                <a:rPr kumimoji="1" lang="en-US" altLang="zh-CN" sz="2000" b="1" spc="300" dirty="0">
                  <a:solidFill>
                    <a:schemeClr val="bg1"/>
                  </a:solidFill>
                  <a:latin typeface="Times New Roman" panose="02020503050405090304" charset="0"/>
                  <a:ea typeface="微软雅黑" panose="020B0503020204020204" pitchFamily="34" charset="-122"/>
                  <a:cs typeface="Times New Roman" panose="02020503050405090304" charset="0"/>
                </a:rPr>
                <a:t>Framework</a:t>
              </a:r>
            </a:p>
          </p:txBody>
        </p:sp>
      </p:grpSp>
      <p:pic>
        <p:nvPicPr>
          <p:cNvPr id="15" name="图片 14">
            <a:extLst>
              <a:ext uri="{FF2B5EF4-FFF2-40B4-BE49-F238E27FC236}">
                <a16:creationId xmlns:a16="http://schemas.microsoft.com/office/drawing/2014/main" id="{CE0AA401-A17A-880B-A5BD-F4A75482EE9E}"/>
              </a:ext>
            </a:extLst>
          </p:cNvPr>
          <p:cNvPicPr>
            <a:picLocks noChangeAspect="1"/>
          </p:cNvPicPr>
          <p:nvPr/>
        </p:nvPicPr>
        <p:blipFill>
          <a:blip r:embed="rId5"/>
          <a:stretch>
            <a:fillRect/>
          </a:stretch>
        </p:blipFill>
        <p:spPr>
          <a:xfrm>
            <a:off x="5167252" y="2110097"/>
            <a:ext cx="5935466" cy="2939032"/>
          </a:xfrm>
          <a:prstGeom prst="rect">
            <a:avLst/>
          </a:prstGeom>
        </p:spPr>
      </p:pic>
      <p:sp>
        <p:nvSpPr>
          <p:cNvPr id="2" name="灯片编号占位符 1">
            <a:extLst>
              <a:ext uri="{FF2B5EF4-FFF2-40B4-BE49-F238E27FC236}">
                <a16:creationId xmlns:a16="http://schemas.microsoft.com/office/drawing/2014/main" id="{5F41BF46-BE98-EB8B-438C-45DBECE37EC0}"/>
              </a:ext>
            </a:extLst>
          </p:cNvPr>
          <p:cNvSpPr>
            <a:spLocks noGrp="1"/>
          </p:cNvSpPr>
          <p:nvPr>
            <p:ph type="sldNum" sz="quarter" idx="12"/>
          </p:nvPr>
        </p:nvSpPr>
        <p:spPr/>
        <p:txBody>
          <a:bodyPr/>
          <a:lstStyle/>
          <a:p>
            <a:fld id="{E6518835-16E6-9244-9C02-6BFB876E5D3C}" type="slidenum">
              <a:rPr kumimoji="1" lang="zh-CN" altLang="en-US" smtClean="0"/>
              <a:t>31</a:t>
            </a:fld>
            <a:endParaRPr kumimoji="1" lang="zh-CN" altLang="en-US"/>
          </a:p>
        </p:txBody>
      </p:sp>
    </p:spTree>
    <p:extLst>
      <p:ext uri="{BB962C8B-B14F-4D97-AF65-F5344CB8AC3E}">
        <p14:creationId xmlns:p14="http://schemas.microsoft.com/office/powerpoint/2010/main" val="3347366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 name="PA-直接连接符 17"/>
          <p:cNvCxnSpPr/>
          <p:nvPr>
            <p:custDataLst>
              <p:tags r:id="rId1"/>
            </p:custDataLst>
          </p:nvPr>
        </p:nvCxnSpPr>
        <p:spPr>
          <a:xfrm>
            <a:off x="441777" y="1675856"/>
            <a:ext cx="4084955"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grpSp>
        <p:nvGrpSpPr>
          <p:cNvPr id="24" name="组合 23"/>
          <p:cNvGrpSpPr/>
          <p:nvPr/>
        </p:nvGrpSpPr>
        <p:grpSpPr>
          <a:xfrm>
            <a:off x="370072" y="219176"/>
            <a:ext cx="2150839" cy="449040"/>
            <a:chOff x="2085654" y="644950"/>
            <a:chExt cx="7772400" cy="1622679"/>
          </a:xfrm>
        </p:grpSpPr>
        <p:pic>
          <p:nvPicPr>
            <p:cNvPr id="25" name="图片 24"/>
            <p:cNvPicPr>
              <a:picLocks noChangeAspect="1"/>
            </p:cNvPicPr>
            <p:nvPr/>
          </p:nvPicPr>
          <p:blipFill rotWithShape="1">
            <a:blip r:embed="rId3"/>
            <a:srcRect r="78982"/>
            <a:stretch>
              <a:fillRect/>
            </a:stretch>
          </p:blipFill>
          <p:spPr>
            <a:xfrm>
              <a:off x="2085654" y="644950"/>
              <a:ext cx="1633591" cy="1622679"/>
            </a:xfrm>
            <a:prstGeom prst="rect">
              <a:avLst/>
            </a:prstGeom>
          </p:spPr>
        </p:pic>
        <p:pic>
          <p:nvPicPr>
            <p:cNvPr id="26" name="图片 25"/>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Lst>
            </a:blip>
            <a:srcRect l="23530"/>
            <a:stretch>
              <a:fillRect/>
            </a:stretch>
          </p:blipFill>
          <p:spPr>
            <a:xfrm>
              <a:off x="3914454" y="644950"/>
              <a:ext cx="5943600" cy="1622679"/>
            </a:xfrm>
            <a:prstGeom prst="rect">
              <a:avLst/>
            </a:prstGeom>
          </p:spPr>
        </p:pic>
      </p:grpSp>
      <p:sp>
        <p:nvSpPr>
          <p:cNvPr id="10" name="圆角矩形 9"/>
          <p:cNvSpPr/>
          <p:nvPr/>
        </p:nvSpPr>
        <p:spPr>
          <a:xfrm>
            <a:off x="10097135" y="0"/>
            <a:ext cx="1936115"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6" name="组合 15"/>
          <p:cNvGrpSpPr/>
          <p:nvPr/>
        </p:nvGrpSpPr>
        <p:grpSpPr>
          <a:xfrm>
            <a:off x="2045970" y="157480"/>
            <a:ext cx="9709150" cy="891540"/>
            <a:chOff x="3222" y="248"/>
            <a:chExt cx="15290" cy="1404"/>
          </a:xfrm>
        </p:grpSpPr>
        <p:grpSp>
          <p:nvGrpSpPr>
            <p:cNvPr id="5" name="组合 4"/>
            <p:cNvGrpSpPr/>
            <p:nvPr/>
          </p:nvGrpSpPr>
          <p:grpSpPr>
            <a:xfrm>
              <a:off x="3222" y="248"/>
              <a:ext cx="15290" cy="1404"/>
              <a:chOff x="3210" y="264"/>
              <a:chExt cx="15290" cy="1404"/>
            </a:xfrm>
          </p:grpSpPr>
          <p:sp>
            <p:nvSpPr>
              <p:cNvPr id="44" name="文本框 43"/>
              <p:cNvSpPr txBox="1"/>
              <p:nvPr/>
            </p:nvSpPr>
            <p:spPr>
              <a:xfrm>
                <a:off x="12716" y="283"/>
                <a:ext cx="2734" cy="825"/>
              </a:xfrm>
              <a:prstGeom prst="rect">
                <a:avLst/>
              </a:prstGeom>
              <a:noFill/>
            </p:spPr>
            <p:txBody>
              <a:bodyPr vert="horz" wrap="none" rtlCol="0">
                <a:noAutofit/>
              </a:bodyPr>
              <a:lstStyle/>
              <a:p>
                <a:pPr algn="ctr"/>
                <a:r>
                  <a:rPr kumimoji="1" lang="en-US" altLang="zh-CN" sz="2000" b="1" spc="300" dirty="0">
                    <a:solidFill>
                      <a:schemeClr val="bg1"/>
                    </a:solidFill>
                    <a:latin typeface="Times New Roman" panose="02020503050405090304" charset="0"/>
                    <a:ea typeface="微软雅黑" panose="020B0503020204020204" pitchFamily="34" charset="-122"/>
                    <a:cs typeface="Times New Roman" panose="02020503050405090304" charset="0"/>
                  </a:rPr>
                  <a:t>Methods</a:t>
                </a:r>
              </a:p>
            </p:txBody>
          </p:sp>
          <p:sp>
            <p:nvSpPr>
              <p:cNvPr id="7" name="文本框 6"/>
              <p:cNvSpPr txBox="1"/>
              <p:nvPr/>
            </p:nvSpPr>
            <p:spPr>
              <a:xfrm>
                <a:off x="3210" y="264"/>
                <a:ext cx="4785" cy="1404"/>
              </a:xfrm>
              <a:prstGeom prst="rect">
                <a:avLst/>
              </a:prstGeom>
              <a:noFill/>
            </p:spPr>
            <p:txBody>
              <a:bodyPr vert="horz" wrap="square" rtlCol="0">
                <a:spAutoFit/>
              </a:bodyPr>
              <a:lstStyle/>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Background </a:t>
                </a:r>
              </a:p>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&amp; Significance</a:t>
                </a: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a:p>
                <a:pPr algn="ct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p:txBody>
          </p:sp>
          <p:sp>
            <p:nvSpPr>
              <p:cNvPr id="6" name="文本框 5"/>
              <p:cNvSpPr txBox="1"/>
              <p:nvPr/>
            </p:nvSpPr>
            <p:spPr>
              <a:xfrm>
                <a:off x="16352" y="350"/>
                <a:ext cx="2148" cy="628"/>
              </a:xfrm>
              <a:prstGeom prst="rect">
                <a:avLst/>
              </a:prstGeom>
              <a:noFill/>
            </p:spPr>
            <p:txBody>
              <a:bodyPr vert="horz" wrap="square" rtlCol="0">
                <a:spAutoFit/>
              </a:bodyPr>
              <a:lstStyle/>
              <a:p>
                <a:pPr algn="ctr"/>
                <a:r>
                  <a:rPr kumimoji="1" lang="en-US" altLang="zh-CN" sz="2000" b="1" spc="300" dirty="0">
                    <a:solidFill>
                      <a:srgbClr val="006BC0"/>
                    </a:solidFill>
                    <a:latin typeface="Times New Roman" panose="02020503050405090304" charset="0"/>
                    <a:ea typeface="微软雅黑" panose="020B0503020204020204" pitchFamily="34" charset="-122"/>
                    <a:cs typeface="Times New Roman" panose="02020503050405090304" charset="0"/>
                  </a:rPr>
                  <a:t>Results</a:t>
                </a:r>
              </a:p>
            </p:txBody>
          </p:sp>
        </p:grpSp>
        <p:sp>
          <p:nvSpPr>
            <p:cNvPr id="14" name="文本框 13"/>
            <p:cNvSpPr txBox="1"/>
            <p:nvPr/>
          </p:nvSpPr>
          <p:spPr>
            <a:xfrm>
              <a:off x="8774" y="334"/>
              <a:ext cx="2878" cy="630"/>
            </a:xfrm>
            <a:prstGeom prst="rect">
              <a:avLst/>
            </a:prstGeom>
            <a:noFill/>
          </p:spPr>
          <p:txBody>
            <a:bodyPr vert="horz" wrap="none" rtlCol="0">
              <a:spAutoFit/>
            </a:bodyPr>
            <a:lstStyle/>
            <a:p>
              <a:pPr algn="ctr"/>
              <a:r>
                <a:rPr kumimoji="1" lang="en-US" altLang="zh-CN" sz="2000" b="1" spc="300" dirty="0">
                  <a:solidFill>
                    <a:schemeClr val="bg1"/>
                  </a:solidFill>
                  <a:latin typeface="Times New Roman" panose="02020503050405090304" charset="0"/>
                  <a:ea typeface="微软雅黑" panose="020B0503020204020204" pitchFamily="34" charset="-122"/>
                  <a:cs typeface="Times New Roman" panose="02020503050405090304" charset="0"/>
                </a:rPr>
                <a:t>Framework</a:t>
              </a:r>
            </a:p>
          </p:txBody>
        </p:sp>
      </p:grpSp>
      <p:sp>
        <p:nvSpPr>
          <p:cNvPr id="13" name="文本框 12"/>
          <p:cNvSpPr txBox="1"/>
          <p:nvPr/>
        </p:nvSpPr>
        <p:spPr>
          <a:xfrm>
            <a:off x="370205" y="1162685"/>
            <a:ext cx="4279900" cy="398780"/>
          </a:xfrm>
          <a:prstGeom prst="rect">
            <a:avLst/>
          </a:prstGeom>
          <a:noFill/>
        </p:spPr>
        <p:txBody>
          <a:bodyPr wrap="square" rtlCol="0">
            <a:spAutoFit/>
          </a:bodyPr>
          <a:lstStyle/>
          <a:p>
            <a:r>
              <a:rPr lang="en-US" altLang="zh-CN" sz="2000">
                <a:latin typeface="Times New Roman" panose="02020503050405090304" charset="0"/>
                <a:cs typeface="Times New Roman" panose="02020503050405090304" charset="0"/>
              </a:rPr>
              <a:t>Different styles with a self-ratio of 0.4</a:t>
            </a:r>
          </a:p>
        </p:txBody>
      </p:sp>
      <p:sp>
        <p:nvSpPr>
          <p:cNvPr id="37" name="文本框 36"/>
          <p:cNvSpPr txBox="1"/>
          <p:nvPr/>
        </p:nvSpPr>
        <p:spPr>
          <a:xfrm>
            <a:off x="6887210" y="2455705"/>
            <a:ext cx="1470025" cy="472440"/>
          </a:xfrm>
          <a:prstGeom prst="rect">
            <a:avLst/>
          </a:prstGeom>
          <a:noFill/>
        </p:spPr>
        <p:txBody>
          <a:bodyPr wrap="square" rtlCol="0">
            <a:noAutofit/>
          </a:bodyPr>
          <a:lstStyle/>
          <a:p>
            <a:r>
              <a:rPr lang="en-US" altLang="zh-CN" sz="2000">
                <a:latin typeface="Times New Roman" panose="02020503050405090304" charset="0"/>
                <a:cs typeface="Times New Roman" panose="02020503050405090304" charset="0"/>
              </a:rPr>
              <a:t>Input Image</a:t>
            </a:r>
          </a:p>
        </p:txBody>
      </p:sp>
      <p:pic>
        <p:nvPicPr>
          <p:cNvPr id="17" name="图片 16" descr="ZhenHuan.jpg acrylic+2026-05-04 22_06_02.406998"/>
          <p:cNvPicPr>
            <a:picLocks noChangeAspect="1"/>
          </p:cNvPicPr>
          <p:nvPr/>
        </p:nvPicPr>
        <p:blipFill>
          <a:blip r:embed="rId6"/>
          <a:srcRect r="49853"/>
          <a:stretch>
            <a:fillRect/>
          </a:stretch>
        </p:blipFill>
        <p:spPr>
          <a:xfrm>
            <a:off x="4723130" y="1672750"/>
            <a:ext cx="1936115" cy="1911985"/>
          </a:xfrm>
          <a:prstGeom prst="rect">
            <a:avLst/>
          </a:prstGeom>
        </p:spPr>
      </p:pic>
      <p:grpSp>
        <p:nvGrpSpPr>
          <p:cNvPr id="43" name="组合 42"/>
          <p:cNvGrpSpPr/>
          <p:nvPr/>
        </p:nvGrpSpPr>
        <p:grpSpPr>
          <a:xfrm>
            <a:off x="278130" y="3778410"/>
            <a:ext cx="11657965" cy="2164715"/>
            <a:chOff x="438" y="4758"/>
            <a:chExt cx="18359" cy="3409"/>
          </a:xfrm>
        </p:grpSpPr>
        <p:grpSp>
          <p:nvGrpSpPr>
            <p:cNvPr id="38" name="组合 37"/>
            <p:cNvGrpSpPr/>
            <p:nvPr/>
          </p:nvGrpSpPr>
          <p:grpSpPr>
            <a:xfrm>
              <a:off x="471" y="7341"/>
              <a:ext cx="18327" cy="826"/>
              <a:chOff x="584" y="6888"/>
              <a:chExt cx="18327" cy="826"/>
            </a:xfrm>
          </p:grpSpPr>
          <p:sp>
            <p:nvSpPr>
              <p:cNvPr id="29" name="文本框 28"/>
              <p:cNvSpPr txBox="1"/>
              <p:nvPr/>
            </p:nvSpPr>
            <p:spPr>
              <a:xfrm>
                <a:off x="584" y="6888"/>
                <a:ext cx="2534" cy="8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Acrylic</a:t>
                </a:r>
              </a:p>
            </p:txBody>
          </p:sp>
          <p:sp>
            <p:nvSpPr>
              <p:cNvPr id="30" name="文本框 29"/>
              <p:cNvSpPr txBox="1"/>
              <p:nvPr/>
            </p:nvSpPr>
            <p:spPr>
              <a:xfrm>
                <a:off x="3128" y="6888"/>
                <a:ext cx="2530"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Expressionism</a:t>
                </a:r>
              </a:p>
            </p:txBody>
          </p:sp>
          <p:sp>
            <p:nvSpPr>
              <p:cNvPr id="31" name="文本框 30"/>
              <p:cNvSpPr txBox="1"/>
              <p:nvPr/>
            </p:nvSpPr>
            <p:spPr>
              <a:xfrm>
                <a:off x="5763" y="6888"/>
                <a:ext cx="2530"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Impressionism</a:t>
                </a:r>
              </a:p>
            </p:txBody>
          </p:sp>
          <p:sp>
            <p:nvSpPr>
              <p:cNvPr id="32" name="文本框 31"/>
              <p:cNvSpPr txBox="1"/>
              <p:nvPr/>
            </p:nvSpPr>
            <p:spPr>
              <a:xfrm>
                <a:off x="8364" y="6888"/>
                <a:ext cx="2575"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Modern Art</a:t>
                </a:r>
              </a:p>
            </p:txBody>
          </p:sp>
          <p:sp>
            <p:nvSpPr>
              <p:cNvPr id="33" name="文本框 32"/>
              <p:cNvSpPr txBox="1"/>
              <p:nvPr/>
            </p:nvSpPr>
            <p:spPr>
              <a:xfrm>
                <a:off x="10959" y="6888"/>
                <a:ext cx="2605"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Sketch</a:t>
                </a:r>
              </a:p>
            </p:txBody>
          </p:sp>
          <p:sp>
            <p:nvSpPr>
              <p:cNvPr id="34" name="文本框 33"/>
              <p:cNvSpPr txBox="1"/>
              <p:nvPr/>
            </p:nvSpPr>
            <p:spPr>
              <a:xfrm>
                <a:off x="13669" y="6888"/>
                <a:ext cx="2531"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The Powerpuff Girl Cartoon</a:t>
                </a:r>
              </a:p>
            </p:txBody>
          </p:sp>
          <p:sp>
            <p:nvSpPr>
              <p:cNvPr id="36" name="文本框 35"/>
              <p:cNvSpPr txBox="1"/>
              <p:nvPr/>
            </p:nvSpPr>
            <p:spPr>
              <a:xfrm>
                <a:off x="16306" y="6922"/>
                <a:ext cx="2605"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Watercolor</a:t>
                </a:r>
              </a:p>
            </p:txBody>
          </p:sp>
        </p:grpSp>
        <p:pic>
          <p:nvPicPr>
            <p:cNvPr id="15" name="图片 14" descr="ZhenHuan.jpg acrylic+2026-05-04 22_06_02.406998"/>
            <p:cNvPicPr>
              <a:picLocks noChangeAspect="1"/>
            </p:cNvPicPr>
            <p:nvPr/>
          </p:nvPicPr>
          <p:blipFill>
            <a:blip r:embed="rId6"/>
            <a:srcRect l="49993"/>
            <a:stretch>
              <a:fillRect/>
            </a:stretch>
          </p:blipFill>
          <p:spPr>
            <a:xfrm>
              <a:off x="438" y="4854"/>
              <a:ext cx="2546" cy="2521"/>
            </a:xfrm>
            <a:prstGeom prst="rect">
              <a:avLst/>
            </a:prstGeom>
          </p:spPr>
        </p:pic>
        <p:pic>
          <p:nvPicPr>
            <p:cNvPr id="18" name="图片 17" descr="ZhenHuan.jpg expressionism+2026-05-04 22_05_21.842330"/>
            <p:cNvPicPr>
              <a:picLocks noChangeAspect="1"/>
            </p:cNvPicPr>
            <p:nvPr/>
          </p:nvPicPr>
          <p:blipFill>
            <a:blip r:embed="rId7"/>
            <a:srcRect l="49535" t="138"/>
            <a:stretch>
              <a:fillRect/>
            </a:stretch>
          </p:blipFill>
          <p:spPr>
            <a:xfrm>
              <a:off x="3015" y="4850"/>
              <a:ext cx="2576" cy="2525"/>
            </a:xfrm>
            <a:prstGeom prst="rect">
              <a:avLst/>
            </a:prstGeom>
          </p:spPr>
        </p:pic>
        <p:pic>
          <p:nvPicPr>
            <p:cNvPr id="19" name="图片 18" descr="ZhenHuan.jpg impressionism+2026-05-04 22_05_35.534447"/>
            <p:cNvPicPr>
              <a:picLocks noChangeAspect="1"/>
            </p:cNvPicPr>
            <p:nvPr/>
          </p:nvPicPr>
          <p:blipFill>
            <a:blip r:embed="rId8"/>
            <a:srcRect l="49963" t="-2069"/>
            <a:stretch>
              <a:fillRect/>
            </a:stretch>
          </p:blipFill>
          <p:spPr>
            <a:xfrm>
              <a:off x="5587" y="4758"/>
              <a:ext cx="2590" cy="2617"/>
            </a:xfrm>
            <a:prstGeom prst="rect">
              <a:avLst/>
            </a:prstGeom>
          </p:spPr>
        </p:pic>
        <p:pic>
          <p:nvPicPr>
            <p:cNvPr id="20" name="图片 19" descr="ZhenHuan.jpg modern art+2026-05-04 22_06_09.150023"/>
            <p:cNvPicPr>
              <a:picLocks noChangeAspect="1"/>
            </p:cNvPicPr>
            <p:nvPr/>
          </p:nvPicPr>
          <p:blipFill>
            <a:blip r:embed="rId9"/>
            <a:srcRect l="51346" t="-476"/>
            <a:stretch>
              <a:fillRect/>
            </a:stretch>
          </p:blipFill>
          <p:spPr>
            <a:xfrm>
              <a:off x="8294" y="4803"/>
              <a:ext cx="2504" cy="2561"/>
            </a:xfrm>
            <a:prstGeom prst="rect">
              <a:avLst/>
            </a:prstGeom>
          </p:spPr>
        </p:pic>
        <p:pic>
          <p:nvPicPr>
            <p:cNvPr id="22" name="图片 21" descr="ZhenHuan.jpg sketch+2026-05-04 22_05_28.850854"/>
            <p:cNvPicPr>
              <a:picLocks noChangeAspect="1"/>
            </p:cNvPicPr>
            <p:nvPr/>
          </p:nvPicPr>
          <p:blipFill>
            <a:blip r:embed="rId10"/>
            <a:srcRect l="49903"/>
            <a:stretch>
              <a:fillRect/>
            </a:stretch>
          </p:blipFill>
          <p:spPr>
            <a:xfrm>
              <a:off x="10868" y="4794"/>
              <a:ext cx="2590" cy="2560"/>
            </a:xfrm>
            <a:prstGeom prst="rect">
              <a:avLst/>
            </a:prstGeom>
          </p:spPr>
        </p:pic>
        <p:pic>
          <p:nvPicPr>
            <p:cNvPr id="28" name="图片 27" descr="ZhenHuan.jpg The Powerpuff Girls cartoon+2026-05-04 22_05_55.680960"/>
            <p:cNvPicPr>
              <a:picLocks noChangeAspect="1"/>
            </p:cNvPicPr>
            <p:nvPr/>
          </p:nvPicPr>
          <p:blipFill>
            <a:blip r:embed="rId11"/>
            <a:srcRect l="50000" t="285"/>
            <a:stretch>
              <a:fillRect/>
            </a:stretch>
          </p:blipFill>
          <p:spPr>
            <a:xfrm>
              <a:off x="13528" y="4794"/>
              <a:ext cx="2578" cy="2547"/>
            </a:xfrm>
            <a:prstGeom prst="rect">
              <a:avLst/>
            </a:prstGeom>
          </p:spPr>
        </p:pic>
        <p:pic>
          <p:nvPicPr>
            <p:cNvPr id="39" name="图片 38" descr="ZhenHuan.jpg watercolor+2026-05-04 22_05_42.243477"/>
            <p:cNvPicPr>
              <a:picLocks noChangeAspect="1"/>
            </p:cNvPicPr>
            <p:nvPr/>
          </p:nvPicPr>
          <p:blipFill>
            <a:blip r:embed="rId12"/>
            <a:srcRect l="49769" t="-21"/>
            <a:stretch>
              <a:fillRect/>
            </a:stretch>
          </p:blipFill>
          <p:spPr>
            <a:xfrm>
              <a:off x="16176" y="4785"/>
              <a:ext cx="2591" cy="2556"/>
            </a:xfrm>
            <a:prstGeom prst="rect">
              <a:avLst/>
            </a:prstGeom>
          </p:spPr>
        </p:pic>
      </p:grpSp>
      <p:sp>
        <p:nvSpPr>
          <p:cNvPr id="3" name="灯片编号占位符 2">
            <a:extLst>
              <a:ext uri="{FF2B5EF4-FFF2-40B4-BE49-F238E27FC236}">
                <a16:creationId xmlns:a16="http://schemas.microsoft.com/office/drawing/2014/main" id="{0A1E6CEB-F0D8-8B95-F770-D134D7236978}"/>
              </a:ext>
            </a:extLst>
          </p:cNvPr>
          <p:cNvSpPr>
            <a:spLocks noGrp="1"/>
          </p:cNvSpPr>
          <p:nvPr>
            <p:ph type="sldNum" sz="quarter" idx="12"/>
          </p:nvPr>
        </p:nvSpPr>
        <p:spPr/>
        <p:txBody>
          <a:bodyPr/>
          <a:lstStyle/>
          <a:p>
            <a:fld id="{E6518835-16E6-9244-9C02-6BFB876E5D3C}" type="slidenum">
              <a:rPr kumimoji="1" lang="zh-CN" altLang="en-US" smtClean="0"/>
              <a:t>32</a:t>
            </a:fld>
            <a:endParaRPr kumimoji="1"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 name="PA-直接连接符 17"/>
          <p:cNvCxnSpPr/>
          <p:nvPr>
            <p:custDataLst>
              <p:tags r:id="rId1"/>
            </p:custDataLst>
          </p:nvPr>
        </p:nvCxnSpPr>
        <p:spPr>
          <a:xfrm>
            <a:off x="441777" y="1675856"/>
            <a:ext cx="4084955"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grpSp>
        <p:nvGrpSpPr>
          <p:cNvPr id="24" name="组合 23"/>
          <p:cNvGrpSpPr/>
          <p:nvPr/>
        </p:nvGrpSpPr>
        <p:grpSpPr>
          <a:xfrm>
            <a:off x="370072" y="219176"/>
            <a:ext cx="2150839" cy="449040"/>
            <a:chOff x="2085654" y="644950"/>
            <a:chExt cx="7772400" cy="1622679"/>
          </a:xfrm>
        </p:grpSpPr>
        <p:pic>
          <p:nvPicPr>
            <p:cNvPr id="25" name="图片 24"/>
            <p:cNvPicPr>
              <a:picLocks noChangeAspect="1"/>
            </p:cNvPicPr>
            <p:nvPr/>
          </p:nvPicPr>
          <p:blipFill rotWithShape="1">
            <a:blip r:embed="rId3"/>
            <a:srcRect r="78982"/>
            <a:stretch>
              <a:fillRect/>
            </a:stretch>
          </p:blipFill>
          <p:spPr>
            <a:xfrm>
              <a:off x="2085654" y="644950"/>
              <a:ext cx="1633591" cy="1622679"/>
            </a:xfrm>
            <a:prstGeom prst="rect">
              <a:avLst/>
            </a:prstGeom>
          </p:spPr>
        </p:pic>
        <p:pic>
          <p:nvPicPr>
            <p:cNvPr id="26" name="图片 25"/>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Lst>
            </a:blip>
            <a:srcRect l="23530"/>
            <a:stretch>
              <a:fillRect/>
            </a:stretch>
          </p:blipFill>
          <p:spPr>
            <a:xfrm>
              <a:off x="3914454" y="644950"/>
              <a:ext cx="5943600" cy="1622679"/>
            </a:xfrm>
            <a:prstGeom prst="rect">
              <a:avLst/>
            </a:prstGeom>
          </p:spPr>
        </p:pic>
      </p:grpSp>
      <p:sp>
        <p:nvSpPr>
          <p:cNvPr id="10" name="圆角矩形 9"/>
          <p:cNvSpPr/>
          <p:nvPr/>
        </p:nvSpPr>
        <p:spPr>
          <a:xfrm>
            <a:off x="10097135" y="0"/>
            <a:ext cx="1936115"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6" name="组合 15"/>
          <p:cNvGrpSpPr/>
          <p:nvPr/>
        </p:nvGrpSpPr>
        <p:grpSpPr>
          <a:xfrm>
            <a:off x="2045970" y="157480"/>
            <a:ext cx="9709150" cy="891540"/>
            <a:chOff x="3222" y="248"/>
            <a:chExt cx="15290" cy="1404"/>
          </a:xfrm>
        </p:grpSpPr>
        <p:grpSp>
          <p:nvGrpSpPr>
            <p:cNvPr id="5" name="组合 4"/>
            <p:cNvGrpSpPr/>
            <p:nvPr/>
          </p:nvGrpSpPr>
          <p:grpSpPr>
            <a:xfrm>
              <a:off x="3222" y="248"/>
              <a:ext cx="15290" cy="1404"/>
              <a:chOff x="3210" y="264"/>
              <a:chExt cx="15290" cy="1404"/>
            </a:xfrm>
          </p:grpSpPr>
          <p:sp>
            <p:nvSpPr>
              <p:cNvPr id="44" name="文本框 43"/>
              <p:cNvSpPr txBox="1"/>
              <p:nvPr/>
            </p:nvSpPr>
            <p:spPr>
              <a:xfrm>
                <a:off x="12446" y="361"/>
                <a:ext cx="2734" cy="825"/>
              </a:xfrm>
              <a:prstGeom prst="rect">
                <a:avLst/>
              </a:prstGeom>
              <a:noFill/>
            </p:spPr>
            <p:txBody>
              <a:bodyPr vert="horz" wrap="none" rtlCol="0">
                <a:noAutofit/>
              </a:bodyPr>
              <a:lstStyle/>
              <a:p>
                <a:pPr algn="ctr"/>
                <a:r>
                  <a:rPr kumimoji="1" lang="en-US" altLang="zh-CN" sz="2000" b="1" spc="300" dirty="0">
                    <a:solidFill>
                      <a:schemeClr val="bg1"/>
                    </a:solidFill>
                    <a:latin typeface="Times New Roman" panose="02020503050405090304" charset="0"/>
                    <a:ea typeface="微软雅黑" panose="020B0503020204020204" pitchFamily="34" charset="-122"/>
                    <a:cs typeface="Times New Roman" panose="02020503050405090304" charset="0"/>
                  </a:rPr>
                  <a:t>Methods</a:t>
                </a:r>
              </a:p>
            </p:txBody>
          </p:sp>
          <p:sp>
            <p:nvSpPr>
              <p:cNvPr id="7" name="文本框 6"/>
              <p:cNvSpPr txBox="1"/>
              <p:nvPr/>
            </p:nvSpPr>
            <p:spPr>
              <a:xfrm>
                <a:off x="3210" y="264"/>
                <a:ext cx="4785" cy="1404"/>
              </a:xfrm>
              <a:prstGeom prst="rect">
                <a:avLst/>
              </a:prstGeom>
              <a:noFill/>
            </p:spPr>
            <p:txBody>
              <a:bodyPr vert="horz" wrap="square" rtlCol="0">
                <a:spAutoFit/>
              </a:bodyPr>
              <a:lstStyle/>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Background </a:t>
                </a:r>
              </a:p>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&amp; Significance</a:t>
                </a: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a:p>
                <a:pPr algn="ct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p:txBody>
          </p:sp>
          <p:sp>
            <p:nvSpPr>
              <p:cNvPr id="6" name="文本框 5"/>
              <p:cNvSpPr txBox="1"/>
              <p:nvPr/>
            </p:nvSpPr>
            <p:spPr>
              <a:xfrm>
                <a:off x="16352" y="350"/>
                <a:ext cx="2148" cy="628"/>
              </a:xfrm>
              <a:prstGeom prst="rect">
                <a:avLst/>
              </a:prstGeom>
              <a:noFill/>
            </p:spPr>
            <p:txBody>
              <a:bodyPr vert="horz" wrap="square" rtlCol="0">
                <a:spAutoFit/>
              </a:bodyPr>
              <a:lstStyle/>
              <a:p>
                <a:pPr algn="ctr"/>
                <a:r>
                  <a:rPr kumimoji="1" lang="en-US" altLang="zh-CN" sz="2000" b="1" spc="300" dirty="0">
                    <a:solidFill>
                      <a:srgbClr val="006BC0"/>
                    </a:solidFill>
                    <a:latin typeface="Times New Roman" panose="02020503050405090304" charset="0"/>
                    <a:ea typeface="微软雅黑" panose="020B0503020204020204" pitchFamily="34" charset="-122"/>
                    <a:cs typeface="Times New Roman" panose="02020503050405090304" charset="0"/>
                  </a:rPr>
                  <a:t>Results</a:t>
                </a:r>
              </a:p>
            </p:txBody>
          </p:sp>
        </p:grpSp>
        <p:sp>
          <p:nvSpPr>
            <p:cNvPr id="14" name="文本框 13"/>
            <p:cNvSpPr txBox="1"/>
            <p:nvPr/>
          </p:nvSpPr>
          <p:spPr>
            <a:xfrm>
              <a:off x="8872" y="334"/>
              <a:ext cx="2878" cy="630"/>
            </a:xfrm>
            <a:prstGeom prst="rect">
              <a:avLst/>
            </a:prstGeom>
            <a:noFill/>
          </p:spPr>
          <p:txBody>
            <a:bodyPr vert="horz" wrap="none" rtlCol="0">
              <a:spAutoFit/>
            </a:bodyPr>
            <a:lstStyle/>
            <a:p>
              <a:pPr algn="ctr"/>
              <a:r>
                <a:rPr kumimoji="1" lang="en-US" altLang="zh-CN" sz="2000" b="1" spc="300" dirty="0">
                  <a:solidFill>
                    <a:schemeClr val="bg1"/>
                  </a:solidFill>
                  <a:latin typeface="Times New Roman" panose="02020503050405090304" charset="0"/>
                  <a:ea typeface="微软雅黑" panose="020B0503020204020204" pitchFamily="34" charset="-122"/>
                  <a:cs typeface="Times New Roman" panose="02020503050405090304" charset="0"/>
                </a:rPr>
                <a:t>Framework</a:t>
              </a:r>
            </a:p>
          </p:txBody>
        </p:sp>
      </p:grpSp>
      <p:pic>
        <p:nvPicPr>
          <p:cNvPr id="23" name="图片 22" descr="LiLandi.jpg sketch+0.2"/>
          <p:cNvPicPr>
            <a:picLocks noChangeAspect="1"/>
          </p:cNvPicPr>
          <p:nvPr/>
        </p:nvPicPr>
        <p:blipFill>
          <a:blip r:embed="rId6"/>
          <a:srcRect r="49762"/>
          <a:stretch>
            <a:fillRect/>
          </a:stretch>
        </p:blipFill>
        <p:spPr>
          <a:xfrm>
            <a:off x="4721860" y="1691701"/>
            <a:ext cx="1609725" cy="1586865"/>
          </a:xfrm>
          <a:prstGeom prst="rect">
            <a:avLst/>
          </a:prstGeom>
        </p:spPr>
      </p:pic>
      <p:grpSp>
        <p:nvGrpSpPr>
          <p:cNvPr id="39" name="组合 38"/>
          <p:cNvGrpSpPr/>
          <p:nvPr/>
        </p:nvGrpSpPr>
        <p:grpSpPr>
          <a:xfrm>
            <a:off x="370205" y="3569396"/>
            <a:ext cx="11539220" cy="2061845"/>
            <a:chOff x="696" y="4301"/>
            <a:chExt cx="18172" cy="3247"/>
          </a:xfrm>
        </p:grpSpPr>
        <p:grpSp>
          <p:nvGrpSpPr>
            <p:cNvPr id="28" name="组合 27"/>
            <p:cNvGrpSpPr/>
            <p:nvPr/>
          </p:nvGrpSpPr>
          <p:grpSpPr>
            <a:xfrm>
              <a:off x="696" y="4301"/>
              <a:ext cx="18173" cy="2587"/>
              <a:chOff x="777" y="2893"/>
              <a:chExt cx="18173" cy="2587"/>
            </a:xfrm>
          </p:grpSpPr>
          <p:pic>
            <p:nvPicPr>
              <p:cNvPr id="15" name="图片 14" descr="LiLandi.jpg sketch+0.2"/>
              <p:cNvPicPr>
                <a:picLocks noChangeAspect="1"/>
              </p:cNvPicPr>
              <p:nvPr/>
            </p:nvPicPr>
            <p:blipFill>
              <a:blip r:embed="rId6"/>
              <a:srcRect l="50099" t="1200"/>
              <a:stretch>
                <a:fillRect/>
              </a:stretch>
            </p:blipFill>
            <p:spPr>
              <a:xfrm>
                <a:off x="777" y="2909"/>
                <a:ext cx="2548" cy="2499"/>
              </a:xfrm>
              <a:prstGeom prst="rect">
                <a:avLst/>
              </a:prstGeom>
            </p:spPr>
          </p:pic>
          <p:pic>
            <p:nvPicPr>
              <p:cNvPr id="17" name="图片 16" descr="LiLandi.jpg sketch+0.3"/>
              <p:cNvPicPr>
                <a:picLocks noChangeAspect="1"/>
              </p:cNvPicPr>
              <p:nvPr/>
            </p:nvPicPr>
            <p:blipFill>
              <a:blip r:embed="rId7"/>
              <a:srcRect l="50030" t="60"/>
              <a:stretch>
                <a:fillRect/>
              </a:stretch>
            </p:blipFill>
            <p:spPr>
              <a:xfrm>
                <a:off x="3323" y="2897"/>
                <a:ext cx="2538" cy="2515"/>
              </a:xfrm>
              <a:prstGeom prst="rect">
                <a:avLst/>
              </a:prstGeom>
            </p:spPr>
          </p:pic>
          <p:pic>
            <p:nvPicPr>
              <p:cNvPr id="18" name="图片 17" descr="LiLandi.jpg sketch+0.4"/>
              <p:cNvPicPr>
                <a:picLocks noChangeAspect="1"/>
              </p:cNvPicPr>
              <p:nvPr/>
            </p:nvPicPr>
            <p:blipFill>
              <a:blip r:embed="rId8"/>
              <a:srcRect l="50115"/>
              <a:stretch>
                <a:fillRect/>
              </a:stretch>
            </p:blipFill>
            <p:spPr>
              <a:xfrm>
                <a:off x="5866" y="2903"/>
                <a:ext cx="2564" cy="2546"/>
              </a:xfrm>
              <a:prstGeom prst="rect">
                <a:avLst/>
              </a:prstGeom>
            </p:spPr>
          </p:pic>
          <p:pic>
            <p:nvPicPr>
              <p:cNvPr id="19" name="图片 18" descr="LiLandi.jpg sketch+0.5"/>
              <p:cNvPicPr>
                <a:picLocks noChangeAspect="1"/>
              </p:cNvPicPr>
              <p:nvPr/>
            </p:nvPicPr>
            <p:blipFill>
              <a:blip r:embed="rId9"/>
              <a:srcRect l="49529" t="1062"/>
              <a:stretch>
                <a:fillRect/>
              </a:stretch>
            </p:blipFill>
            <p:spPr>
              <a:xfrm>
                <a:off x="8435" y="2893"/>
                <a:ext cx="2641" cy="2564"/>
              </a:xfrm>
              <a:prstGeom prst="rect">
                <a:avLst/>
              </a:prstGeom>
            </p:spPr>
          </p:pic>
          <p:pic>
            <p:nvPicPr>
              <p:cNvPr id="20" name="图片 19" descr="LiLandi.jpg sketch+0.6"/>
              <p:cNvPicPr>
                <a:picLocks noChangeAspect="1"/>
              </p:cNvPicPr>
              <p:nvPr/>
            </p:nvPicPr>
            <p:blipFill>
              <a:blip r:embed="rId10"/>
              <a:srcRect l="50115" r="-151"/>
              <a:stretch>
                <a:fillRect/>
              </a:stretch>
            </p:blipFill>
            <p:spPr>
              <a:xfrm>
                <a:off x="11147" y="2908"/>
                <a:ext cx="2586" cy="2559"/>
              </a:xfrm>
              <a:prstGeom prst="rect">
                <a:avLst/>
              </a:prstGeom>
            </p:spPr>
          </p:pic>
          <p:pic>
            <p:nvPicPr>
              <p:cNvPr id="21" name="图片 20" descr="LiLandi.jpg sketch+0.7"/>
              <p:cNvPicPr>
                <a:picLocks noChangeAspect="1"/>
              </p:cNvPicPr>
              <p:nvPr/>
            </p:nvPicPr>
            <p:blipFill>
              <a:blip r:embed="rId11"/>
              <a:srcRect l="49885"/>
              <a:stretch>
                <a:fillRect/>
              </a:stretch>
            </p:blipFill>
            <p:spPr>
              <a:xfrm>
                <a:off x="13740" y="2908"/>
                <a:ext cx="2590" cy="2560"/>
              </a:xfrm>
              <a:prstGeom prst="rect">
                <a:avLst/>
              </a:prstGeom>
            </p:spPr>
          </p:pic>
          <p:pic>
            <p:nvPicPr>
              <p:cNvPr id="22" name="图片 21" descr="LiLandi.jpg sketch+0.8"/>
              <p:cNvPicPr>
                <a:picLocks noChangeAspect="1"/>
              </p:cNvPicPr>
              <p:nvPr/>
            </p:nvPicPr>
            <p:blipFill>
              <a:blip r:embed="rId12"/>
              <a:srcRect l="50266"/>
              <a:stretch>
                <a:fillRect/>
              </a:stretch>
            </p:blipFill>
            <p:spPr>
              <a:xfrm>
                <a:off x="16360" y="2901"/>
                <a:ext cx="2590" cy="2579"/>
              </a:xfrm>
              <a:prstGeom prst="rect">
                <a:avLst/>
              </a:prstGeom>
            </p:spPr>
          </p:pic>
        </p:grpSp>
        <p:grpSp>
          <p:nvGrpSpPr>
            <p:cNvPr id="38" name="组合 37"/>
            <p:cNvGrpSpPr/>
            <p:nvPr/>
          </p:nvGrpSpPr>
          <p:grpSpPr>
            <a:xfrm>
              <a:off x="922" y="6888"/>
              <a:ext cx="17774" cy="660"/>
              <a:chOff x="922" y="6888"/>
              <a:chExt cx="17774" cy="660"/>
            </a:xfrm>
          </p:grpSpPr>
          <p:sp>
            <p:nvSpPr>
              <p:cNvPr id="29" name="文本框 28"/>
              <p:cNvSpPr txBox="1"/>
              <p:nvPr/>
            </p:nvSpPr>
            <p:spPr>
              <a:xfrm>
                <a:off x="922" y="6888"/>
                <a:ext cx="2148" cy="626"/>
              </a:xfrm>
              <a:prstGeom prst="rect">
                <a:avLst/>
              </a:prstGeom>
              <a:noFill/>
            </p:spPr>
            <p:txBody>
              <a:bodyPr wrap="square" rtlCol="0">
                <a:noAutofit/>
              </a:bodyPr>
              <a:lstStyle/>
              <a:p>
                <a:r>
                  <a:rPr lang="en-US" altLang="zh-CN">
                    <a:latin typeface="Times New Roman" panose="02020503050405090304" charset="0"/>
                    <a:cs typeface="Times New Roman" panose="02020503050405090304" charset="0"/>
                  </a:rPr>
                  <a:t>Sketch+0.2</a:t>
                </a:r>
              </a:p>
            </p:txBody>
          </p:sp>
          <p:sp>
            <p:nvSpPr>
              <p:cNvPr id="30" name="文本框 29"/>
              <p:cNvSpPr txBox="1"/>
              <p:nvPr/>
            </p:nvSpPr>
            <p:spPr>
              <a:xfrm>
                <a:off x="3437" y="6888"/>
                <a:ext cx="2148" cy="626"/>
              </a:xfrm>
              <a:prstGeom prst="rect">
                <a:avLst/>
              </a:prstGeom>
              <a:noFill/>
            </p:spPr>
            <p:txBody>
              <a:bodyPr wrap="square" rtlCol="0">
                <a:noAutofit/>
              </a:bodyPr>
              <a:lstStyle/>
              <a:p>
                <a:r>
                  <a:rPr lang="en-US" altLang="zh-CN">
                    <a:latin typeface="Times New Roman" panose="02020503050405090304" charset="0"/>
                    <a:cs typeface="Times New Roman" panose="02020503050405090304" charset="0"/>
                  </a:rPr>
                  <a:t>Sketch+0.3</a:t>
                </a:r>
              </a:p>
            </p:txBody>
          </p:sp>
          <p:sp>
            <p:nvSpPr>
              <p:cNvPr id="31" name="文本框 30"/>
              <p:cNvSpPr txBox="1"/>
              <p:nvPr/>
            </p:nvSpPr>
            <p:spPr>
              <a:xfrm>
                <a:off x="5952" y="6888"/>
                <a:ext cx="2148" cy="626"/>
              </a:xfrm>
              <a:prstGeom prst="rect">
                <a:avLst/>
              </a:prstGeom>
              <a:noFill/>
            </p:spPr>
            <p:txBody>
              <a:bodyPr wrap="square" rtlCol="0">
                <a:noAutofit/>
              </a:bodyPr>
              <a:lstStyle/>
              <a:p>
                <a:r>
                  <a:rPr lang="en-US" altLang="zh-CN">
                    <a:latin typeface="Times New Roman" panose="02020503050405090304" charset="0"/>
                    <a:cs typeface="Times New Roman" panose="02020503050405090304" charset="0"/>
                  </a:rPr>
                  <a:t>Sketch+0.4</a:t>
                </a:r>
              </a:p>
            </p:txBody>
          </p:sp>
          <p:sp>
            <p:nvSpPr>
              <p:cNvPr id="32" name="文本框 31"/>
              <p:cNvSpPr txBox="1"/>
              <p:nvPr/>
            </p:nvSpPr>
            <p:spPr>
              <a:xfrm>
                <a:off x="8601" y="6888"/>
                <a:ext cx="2148" cy="626"/>
              </a:xfrm>
              <a:prstGeom prst="rect">
                <a:avLst/>
              </a:prstGeom>
              <a:noFill/>
            </p:spPr>
            <p:txBody>
              <a:bodyPr wrap="square" rtlCol="0">
                <a:noAutofit/>
              </a:bodyPr>
              <a:lstStyle/>
              <a:p>
                <a:r>
                  <a:rPr lang="en-US" altLang="zh-CN">
                    <a:latin typeface="Times New Roman" panose="02020503050405090304" charset="0"/>
                    <a:cs typeface="Times New Roman" panose="02020503050405090304" charset="0"/>
                  </a:rPr>
                  <a:t>Sketch+0.5</a:t>
                </a:r>
              </a:p>
            </p:txBody>
          </p:sp>
          <p:sp>
            <p:nvSpPr>
              <p:cNvPr id="33" name="文本框 32"/>
              <p:cNvSpPr txBox="1"/>
              <p:nvPr/>
            </p:nvSpPr>
            <p:spPr>
              <a:xfrm>
                <a:off x="11250" y="6888"/>
                <a:ext cx="2148" cy="626"/>
              </a:xfrm>
              <a:prstGeom prst="rect">
                <a:avLst/>
              </a:prstGeom>
              <a:noFill/>
            </p:spPr>
            <p:txBody>
              <a:bodyPr wrap="square" rtlCol="0">
                <a:noAutofit/>
              </a:bodyPr>
              <a:lstStyle/>
              <a:p>
                <a:r>
                  <a:rPr lang="en-US" altLang="zh-CN">
                    <a:latin typeface="Times New Roman" panose="02020503050405090304" charset="0"/>
                    <a:cs typeface="Times New Roman" panose="02020503050405090304" charset="0"/>
                  </a:rPr>
                  <a:t>Sketch+0.6</a:t>
                </a:r>
              </a:p>
            </p:txBody>
          </p:sp>
          <p:sp>
            <p:nvSpPr>
              <p:cNvPr id="34" name="文本框 33"/>
              <p:cNvSpPr txBox="1"/>
              <p:nvPr/>
            </p:nvSpPr>
            <p:spPr>
              <a:xfrm>
                <a:off x="13899" y="6888"/>
                <a:ext cx="2148" cy="626"/>
              </a:xfrm>
              <a:prstGeom prst="rect">
                <a:avLst/>
              </a:prstGeom>
              <a:noFill/>
            </p:spPr>
            <p:txBody>
              <a:bodyPr wrap="square" rtlCol="0">
                <a:noAutofit/>
              </a:bodyPr>
              <a:lstStyle/>
              <a:p>
                <a:r>
                  <a:rPr lang="en-US" altLang="zh-CN">
                    <a:latin typeface="Times New Roman" panose="02020503050405090304" charset="0"/>
                    <a:cs typeface="Times New Roman" panose="02020503050405090304" charset="0"/>
                  </a:rPr>
                  <a:t>Sketch+0.7</a:t>
                </a:r>
              </a:p>
            </p:txBody>
          </p:sp>
          <p:sp>
            <p:nvSpPr>
              <p:cNvPr id="36" name="文本框 35"/>
              <p:cNvSpPr txBox="1"/>
              <p:nvPr/>
            </p:nvSpPr>
            <p:spPr>
              <a:xfrm>
                <a:off x="16548" y="6922"/>
                <a:ext cx="2148" cy="626"/>
              </a:xfrm>
              <a:prstGeom prst="rect">
                <a:avLst/>
              </a:prstGeom>
              <a:noFill/>
            </p:spPr>
            <p:txBody>
              <a:bodyPr wrap="square" rtlCol="0">
                <a:noAutofit/>
              </a:bodyPr>
              <a:lstStyle/>
              <a:p>
                <a:r>
                  <a:rPr lang="en-US" altLang="zh-CN">
                    <a:latin typeface="Times New Roman" panose="02020503050405090304" charset="0"/>
                    <a:cs typeface="Times New Roman" panose="02020503050405090304" charset="0"/>
                  </a:rPr>
                  <a:t>Sketch+0.8</a:t>
                </a:r>
              </a:p>
            </p:txBody>
          </p:sp>
        </p:grpSp>
      </p:grpSp>
      <p:sp>
        <p:nvSpPr>
          <p:cNvPr id="37" name="文本框 36"/>
          <p:cNvSpPr txBox="1"/>
          <p:nvPr/>
        </p:nvSpPr>
        <p:spPr>
          <a:xfrm>
            <a:off x="6547485" y="2160739"/>
            <a:ext cx="1470025" cy="472440"/>
          </a:xfrm>
          <a:prstGeom prst="rect">
            <a:avLst/>
          </a:prstGeom>
          <a:noFill/>
        </p:spPr>
        <p:txBody>
          <a:bodyPr wrap="square" rtlCol="0">
            <a:noAutofit/>
          </a:bodyPr>
          <a:lstStyle/>
          <a:p>
            <a:r>
              <a:rPr lang="en-US" altLang="zh-CN" sz="2000" dirty="0">
                <a:latin typeface="Times New Roman" panose="02020503050405090304" charset="0"/>
                <a:cs typeface="Times New Roman" panose="02020503050405090304" charset="0"/>
              </a:rPr>
              <a:t>Input Image</a:t>
            </a:r>
          </a:p>
        </p:txBody>
      </p:sp>
      <p:sp>
        <p:nvSpPr>
          <p:cNvPr id="3" name="文本框 2"/>
          <p:cNvSpPr txBox="1"/>
          <p:nvPr/>
        </p:nvSpPr>
        <p:spPr>
          <a:xfrm>
            <a:off x="441960" y="1132205"/>
            <a:ext cx="4064000" cy="460375"/>
          </a:xfrm>
          <a:prstGeom prst="rect">
            <a:avLst/>
          </a:prstGeom>
          <a:noFill/>
        </p:spPr>
        <p:txBody>
          <a:bodyPr wrap="square" rtlCol="0">
            <a:spAutoFit/>
          </a:bodyPr>
          <a:lstStyle/>
          <a:p>
            <a:r>
              <a:rPr lang="en-US" altLang="zh-CN" sz="2400">
                <a:latin typeface="Times New Roman" panose="02020503050405090304" charset="0"/>
                <a:cs typeface="Times New Roman" panose="02020503050405090304" charset="0"/>
              </a:rPr>
              <a:t>Change the self_ratio of 0.2-0.8</a:t>
            </a:r>
          </a:p>
        </p:txBody>
      </p:sp>
      <p:sp>
        <p:nvSpPr>
          <p:cNvPr id="8" name="灯片编号占位符 7">
            <a:extLst>
              <a:ext uri="{FF2B5EF4-FFF2-40B4-BE49-F238E27FC236}">
                <a16:creationId xmlns:a16="http://schemas.microsoft.com/office/drawing/2014/main" id="{C9F3B6C5-C1A9-FF1A-1ABF-8AE1A8E4E327}"/>
              </a:ext>
            </a:extLst>
          </p:cNvPr>
          <p:cNvSpPr>
            <a:spLocks noGrp="1"/>
          </p:cNvSpPr>
          <p:nvPr>
            <p:ph type="sldNum" sz="quarter" idx="12"/>
          </p:nvPr>
        </p:nvSpPr>
        <p:spPr/>
        <p:txBody>
          <a:bodyPr/>
          <a:lstStyle/>
          <a:p>
            <a:fld id="{E6518835-16E6-9244-9C02-6BFB876E5D3C}" type="slidenum">
              <a:rPr kumimoji="1" lang="zh-CN" altLang="en-US" smtClean="0"/>
              <a:t>33</a:t>
            </a:fld>
            <a:endParaRPr kumimoji="1"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 name="PA-直接连接符 17"/>
          <p:cNvCxnSpPr/>
          <p:nvPr>
            <p:custDataLst>
              <p:tags r:id="rId1"/>
            </p:custDataLst>
          </p:nvPr>
        </p:nvCxnSpPr>
        <p:spPr>
          <a:xfrm>
            <a:off x="441777" y="1675856"/>
            <a:ext cx="4084955"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grpSp>
        <p:nvGrpSpPr>
          <p:cNvPr id="24" name="组合 23"/>
          <p:cNvGrpSpPr/>
          <p:nvPr/>
        </p:nvGrpSpPr>
        <p:grpSpPr>
          <a:xfrm>
            <a:off x="370072" y="219176"/>
            <a:ext cx="2150839" cy="449040"/>
            <a:chOff x="2085654" y="644950"/>
            <a:chExt cx="7772400" cy="1622679"/>
          </a:xfrm>
        </p:grpSpPr>
        <p:pic>
          <p:nvPicPr>
            <p:cNvPr id="25" name="图片 24"/>
            <p:cNvPicPr>
              <a:picLocks noChangeAspect="1"/>
            </p:cNvPicPr>
            <p:nvPr/>
          </p:nvPicPr>
          <p:blipFill rotWithShape="1">
            <a:blip r:embed="rId3"/>
            <a:srcRect r="78982"/>
            <a:stretch>
              <a:fillRect/>
            </a:stretch>
          </p:blipFill>
          <p:spPr>
            <a:xfrm>
              <a:off x="2085654" y="644950"/>
              <a:ext cx="1633591" cy="1622679"/>
            </a:xfrm>
            <a:prstGeom prst="rect">
              <a:avLst/>
            </a:prstGeom>
          </p:spPr>
        </p:pic>
        <p:pic>
          <p:nvPicPr>
            <p:cNvPr id="26" name="图片 25"/>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Lst>
            </a:blip>
            <a:srcRect l="23530"/>
            <a:stretch>
              <a:fillRect/>
            </a:stretch>
          </p:blipFill>
          <p:spPr>
            <a:xfrm>
              <a:off x="3914454" y="644950"/>
              <a:ext cx="5943600" cy="1622679"/>
            </a:xfrm>
            <a:prstGeom prst="rect">
              <a:avLst/>
            </a:prstGeom>
          </p:spPr>
        </p:pic>
      </p:grpSp>
      <p:sp>
        <p:nvSpPr>
          <p:cNvPr id="10" name="圆角矩形 9"/>
          <p:cNvSpPr/>
          <p:nvPr/>
        </p:nvSpPr>
        <p:spPr>
          <a:xfrm>
            <a:off x="10097135" y="0"/>
            <a:ext cx="1936115"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6" name="组合 15"/>
          <p:cNvGrpSpPr/>
          <p:nvPr/>
        </p:nvGrpSpPr>
        <p:grpSpPr>
          <a:xfrm>
            <a:off x="2045970" y="157480"/>
            <a:ext cx="9709150" cy="891540"/>
            <a:chOff x="3222" y="248"/>
            <a:chExt cx="15290" cy="1404"/>
          </a:xfrm>
        </p:grpSpPr>
        <p:grpSp>
          <p:nvGrpSpPr>
            <p:cNvPr id="5" name="组合 4"/>
            <p:cNvGrpSpPr/>
            <p:nvPr/>
          </p:nvGrpSpPr>
          <p:grpSpPr>
            <a:xfrm>
              <a:off x="3222" y="248"/>
              <a:ext cx="15290" cy="1404"/>
              <a:chOff x="3210" y="264"/>
              <a:chExt cx="15290" cy="1404"/>
            </a:xfrm>
          </p:grpSpPr>
          <p:sp>
            <p:nvSpPr>
              <p:cNvPr id="44" name="文本框 43"/>
              <p:cNvSpPr txBox="1"/>
              <p:nvPr/>
            </p:nvSpPr>
            <p:spPr>
              <a:xfrm>
                <a:off x="12362" y="334"/>
                <a:ext cx="2734" cy="825"/>
              </a:xfrm>
              <a:prstGeom prst="rect">
                <a:avLst/>
              </a:prstGeom>
              <a:noFill/>
            </p:spPr>
            <p:txBody>
              <a:bodyPr vert="horz" wrap="none" rtlCol="0">
                <a:noAutofit/>
              </a:bodyPr>
              <a:lstStyle/>
              <a:p>
                <a:pPr algn="ctr"/>
                <a:r>
                  <a:rPr kumimoji="1" lang="en-US" altLang="zh-CN" sz="2000" b="1" spc="300" dirty="0">
                    <a:solidFill>
                      <a:schemeClr val="bg1"/>
                    </a:solidFill>
                    <a:latin typeface="Times New Roman" panose="02020503050405090304" charset="0"/>
                    <a:ea typeface="微软雅黑" panose="020B0503020204020204" pitchFamily="34" charset="-122"/>
                    <a:cs typeface="Times New Roman" panose="02020503050405090304" charset="0"/>
                  </a:rPr>
                  <a:t>Methods</a:t>
                </a:r>
              </a:p>
            </p:txBody>
          </p:sp>
          <p:sp>
            <p:nvSpPr>
              <p:cNvPr id="7" name="文本框 6"/>
              <p:cNvSpPr txBox="1"/>
              <p:nvPr/>
            </p:nvSpPr>
            <p:spPr>
              <a:xfrm>
                <a:off x="3210" y="264"/>
                <a:ext cx="4785" cy="1404"/>
              </a:xfrm>
              <a:prstGeom prst="rect">
                <a:avLst/>
              </a:prstGeom>
              <a:noFill/>
            </p:spPr>
            <p:txBody>
              <a:bodyPr vert="horz" wrap="square" rtlCol="0">
                <a:spAutoFit/>
              </a:bodyPr>
              <a:lstStyle/>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Background </a:t>
                </a:r>
              </a:p>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&amp; Significance</a:t>
                </a: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a:p>
                <a:pPr algn="ct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p:txBody>
          </p:sp>
          <p:sp>
            <p:nvSpPr>
              <p:cNvPr id="6" name="文本框 5"/>
              <p:cNvSpPr txBox="1"/>
              <p:nvPr/>
            </p:nvSpPr>
            <p:spPr>
              <a:xfrm>
                <a:off x="16352" y="350"/>
                <a:ext cx="2148" cy="628"/>
              </a:xfrm>
              <a:prstGeom prst="rect">
                <a:avLst/>
              </a:prstGeom>
              <a:noFill/>
            </p:spPr>
            <p:txBody>
              <a:bodyPr vert="horz" wrap="square" rtlCol="0">
                <a:spAutoFit/>
              </a:bodyPr>
              <a:lstStyle/>
              <a:p>
                <a:pPr algn="ctr"/>
                <a:r>
                  <a:rPr kumimoji="1" lang="en-US" altLang="zh-CN" sz="2000" b="1" spc="300" dirty="0">
                    <a:solidFill>
                      <a:srgbClr val="006BC0"/>
                    </a:solidFill>
                    <a:latin typeface="Times New Roman" panose="02020503050405090304" charset="0"/>
                    <a:ea typeface="微软雅黑" panose="020B0503020204020204" pitchFamily="34" charset="-122"/>
                    <a:cs typeface="Times New Roman" panose="02020503050405090304" charset="0"/>
                  </a:rPr>
                  <a:t>Results</a:t>
                </a:r>
              </a:p>
            </p:txBody>
          </p:sp>
        </p:grpSp>
        <p:sp>
          <p:nvSpPr>
            <p:cNvPr id="14" name="文本框 13"/>
            <p:cNvSpPr txBox="1"/>
            <p:nvPr/>
          </p:nvSpPr>
          <p:spPr>
            <a:xfrm>
              <a:off x="8703" y="318"/>
              <a:ext cx="2878" cy="630"/>
            </a:xfrm>
            <a:prstGeom prst="rect">
              <a:avLst/>
            </a:prstGeom>
            <a:noFill/>
          </p:spPr>
          <p:txBody>
            <a:bodyPr vert="horz" wrap="none" rtlCol="0">
              <a:spAutoFit/>
            </a:bodyPr>
            <a:lstStyle/>
            <a:p>
              <a:pPr algn="ctr"/>
              <a:r>
                <a:rPr kumimoji="1" lang="en-US" altLang="zh-CN" sz="2000" b="1" spc="300" dirty="0">
                  <a:solidFill>
                    <a:schemeClr val="bg1"/>
                  </a:solidFill>
                  <a:latin typeface="Times New Roman" panose="02020503050405090304" charset="0"/>
                  <a:ea typeface="微软雅黑" panose="020B0503020204020204" pitchFamily="34" charset="-122"/>
                  <a:cs typeface="Times New Roman" panose="02020503050405090304" charset="0"/>
                </a:rPr>
                <a:t>Framework</a:t>
              </a:r>
            </a:p>
          </p:txBody>
        </p:sp>
      </p:grpSp>
      <p:sp>
        <p:nvSpPr>
          <p:cNvPr id="13" name="文本框 12"/>
          <p:cNvSpPr txBox="1"/>
          <p:nvPr/>
        </p:nvSpPr>
        <p:spPr>
          <a:xfrm>
            <a:off x="441960" y="1132205"/>
            <a:ext cx="4064000" cy="460375"/>
          </a:xfrm>
          <a:prstGeom prst="rect">
            <a:avLst/>
          </a:prstGeom>
          <a:noFill/>
        </p:spPr>
        <p:txBody>
          <a:bodyPr wrap="square" rtlCol="0">
            <a:spAutoFit/>
          </a:bodyPr>
          <a:lstStyle/>
          <a:p>
            <a:r>
              <a:rPr lang="en-US" altLang="zh-CN" sz="2400">
                <a:latin typeface="Times New Roman" panose="02020503050405090304" charset="0"/>
                <a:cs typeface="Times New Roman" panose="02020503050405090304" charset="0"/>
              </a:rPr>
              <a:t>Change the self_ratio of 0.2-0.8</a:t>
            </a:r>
          </a:p>
        </p:txBody>
      </p:sp>
      <p:pic>
        <p:nvPicPr>
          <p:cNvPr id="23" name="图片 22" descr="LiLandi.jpg sketch+0.2"/>
          <p:cNvPicPr>
            <a:picLocks noChangeAspect="1"/>
          </p:cNvPicPr>
          <p:nvPr/>
        </p:nvPicPr>
        <p:blipFill>
          <a:blip r:embed="rId6"/>
          <a:srcRect r="49762"/>
          <a:stretch>
            <a:fillRect/>
          </a:stretch>
        </p:blipFill>
        <p:spPr>
          <a:xfrm>
            <a:off x="4721860" y="1691703"/>
            <a:ext cx="1609725" cy="1586865"/>
          </a:xfrm>
          <a:prstGeom prst="rect">
            <a:avLst/>
          </a:prstGeom>
        </p:spPr>
      </p:pic>
      <p:sp>
        <p:nvSpPr>
          <p:cNvPr id="37" name="文本框 36"/>
          <p:cNvSpPr txBox="1"/>
          <p:nvPr/>
        </p:nvSpPr>
        <p:spPr>
          <a:xfrm>
            <a:off x="6547485" y="2110740"/>
            <a:ext cx="1470025" cy="472440"/>
          </a:xfrm>
          <a:prstGeom prst="rect">
            <a:avLst/>
          </a:prstGeom>
          <a:noFill/>
        </p:spPr>
        <p:txBody>
          <a:bodyPr wrap="square" rtlCol="0">
            <a:noAutofit/>
          </a:bodyPr>
          <a:lstStyle/>
          <a:p>
            <a:r>
              <a:rPr lang="en-US" altLang="zh-CN" sz="2000" dirty="0">
                <a:latin typeface="Times New Roman" panose="02020503050405090304" charset="0"/>
                <a:cs typeface="Times New Roman" panose="02020503050405090304" charset="0"/>
              </a:rPr>
              <a:t>Input Image</a:t>
            </a:r>
          </a:p>
        </p:txBody>
      </p:sp>
      <p:grpSp>
        <p:nvGrpSpPr>
          <p:cNvPr id="15" name="组合 14"/>
          <p:cNvGrpSpPr/>
          <p:nvPr/>
        </p:nvGrpSpPr>
        <p:grpSpPr>
          <a:xfrm>
            <a:off x="287655" y="3587178"/>
            <a:ext cx="11648440" cy="2149475"/>
            <a:chOff x="453" y="4782"/>
            <a:chExt cx="18344" cy="3385"/>
          </a:xfrm>
        </p:grpSpPr>
        <p:grpSp>
          <p:nvGrpSpPr>
            <p:cNvPr id="38" name="组合 37"/>
            <p:cNvGrpSpPr/>
            <p:nvPr/>
          </p:nvGrpSpPr>
          <p:grpSpPr>
            <a:xfrm>
              <a:off x="471" y="7341"/>
              <a:ext cx="18327" cy="826"/>
              <a:chOff x="584" y="6888"/>
              <a:chExt cx="18327" cy="826"/>
            </a:xfrm>
          </p:grpSpPr>
          <p:sp>
            <p:nvSpPr>
              <p:cNvPr id="29" name="文本框 28"/>
              <p:cNvSpPr txBox="1"/>
              <p:nvPr/>
            </p:nvSpPr>
            <p:spPr>
              <a:xfrm>
                <a:off x="584" y="6888"/>
                <a:ext cx="2534" cy="8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Expressionism+0.2</a:t>
                </a:r>
              </a:p>
            </p:txBody>
          </p:sp>
          <p:sp>
            <p:nvSpPr>
              <p:cNvPr id="30" name="文本框 29"/>
              <p:cNvSpPr txBox="1"/>
              <p:nvPr/>
            </p:nvSpPr>
            <p:spPr>
              <a:xfrm>
                <a:off x="3128" y="6888"/>
                <a:ext cx="2530"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Expressionism+0.3</a:t>
                </a:r>
              </a:p>
            </p:txBody>
          </p:sp>
          <p:sp>
            <p:nvSpPr>
              <p:cNvPr id="31" name="文本框 30"/>
              <p:cNvSpPr txBox="1"/>
              <p:nvPr/>
            </p:nvSpPr>
            <p:spPr>
              <a:xfrm>
                <a:off x="5763" y="6888"/>
                <a:ext cx="2530"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Expressionism+0.4</a:t>
                </a:r>
              </a:p>
            </p:txBody>
          </p:sp>
          <p:sp>
            <p:nvSpPr>
              <p:cNvPr id="32" name="文本框 31"/>
              <p:cNvSpPr txBox="1"/>
              <p:nvPr/>
            </p:nvSpPr>
            <p:spPr>
              <a:xfrm>
                <a:off x="8364" y="6888"/>
                <a:ext cx="2575"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Expressionism+0.5</a:t>
                </a:r>
              </a:p>
            </p:txBody>
          </p:sp>
          <p:sp>
            <p:nvSpPr>
              <p:cNvPr id="33" name="文本框 32"/>
              <p:cNvSpPr txBox="1"/>
              <p:nvPr/>
            </p:nvSpPr>
            <p:spPr>
              <a:xfrm>
                <a:off x="10959" y="6888"/>
                <a:ext cx="2605"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Expressionism+0.6</a:t>
                </a:r>
              </a:p>
            </p:txBody>
          </p:sp>
          <p:sp>
            <p:nvSpPr>
              <p:cNvPr id="34" name="文本框 33"/>
              <p:cNvSpPr txBox="1"/>
              <p:nvPr/>
            </p:nvSpPr>
            <p:spPr>
              <a:xfrm>
                <a:off x="13669" y="6888"/>
                <a:ext cx="2531"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Expressionism+0.7</a:t>
                </a:r>
              </a:p>
            </p:txBody>
          </p:sp>
          <p:sp>
            <p:nvSpPr>
              <p:cNvPr id="36" name="文本框 35"/>
              <p:cNvSpPr txBox="1"/>
              <p:nvPr/>
            </p:nvSpPr>
            <p:spPr>
              <a:xfrm>
                <a:off x="16306" y="6922"/>
                <a:ext cx="2605"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Expressionism+0.8</a:t>
                </a:r>
              </a:p>
            </p:txBody>
          </p:sp>
        </p:grpSp>
        <p:grpSp>
          <p:nvGrpSpPr>
            <p:cNvPr id="41" name="组合 40"/>
            <p:cNvGrpSpPr/>
            <p:nvPr/>
          </p:nvGrpSpPr>
          <p:grpSpPr>
            <a:xfrm>
              <a:off x="453" y="4782"/>
              <a:ext cx="18320" cy="2567"/>
              <a:chOff x="453" y="4782"/>
              <a:chExt cx="18320" cy="2567"/>
            </a:xfrm>
          </p:grpSpPr>
          <p:pic>
            <p:nvPicPr>
              <p:cNvPr id="3" name="图片 2" descr="LiLandi.jpg expressionism+0.2"/>
              <p:cNvPicPr>
                <a:picLocks noChangeAspect="1"/>
              </p:cNvPicPr>
              <p:nvPr/>
            </p:nvPicPr>
            <p:blipFill>
              <a:blip r:embed="rId7"/>
              <a:srcRect l="50099" t="-126"/>
              <a:stretch>
                <a:fillRect/>
              </a:stretch>
            </p:blipFill>
            <p:spPr>
              <a:xfrm>
                <a:off x="453" y="4812"/>
                <a:ext cx="2546" cy="2529"/>
              </a:xfrm>
              <a:prstGeom prst="rect">
                <a:avLst/>
              </a:prstGeom>
            </p:spPr>
          </p:pic>
          <p:pic>
            <p:nvPicPr>
              <p:cNvPr id="9" name="图片 8" descr="LiLandi.jpg expressionism+0.3"/>
              <p:cNvPicPr>
                <a:picLocks noChangeAspect="1"/>
              </p:cNvPicPr>
              <p:nvPr/>
            </p:nvPicPr>
            <p:blipFill>
              <a:blip r:embed="rId8"/>
              <a:srcRect l="50007" t="-30"/>
              <a:stretch>
                <a:fillRect/>
              </a:stretch>
            </p:blipFill>
            <p:spPr>
              <a:xfrm>
                <a:off x="3044" y="4811"/>
                <a:ext cx="2552" cy="2530"/>
              </a:xfrm>
              <a:prstGeom prst="rect">
                <a:avLst/>
              </a:prstGeom>
            </p:spPr>
          </p:pic>
          <p:pic>
            <p:nvPicPr>
              <p:cNvPr id="11" name="图片 10" descr="LiLandi.jpg expressionism+0.4"/>
              <p:cNvPicPr>
                <a:picLocks noChangeAspect="1"/>
              </p:cNvPicPr>
              <p:nvPr/>
            </p:nvPicPr>
            <p:blipFill>
              <a:blip r:embed="rId9"/>
              <a:srcRect l="49680" t="-761"/>
              <a:stretch>
                <a:fillRect/>
              </a:stretch>
            </p:blipFill>
            <p:spPr>
              <a:xfrm>
                <a:off x="5596" y="4787"/>
                <a:ext cx="2584" cy="2563"/>
              </a:xfrm>
              <a:prstGeom prst="rect">
                <a:avLst/>
              </a:prstGeom>
            </p:spPr>
          </p:pic>
          <p:pic>
            <p:nvPicPr>
              <p:cNvPr id="12" name="图片 11" descr="LiLandi.jpg expressionism+0.5"/>
              <p:cNvPicPr>
                <a:picLocks noChangeAspect="1"/>
              </p:cNvPicPr>
              <p:nvPr/>
            </p:nvPicPr>
            <p:blipFill>
              <a:blip r:embed="rId10"/>
              <a:srcRect l="50122" t="590"/>
              <a:stretch>
                <a:fillRect/>
              </a:stretch>
            </p:blipFill>
            <p:spPr>
              <a:xfrm>
                <a:off x="8230" y="4788"/>
                <a:ext cx="2590" cy="2556"/>
              </a:xfrm>
              <a:prstGeom prst="rect">
                <a:avLst/>
              </a:prstGeom>
            </p:spPr>
          </p:pic>
          <p:pic>
            <p:nvPicPr>
              <p:cNvPr id="27" name="图片 26" descr="LiLandi.jpg expressionism+0.6"/>
              <p:cNvPicPr>
                <a:picLocks noChangeAspect="1"/>
              </p:cNvPicPr>
              <p:nvPr/>
            </p:nvPicPr>
            <p:blipFill>
              <a:blip r:embed="rId11"/>
              <a:srcRect l="49855" t="1092"/>
              <a:stretch>
                <a:fillRect/>
              </a:stretch>
            </p:blipFill>
            <p:spPr>
              <a:xfrm>
                <a:off x="10870" y="4787"/>
                <a:ext cx="2606" cy="2545"/>
              </a:xfrm>
              <a:prstGeom prst="rect">
                <a:avLst/>
              </a:prstGeom>
            </p:spPr>
          </p:pic>
          <p:pic>
            <p:nvPicPr>
              <p:cNvPr id="35" name="图片 34" descr="LiLandi.jpg expressionism+0.7"/>
              <p:cNvPicPr>
                <a:picLocks noChangeAspect="1"/>
              </p:cNvPicPr>
              <p:nvPr/>
            </p:nvPicPr>
            <p:blipFill>
              <a:blip r:embed="rId12"/>
              <a:srcRect l="50164" t="920"/>
              <a:stretch>
                <a:fillRect/>
              </a:stretch>
            </p:blipFill>
            <p:spPr>
              <a:xfrm>
                <a:off x="13526" y="4782"/>
                <a:ext cx="2591" cy="2550"/>
              </a:xfrm>
              <a:prstGeom prst="rect">
                <a:avLst/>
              </a:prstGeom>
            </p:spPr>
          </p:pic>
          <p:pic>
            <p:nvPicPr>
              <p:cNvPr id="40" name="图片 39" descr="LiLandi.jpg expressionism+0.8"/>
              <p:cNvPicPr>
                <a:picLocks noChangeAspect="1"/>
              </p:cNvPicPr>
              <p:nvPr/>
            </p:nvPicPr>
            <p:blipFill>
              <a:blip r:embed="rId13"/>
              <a:srcRect l="49769" t="289"/>
              <a:stretch>
                <a:fillRect/>
              </a:stretch>
            </p:blipFill>
            <p:spPr>
              <a:xfrm>
                <a:off x="16167" y="4782"/>
                <a:ext cx="2606" cy="2562"/>
              </a:xfrm>
              <a:prstGeom prst="rect">
                <a:avLst/>
              </a:prstGeom>
            </p:spPr>
          </p:pic>
        </p:grpSp>
      </p:grpSp>
      <p:sp>
        <p:nvSpPr>
          <p:cNvPr id="8" name="灯片编号占位符 7">
            <a:extLst>
              <a:ext uri="{FF2B5EF4-FFF2-40B4-BE49-F238E27FC236}">
                <a16:creationId xmlns:a16="http://schemas.microsoft.com/office/drawing/2014/main" id="{9954409C-9C1F-8B6C-8ECA-D0B4F488C4D1}"/>
              </a:ext>
            </a:extLst>
          </p:cNvPr>
          <p:cNvSpPr>
            <a:spLocks noGrp="1"/>
          </p:cNvSpPr>
          <p:nvPr>
            <p:ph type="sldNum" sz="quarter" idx="12"/>
          </p:nvPr>
        </p:nvSpPr>
        <p:spPr/>
        <p:txBody>
          <a:bodyPr/>
          <a:lstStyle/>
          <a:p>
            <a:fld id="{E6518835-16E6-9244-9C02-6BFB876E5D3C}" type="slidenum">
              <a:rPr kumimoji="1" lang="zh-CN" altLang="en-US" smtClean="0"/>
              <a:t>34</a:t>
            </a:fld>
            <a:endParaRPr kumimoji="1"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 name="PA-直接连接符 17"/>
          <p:cNvCxnSpPr/>
          <p:nvPr>
            <p:custDataLst>
              <p:tags r:id="rId1"/>
            </p:custDataLst>
          </p:nvPr>
        </p:nvCxnSpPr>
        <p:spPr>
          <a:xfrm>
            <a:off x="441777" y="1675856"/>
            <a:ext cx="4084955"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grpSp>
        <p:nvGrpSpPr>
          <p:cNvPr id="24" name="组合 23"/>
          <p:cNvGrpSpPr/>
          <p:nvPr/>
        </p:nvGrpSpPr>
        <p:grpSpPr>
          <a:xfrm>
            <a:off x="370072" y="219176"/>
            <a:ext cx="2150839" cy="449040"/>
            <a:chOff x="2085654" y="644950"/>
            <a:chExt cx="7772400" cy="1622679"/>
          </a:xfrm>
        </p:grpSpPr>
        <p:pic>
          <p:nvPicPr>
            <p:cNvPr id="25" name="图片 24"/>
            <p:cNvPicPr>
              <a:picLocks noChangeAspect="1"/>
            </p:cNvPicPr>
            <p:nvPr/>
          </p:nvPicPr>
          <p:blipFill rotWithShape="1">
            <a:blip r:embed="rId3"/>
            <a:srcRect r="78982"/>
            <a:stretch>
              <a:fillRect/>
            </a:stretch>
          </p:blipFill>
          <p:spPr>
            <a:xfrm>
              <a:off x="2085654" y="644950"/>
              <a:ext cx="1633591" cy="1622679"/>
            </a:xfrm>
            <a:prstGeom prst="rect">
              <a:avLst/>
            </a:prstGeom>
          </p:spPr>
        </p:pic>
        <p:pic>
          <p:nvPicPr>
            <p:cNvPr id="26" name="图片 25"/>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Lst>
            </a:blip>
            <a:srcRect l="23530"/>
            <a:stretch>
              <a:fillRect/>
            </a:stretch>
          </p:blipFill>
          <p:spPr>
            <a:xfrm>
              <a:off x="3914454" y="644950"/>
              <a:ext cx="5943600" cy="1622679"/>
            </a:xfrm>
            <a:prstGeom prst="rect">
              <a:avLst/>
            </a:prstGeom>
          </p:spPr>
        </p:pic>
      </p:grpSp>
      <p:sp>
        <p:nvSpPr>
          <p:cNvPr id="10" name="圆角矩形 9"/>
          <p:cNvSpPr/>
          <p:nvPr/>
        </p:nvSpPr>
        <p:spPr>
          <a:xfrm>
            <a:off x="10097135" y="0"/>
            <a:ext cx="1936115" cy="843915"/>
          </a:xfrm>
          <a:prstGeom prst="roundRect">
            <a:avLst>
              <a:gd name="adj" fmla="val 50000"/>
            </a:avLst>
          </a:prstGeom>
          <a:solidFill>
            <a:schemeClr val="bg1"/>
          </a:solidFill>
          <a:ln>
            <a:noFill/>
          </a:ln>
          <a:effectLst>
            <a:outerShdw blurRad="88071" dist="38100" dir="5400000" sx="99000" sy="99000" algn="t" rotWithShape="0">
              <a:prstClr val="black">
                <a:alpha val="27719"/>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6" name="组合 15"/>
          <p:cNvGrpSpPr/>
          <p:nvPr/>
        </p:nvGrpSpPr>
        <p:grpSpPr>
          <a:xfrm>
            <a:off x="2045970" y="157480"/>
            <a:ext cx="9709150" cy="891540"/>
            <a:chOff x="3222" y="248"/>
            <a:chExt cx="15290" cy="1404"/>
          </a:xfrm>
        </p:grpSpPr>
        <p:grpSp>
          <p:nvGrpSpPr>
            <p:cNvPr id="5" name="组合 4"/>
            <p:cNvGrpSpPr/>
            <p:nvPr/>
          </p:nvGrpSpPr>
          <p:grpSpPr>
            <a:xfrm>
              <a:off x="3222" y="248"/>
              <a:ext cx="15290" cy="1404"/>
              <a:chOff x="3210" y="264"/>
              <a:chExt cx="15290" cy="1404"/>
            </a:xfrm>
          </p:grpSpPr>
          <p:sp>
            <p:nvSpPr>
              <p:cNvPr id="44" name="文本框 43"/>
              <p:cNvSpPr txBox="1"/>
              <p:nvPr/>
            </p:nvSpPr>
            <p:spPr>
              <a:xfrm>
                <a:off x="12521" y="332"/>
                <a:ext cx="2734" cy="825"/>
              </a:xfrm>
              <a:prstGeom prst="rect">
                <a:avLst/>
              </a:prstGeom>
              <a:noFill/>
            </p:spPr>
            <p:txBody>
              <a:bodyPr vert="horz" wrap="none" rtlCol="0">
                <a:noAutofit/>
              </a:bodyPr>
              <a:lstStyle/>
              <a:p>
                <a:pPr algn="ctr"/>
                <a:r>
                  <a:rPr kumimoji="1" lang="en-US" altLang="zh-CN" sz="2000" b="1" spc="300" dirty="0">
                    <a:solidFill>
                      <a:schemeClr val="bg1"/>
                    </a:solidFill>
                    <a:latin typeface="Times New Roman" panose="02020503050405090304" charset="0"/>
                    <a:ea typeface="微软雅黑" panose="020B0503020204020204" pitchFamily="34" charset="-122"/>
                    <a:cs typeface="Times New Roman" panose="02020503050405090304" charset="0"/>
                  </a:rPr>
                  <a:t>Methods</a:t>
                </a:r>
              </a:p>
            </p:txBody>
          </p:sp>
          <p:sp>
            <p:nvSpPr>
              <p:cNvPr id="7" name="文本框 6"/>
              <p:cNvSpPr txBox="1"/>
              <p:nvPr/>
            </p:nvSpPr>
            <p:spPr>
              <a:xfrm>
                <a:off x="3210" y="264"/>
                <a:ext cx="4785" cy="1404"/>
              </a:xfrm>
              <a:prstGeom prst="rect">
                <a:avLst/>
              </a:prstGeom>
              <a:noFill/>
            </p:spPr>
            <p:txBody>
              <a:bodyPr vert="horz" wrap="square" rtlCol="0">
                <a:spAutoFit/>
              </a:bodyPr>
              <a:lstStyle/>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Background </a:t>
                </a:r>
              </a:p>
              <a:p>
                <a:pPr algn="ctr"/>
                <a:r>
                  <a:rPr kumimoji="1" lang="en-US" altLang="zh-CN" b="1" spc="300" dirty="0">
                    <a:solidFill>
                      <a:schemeClr val="bg1"/>
                    </a:solidFill>
                    <a:latin typeface="Times New Roman" panose="02020503050405090304" charset="0"/>
                    <a:ea typeface="微软雅黑" panose="020B0503020204020204" pitchFamily="34" charset="-122"/>
                    <a:cs typeface="Times New Roman" panose="02020503050405090304" charset="0"/>
                  </a:rPr>
                  <a:t>&amp; Significance</a:t>
                </a: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a:p>
                <a:pPr algn="ctr"/>
                <a:endParaRPr kumimoji="1" lang="en-US" altLang="zh-CN" sz="1600" b="1" spc="300" dirty="0">
                  <a:solidFill>
                    <a:schemeClr val="bg1"/>
                  </a:solidFill>
                  <a:latin typeface="Times New Roman" panose="02020503050405090304" charset="0"/>
                  <a:ea typeface="微软雅黑" panose="020B0503020204020204" pitchFamily="34" charset="-122"/>
                  <a:cs typeface="Times New Roman" panose="02020503050405090304" charset="0"/>
                </a:endParaRPr>
              </a:p>
            </p:txBody>
          </p:sp>
          <p:sp>
            <p:nvSpPr>
              <p:cNvPr id="6" name="文本框 5"/>
              <p:cNvSpPr txBox="1"/>
              <p:nvPr/>
            </p:nvSpPr>
            <p:spPr>
              <a:xfrm>
                <a:off x="16352" y="350"/>
                <a:ext cx="2148" cy="628"/>
              </a:xfrm>
              <a:prstGeom prst="rect">
                <a:avLst/>
              </a:prstGeom>
              <a:noFill/>
            </p:spPr>
            <p:txBody>
              <a:bodyPr vert="horz" wrap="square" rtlCol="0">
                <a:spAutoFit/>
              </a:bodyPr>
              <a:lstStyle/>
              <a:p>
                <a:pPr algn="ctr"/>
                <a:r>
                  <a:rPr kumimoji="1" lang="en-US" altLang="zh-CN" sz="2000" b="1" spc="300" dirty="0">
                    <a:solidFill>
                      <a:srgbClr val="006BC0"/>
                    </a:solidFill>
                    <a:latin typeface="Times New Roman" panose="02020503050405090304" charset="0"/>
                    <a:ea typeface="微软雅黑" panose="020B0503020204020204" pitchFamily="34" charset="-122"/>
                    <a:cs typeface="Times New Roman" panose="02020503050405090304" charset="0"/>
                  </a:rPr>
                  <a:t>Results</a:t>
                </a:r>
              </a:p>
            </p:txBody>
          </p:sp>
        </p:grpSp>
        <p:sp>
          <p:nvSpPr>
            <p:cNvPr id="14" name="文本框 13"/>
            <p:cNvSpPr txBox="1"/>
            <p:nvPr/>
          </p:nvSpPr>
          <p:spPr>
            <a:xfrm>
              <a:off x="8600" y="334"/>
              <a:ext cx="2878" cy="630"/>
            </a:xfrm>
            <a:prstGeom prst="rect">
              <a:avLst/>
            </a:prstGeom>
            <a:noFill/>
          </p:spPr>
          <p:txBody>
            <a:bodyPr vert="horz" wrap="none" rtlCol="0">
              <a:spAutoFit/>
            </a:bodyPr>
            <a:lstStyle/>
            <a:p>
              <a:pPr algn="ctr"/>
              <a:r>
                <a:rPr kumimoji="1" lang="en-US" altLang="zh-CN" sz="2000" b="1" spc="300" dirty="0">
                  <a:solidFill>
                    <a:schemeClr val="bg1"/>
                  </a:solidFill>
                  <a:latin typeface="Times New Roman" panose="02020503050405090304" charset="0"/>
                  <a:ea typeface="微软雅黑" panose="020B0503020204020204" pitchFamily="34" charset="-122"/>
                  <a:cs typeface="Times New Roman" panose="02020503050405090304" charset="0"/>
                </a:rPr>
                <a:t>Framework</a:t>
              </a:r>
            </a:p>
          </p:txBody>
        </p:sp>
      </p:grpSp>
      <p:sp>
        <p:nvSpPr>
          <p:cNvPr id="13" name="文本框 12"/>
          <p:cNvSpPr txBox="1"/>
          <p:nvPr/>
        </p:nvSpPr>
        <p:spPr>
          <a:xfrm>
            <a:off x="441960" y="1132205"/>
            <a:ext cx="4064000" cy="460375"/>
          </a:xfrm>
          <a:prstGeom prst="rect">
            <a:avLst/>
          </a:prstGeom>
          <a:noFill/>
        </p:spPr>
        <p:txBody>
          <a:bodyPr wrap="square" rtlCol="0">
            <a:spAutoFit/>
          </a:bodyPr>
          <a:lstStyle/>
          <a:p>
            <a:r>
              <a:rPr lang="en-US" altLang="zh-CN" sz="2400">
                <a:latin typeface="Times New Roman" panose="02020503050405090304" charset="0"/>
                <a:cs typeface="Times New Roman" panose="02020503050405090304" charset="0"/>
              </a:rPr>
              <a:t>Change the self_ratio of 0.2-0.8</a:t>
            </a:r>
          </a:p>
        </p:txBody>
      </p:sp>
      <p:pic>
        <p:nvPicPr>
          <p:cNvPr id="23" name="图片 22" descr="LiLandi.jpg sketch+0.2"/>
          <p:cNvPicPr>
            <a:picLocks noChangeAspect="1"/>
          </p:cNvPicPr>
          <p:nvPr/>
        </p:nvPicPr>
        <p:blipFill>
          <a:blip r:embed="rId6"/>
          <a:srcRect r="49762"/>
          <a:stretch>
            <a:fillRect/>
          </a:stretch>
        </p:blipFill>
        <p:spPr>
          <a:xfrm>
            <a:off x="4721860" y="1681871"/>
            <a:ext cx="1609725" cy="1586865"/>
          </a:xfrm>
          <a:prstGeom prst="rect">
            <a:avLst/>
          </a:prstGeom>
        </p:spPr>
      </p:pic>
      <p:sp>
        <p:nvSpPr>
          <p:cNvPr id="37" name="文本框 36"/>
          <p:cNvSpPr txBox="1"/>
          <p:nvPr/>
        </p:nvSpPr>
        <p:spPr>
          <a:xfrm>
            <a:off x="6547485" y="2141080"/>
            <a:ext cx="1470025" cy="472440"/>
          </a:xfrm>
          <a:prstGeom prst="rect">
            <a:avLst/>
          </a:prstGeom>
          <a:noFill/>
        </p:spPr>
        <p:txBody>
          <a:bodyPr wrap="square" rtlCol="0">
            <a:noAutofit/>
          </a:bodyPr>
          <a:lstStyle/>
          <a:p>
            <a:r>
              <a:rPr lang="en-US" altLang="zh-CN" sz="2000" dirty="0">
                <a:latin typeface="Times New Roman" panose="02020503050405090304" charset="0"/>
                <a:cs typeface="Times New Roman" panose="02020503050405090304" charset="0"/>
              </a:rPr>
              <a:t>Input Image</a:t>
            </a:r>
          </a:p>
        </p:txBody>
      </p:sp>
      <p:grpSp>
        <p:nvGrpSpPr>
          <p:cNvPr id="39" name="组合 38"/>
          <p:cNvGrpSpPr/>
          <p:nvPr/>
        </p:nvGrpSpPr>
        <p:grpSpPr>
          <a:xfrm>
            <a:off x="299085" y="3586871"/>
            <a:ext cx="11637010" cy="2139950"/>
            <a:chOff x="471" y="4797"/>
            <a:chExt cx="18326" cy="3370"/>
          </a:xfrm>
        </p:grpSpPr>
        <p:grpSp>
          <p:nvGrpSpPr>
            <p:cNvPr id="38" name="组合 37"/>
            <p:cNvGrpSpPr/>
            <p:nvPr/>
          </p:nvGrpSpPr>
          <p:grpSpPr>
            <a:xfrm>
              <a:off x="471" y="7341"/>
              <a:ext cx="18327" cy="826"/>
              <a:chOff x="584" y="6888"/>
              <a:chExt cx="18327" cy="826"/>
            </a:xfrm>
          </p:grpSpPr>
          <p:sp>
            <p:nvSpPr>
              <p:cNvPr id="29" name="文本框 28"/>
              <p:cNvSpPr txBox="1"/>
              <p:nvPr/>
            </p:nvSpPr>
            <p:spPr>
              <a:xfrm>
                <a:off x="584" y="6888"/>
                <a:ext cx="2534" cy="8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Impressionism+0.2</a:t>
                </a:r>
              </a:p>
            </p:txBody>
          </p:sp>
          <p:sp>
            <p:nvSpPr>
              <p:cNvPr id="30" name="文本框 29"/>
              <p:cNvSpPr txBox="1"/>
              <p:nvPr/>
            </p:nvSpPr>
            <p:spPr>
              <a:xfrm>
                <a:off x="3128" y="6888"/>
                <a:ext cx="2530"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Impressionism+0.3</a:t>
                </a:r>
              </a:p>
            </p:txBody>
          </p:sp>
          <p:sp>
            <p:nvSpPr>
              <p:cNvPr id="31" name="文本框 30"/>
              <p:cNvSpPr txBox="1"/>
              <p:nvPr/>
            </p:nvSpPr>
            <p:spPr>
              <a:xfrm>
                <a:off x="5763" y="6888"/>
                <a:ext cx="2530"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Impressionism+0.4</a:t>
                </a:r>
              </a:p>
            </p:txBody>
          </p:sp>
          <p:sp>
            <p:nvSpPr>
              <p:cNvPr id="32" name="文本框 31"/>
              <p:cNvSpPr txBox="1"/>
              <p:nvPr/>
            </p:nvSpPr>
            <p:spPr>
              <a:xfrm>
                <a:off x="8364" y="6888"/>
                <a:ext cx="2575"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Impressionism+0.5</a:t>
                </a:r>
              </a:p>
            </p:txBody>
          </p:sp>
          <p:sp>
            <p:nvSpPr>
              <p:cNvPr id="33" name="文本框 32"/>
              <p:cNvSpPr txBox="1"/>
              <p:nvPr/>
            </p:nvSpPr>
            <p:spPr>
              <a:xfrm>
                <a:off x="10959" y="6888"/>
                <a:ext cx="2605"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Impressionism+0.6</a:t>
                </a:r>
              </a:p>
            </p:txBody>
          </p:sp>
          <p:sp>
            <p:nvSpPr>
              <p:cNvPr id="34" name="文本框 33"/>
              <p:cNvSpPr txBox="1"/>
              <p:nvPr/>
            </p:nvSpPr>
            <p:spPr>
              <a:xfrm>
                <a:off x="13669" y="6888"/>
                <a:ext cx="2531"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Impressionism+0.7</a:t>
                </a:r>
              </a:p>
            </p:txBody>
          </p:sp>
          <p:sp>
            <p:nvSpPr>
              <p:cNvPr id="36" name="文本框 35"/>
              <p:cNvSpPr txBox="1"/>
              <p:nvPr/>
            </p:nvSpPr>
            <p:spPr>
              <a:xfrm>
                <a:off x="16306" y="6922"/>
                <a:ext cx="2605" cy="626"/>
              </a:xfrm>
              <a:prstGeom prst="rect">
                <a:avLst/>
              </a:prstGeom>
              <a:noFill/>
            </p:spPr>
            <p:txBody>
              <a:bodyPr wrap="square" rtlCol="0">
                <a:noAutofit/>
              </a:bodyPr>
              <a:lstStyle/>
              <a:p>
                <a:pPr algn="ctr"/>
                <a:r>
                  <a:rPr lang="en-US" altLang="zh-CN">
                    <a:latin typeface="Times New Roman" panose="02020503050405090304" charset="0"/>
                    <a:cs typeface="Times New Roman" panose="02020503050405090304" charset="0"/>
                  </a:rPr>
                  <a:t>Impressionism+0.8</a:t>
                </a:r>
              </a:p>
            </p:txBody>
          </p:sp>
        </p:grpSp>
        <p:grpSp>
          <p:nvGrpSpPr>
            <p:cNvPr id="28" name="组合 27"/>
            <p:cNvGrpSpPr/>
            <p:nvPr/>
          </p:nvGrpSpPr>
          <p:grpSpPr>
            <a:xfrm>
              <a:off x="485" y="4797"/>
              <a:ext cx="18210" cy="2579"/>
              <a:chOff x="485" y="4797"/>
              <a:chExt cx="18210" cy="2579"/>
            </a:xfrm>
          </p:grpSpPr>
          <p:pic>
            <p:nvPicPr>
              <p:cNvPr id="15" name="图片 14" descr="LiLandi.jpg impressionism+0.2"/>
              <p:cNvPicPr>
                <a:picLocks noChangeAspect="1"/>
              </p:cNvPicPr>
              <p:nvPr/>
            </p:nvPicPr>
            <p:blipFill>
              <a:blip r:embed="rId7"/>
              <a:srcRect l="49864" t="-21"/>
              <a:stretch>
                <a:fillRect/>
              </a:stretch>
            </p:blipFill>
            <p:spPr>
              <a:xfrm>
                <a:off x="485" y="4841"/>
                <a:ext cx="2530" cy="2500"/>
              </a:xfrm>
              <a:prstGeom prst="rect">
                <a:avLst/>
              </a:prstGeom>
            </p:spPr>
          </p:pic>
          <p:pic>
            <p:nvPicPr>
              <p:cNvPr id="17" name="图片 16" descr="LiLandi.jpg impressionism+0.3"/>
              <p:cNvPicPr>
                <a:picLocks noChangeAspect="1"/>
              </p:cNvPicPr>
              <p:nvPr/>
            </p:nvPicPr>
            <p:blipFill>
              <a:blip r:embed="rId8"/>
              <a:srcRect l="50232" t="-271" b="25"/>
              <a:stretch>
                <a:fillRect/>
              </a:stretch>
            </p:blipFill>
            <p:spPr>
              <a:xfrm>
                <a:off x="3068" y="4852"/>
                <a:ext cx="2530" cy="2523"/>
              </a:xfrm>
              <a:prstGeom prst="rect">
                <a:avLst/>
              </a:prstGeom>
            </p:spPr>
          </p:pic>
          <p:pic>
            <p:nvPicPr>
              <p:cNvPr id="18" name="图片 17" descr="LiLandi.jpg impressionism+0.4"/>
              <p:cNvPicPr>
                <a:picLocks noChangeAspect="1"/>
              </p:cNvPicPr>
              <p:nvPr/>
            </p:nvPicPr>
            <p:blipFill>
              <a:blip r:embed="rId9"/>
              <a:srcRect l="50031" t="-1221"/>
              <a:stretch>
                <a:fillRect/>
              </a:stretch>
            </p:blipFill>
            <p:spPr>
              <a:xfrm>
                <a:off x="5621" y="4809"/>
                <a:ext cx="2558" cy="2566"/>
              </a:xfrm>
              <a:prstGeom prst="rect">
                <a:avLst/>
              </a:prstGeom>
            </p:spPr>
          </p:pic>
          <p:pic>
            <p:nvPicPr>
              <p:cNvPr id="19" name="图片 18" descr="LiLandi.jpg impressionism+0.5"/>
              <p:cNvPicPr>
                <a:picLocks noChangeAspect="1"/>
              </p:cNvPicPr>
              <p:nvPr/>
            </p:nvPicPr>
            <p:blipFill>
              <a:blip r:embed="rId10"/>
              <a:srcRect l="49973" t="-137" b="1344"/>
              <a:stretch>
                <a:fillRect/>
              </a:stretch>
            </p:blipFill>
            <p:spPr>
              <a:xfrm>
                <a:off x="8255" y="4829"/>
                <a:ext cx="2603" cy="2547"/>
              </a:xfrm>
              <a:prstGeom prst="rect">
                <a:avLst/>
              </a:prstGeom>
            </p:spPr>
          </p:pic>
          <p:pic>
            <p:nvPicPr>
              <p:cNvPr id="20" name="图片 19" descr="LiLandi.jpg impressionism+0.6"/>
              <p:cNvPicPr>
                <a:picLocks noChangeAspect="1"/>
              </p:cNvPicPr>
              <p:nvPr/>
            </p:nvPicPr>
            <p:blipFill>
              <a:blip r:embed="rId11"/>
              <a:srcRect l="49756" r="-588" b="174"/>
              <a:stretch>
                <a:fillRect/>
              </a:stretch>
            </p:blipFill>
            <p:spPr>
              <a:xfrm>
                <a:off x="10861" y="4817"/>
                <a:ext cx="2618" cy="2548"/>
              </a:xfrm>
              <a:prstGeom prst="rect">
                <a:avLst/>
              </a:prstGeom>
            </p:spPr>
          </p:pic>
          <p:pic>
            <p:nvPicPr>
              <p:cNvPr id="21" name="图片 20" descr="LiLandi.jpg impressionism+0.7"/>
              <p:cNvPicPr>
                <a:picLocks noChangeAspect="1"/>
              </p:cNvPicPr>
              <p:nvPr/>
            </p:nvPicPr>
            <p:blipFill>
              <a:blip r:embed="rId12"/>
              <a:srcRect l="50181" t="-282"/>
              <a:stretch>
                <a:fillRect/>
              </a:stretch>
            </p:blipFill>
            <p:spPr>
              <a:xfrm>
                <a:off x="13489" y="4808"/>
                <a:ext cx="2576" cy="2568"/>
              </a:xfrm>
              <a:prstGeom prst="rect">
                <a:avLst/>
              </a:prstGeom>
            </p:spPr>
          </p:pic>
          <p:pic>
            <p:nvPicPr>
              <p:cNvPr id="22" name="图片 21" descr="LiLandi.jpg impressionism+0.8"/>
              <p:cNvPicPr>
                <a:picLocks noChangeAspect="1"/>
              </p:cNvPicPr>
              <p:nvPr/>
            </p:nvPicPr>
            <p:blipFill>
              <a:blip r:embed="rId13"/>
              <a:srcRect l="50014" t="56"/>
              <a:stretch>
                <a:fillRect/>
              </a:stretch>
            </p:blipFill>
            <p:spPr>
              <a:xfrm>
                <a:off x="16103" y="4797"/>
                <a:ext cx="2593" cy="2568"/>
              </a:xfrm>
              <a:prstGeom prst="rect">
                <a:avLst/>
              </a:prstGeom>
            </p:spPr>
          </p:pic>
        </p:grpSp>
      </p:grpSp>
      <p:sp>
        <p:nvSpPr>
          <p:cNvPr id="3" name="灯片编号占位符 2">
            <a:extLst>
              <a:ext uri="{FF2B5EF4-FFF2-40B4-BE49-F238E27FC236}">
                <a16:creationId xmlns:a16="http://schemas.microsoft.com/office/drawing/2014/main" id="{A51E6500-262B-E996-2361-D3478684C551}"/>
              </a:ext>
            </a:extLst>
          </p:cNvPr>
          <p:cNvSpPr>
            <a:spLocks noGrp="1"/>
          </p:cNvSpPr>
          <p:nvPr>
            <p:ph type="sldNum" sz="quarter" idx="12"/>
          </p:nvPr>
        </p:nvSpPr>
        <p:spPr/>
        <p:txBody>
          <a:bodyPr/>
          <a:lstStyle/>
          <a:p>
            <a:fld id="{E6518835-16E6-9244-9C02-6BFB876E5D3C}" type="slidenum">
              <a:rPr kumimoji="1" lang="zh-CN" altLang="en-US" smtClean="0"/>
              <a:t>35</a:t>
            </a:fld>
            <a:endParaRPr kumimoji="1"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8440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 name="PA-直接连接符 17"/>
          <p:cNvCxnSpPr/>
          <p:nvPr>
            <p:custDataLst>
              <p:tags r:id="rId1"/>
            </p:custDataLst>
          </p:nvPr>
        </p:nvCxnSpPr>
        <p:spPr>
          <a:xfrm>
            <a:off x="441777" y="1675856"/>
            <a:ext cx="11313160" cy="0"/>
          </a:xfrm>
          <a:prstGeom prst="line">
            <a:avLst/>
          </a:prstGeom>
          <a:gradFill flip="none" rotWithShape="1">
            <a:gsLst>
              <a:gs pos="0">
                <a:srgbClr val="E6564F"/>
              </a:gs>
              <a:gs pos="70000">
                <a:srgbClr val="D12A22"/>
              </a:gs>
            </a:gsLst>
            <a:lin ang="5400000" scaled="1"/>
            <a:tileRect/>
          </a:gradFill>
          <a:ln w="25400">
            <a:gradFill>
              <a:gsLst>
                <a:gs pos="0">
                  <a:schemeClr val="accent1">
                    <a:lumMod val="65000"/>
                    <a:lumOff val="35000"/>
                  </a:schemeClr>
                </a:gs>
                <a:gs pos="100000">
                  <a:schemeClr val="accent1">
                    <a:alpha val="0"/>
                  </a:schemeClr>
                </a:gs>
              </a:gsLst>
              <a:lin ang="0" scaled="0"/>
            </a:gradFill>
          </a:ln>
          <a:effectLst>
            <a:outerShdw blurRad="88900" dist="25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9" name="PA-文本框 14"/>
          <p:cNvSpPr txBox="1"/>
          <p:nvPr>
            <p:custDataLst>
              <p:tags r:id="rId2"/>
            </p:custDataLst>
          </p:nvPr>
        </p:nvSpPr>
        <p:spPr>
          <a:xfrm>
            <a:off x="441672" y="1066036"/>
            <a:ext cx="4158478" cy="521970"/>
          </a:xfrm>
          <a:prstGeom prst="rect">
            <a:avLst/>
          </a:prstGeom>
          <a:noFill/>
        </p:spPr>
        <p:txBody>
          <a:bodyPr wrap="square">
            <a:spAutoFit/>
          </a:bodyPr>
          <a:lstStyle>
            <a:defPPr>
              <a:defRPr lang="zh-CN"/>
            </a:defPPr>
            <a:lvl1pPr>
              <a:defRPr sz="2800" b="1">
                <a:gradFill>
                  <a:gsLst>
                    <a:gs pos="0">
                      <a:schemeClr val="accent1"/>
                    </a:gs>
                    <a:gs pos="100000">
                      <a:schemeClr val="accent1">
                        <a:lumMod val="80000"/>
                        <a:lumOff val="20000"/>
                      </a:schemeClr>
                    </a:gs>
                  </a:gsLst>
                  <a:lin ang="0" scaled="0"/>
                </a:gradFill>
                <a:effectLst>
                  <a:outerShdw blurRad="228600" dist="114300" dir="5400000" algn="t" rotWithShape="0">
                    <a:schemeClr val="accent1">
                      <a:alpha val="10000"/>
                    </a:schemeClr>
                  </a:outerShdw>
                </a:effectLst>
                <a:latin typeface="MiSans" panose="00000500000000000000" pitchFamily="2" charset="-122"/>
                <a:ea typeface="MiSans" panose="00000500000000000000" pitchFamily="2" charset="-122"/>
              </a:defRPr>
            </a:lvl1pPr>
          </a:lstStyle>
          <a:p>
            <a:pPr indent="0">
              <a:buFont typeface="Wingdings" panose="05000000000000000000" pitchFamily="2" charset="2"/>
              <a:buNone/>
            </a:pPr>
            <a:r>
              <a:rPr lang="en-US" altLang="zh-CN" dirty="0">
                <a:solidFill>
                  <a:srgbClr val="006BC0"/>
                </a:solidFill>
                <a:latin typeface="Times New Roman Bold" panose="02020503050405090304" charset="0"/>
                <a:cs typeface="Times New Roman Bold" panose="02020503050405090304" charset="0"/>
              </a:rPr>
              <a:t>Reference</a:t>
            </a:r>
          </a:p>
        </p:txBody>
      </p:sp>
      <p:grpSp>
        <p:nvGrpSpPr>
          <p:cNvPr id="24" name="组合 23"/>
          <p:cNvGrpSpPr/>
          <p:nvPr/>
        </p:nvGrpSpPr>
        <p:grpSpPr>
          <a:xfrm>
            <a:off x="370072" y="219176"/>
            <a:ext cx="2150839" cy="449040"/>
            <a:chOff x="2085654" y="644950"/>
            <a:chExt cx="7772400" cy="1622679"/>
          </a:xfrm>
        </p:grpSpPr>
        <p:pic>
          <p:nvPicPr>
            <p:cNvPr id="25" name="图片 24"/>
            <p:cNvPicPr>
              <a:picLocks noChangeAspect="1"/>
            </p:cNvPicPr>
            <p:nvPr/>
          </p:nvPicPr>
          <p:blipFill rotWithShape="1">
            <a:blip r:embed="rId4"/>
            <a:srcRect r="78982"/>
            <a:stretch>
              <a:fillRect/>
            </a:stretch>
          </p:blipFill>
          <p:spPr>
            <a:xfrm>
              <a:off x="2085654" y="644950"/>
              <a:ext cx="1633591" cy="1622679"/>
            </a:xfrm>
            <a:prstGeom prst="rect">
              <a:avLst/>
            </a:prstGeom>
          </p:spPr>
        </p:pic>
        <p:pic>
          <p:nvPicPr>
            <p:cNvPr id="26" name="图片 25"/>
            <p:cNvPicPr>
              <a:picLocks noChangeAspect="1"/>
            </p:cNvPicPr>
            <p:nvPr/>
          </p:nvPicPr>
          <p:blipFill rotWithShape="1">
            <a:blip r:embed="rId5">
              <a:extLst>
                <a:ext uri="{BEBA8EAE-BF5A-486C-A8C5-ECC9F3942E4B}">
                  <a14:imgProps xmlns:a14="http://schemas.microsoft.com/office/drawing/2010/main">
                    <a14:imgLayer r:embed="rId6">
                      <a14:imgEffect>
                        <a14:brightnessContrast bright="100000"/>
                      </a14:imgEffect>
                    </a14:imgLayer>
                  </a14:imgProps>
                </a:ext>
              </a:extLst>
            </a:blip>
            <a:srcRect l="23530"/>
            <a:stretch>
              <a:fillRect/>
            </a:stretch>
          </p:blipFill>
          <p:spPr>
            <a:xfrm>
              <a:off x="3914454" y="644950"/>
              <a:ext cx="5943600" cy="1622679"/>
            </a:xfrm>
            <a:prstGeom prst="rect">
              <a:avLst/>
            </a:prstGeom>
          </p:spPr>
        </p:pic>
      </p:grpSp>
      <p:sp>
        <p:nvSpPr>
          <p:cNvPr id="27" name="文本框 26"/>
          <p:cNvSpPr txBox="1"/>
          <p:nvPr/>
        </p:nvSpPr>
        <p:spPr>
          <a:xfrm>
            <a:off x="441960" y="2659475"/>
            <a:ext cx="11313795" cy="3099072"/>
          </a:xfrm>
          <a:prstGeom prst="rect">
            <a:avLst/>
          </a:prstGeom>
          <a:noFill/>
        </p:spPr>
        <p:txBody>
          <a:bodyPr wrap="square" rtlCol="0">
            <a:noAutofit/>
          </a:bodyPr>
          <a:lstStyle/>
          <a:p>
            <a:r>
              <a:rPr lang="en-US" altLang="zh-CN" dirty="0">
                <a:latin typeface="Times New Roman Regular" panose="02020503050405090304" charset="0"/>
                <a:cs typeface="Times New Roman Regular" panose="02020503050405090304" charset="0"/>
              </a:rPr>
              <a:t>[1] </a:t>
            </a:r>
            <a:r>
              <a:rPr lang="en-US" altLang="zh-CN" i="1" dirty="0">
                <a:latin typeface="Times New Roman Regular" panose="02020503050405090304" charset="0"/>
                <a:cs typeface="Times New Roman Regular" panose="02020503050405090304" charset="0"/>
              </a:rPr>
              <a:t>Prompt-to-Prompt Image Editing with Cross-Attention Control</a:t>
            </a:r>
            <a:r>
              <a:rPr lang="en-US" altLang="zh-CN" dirty="0">
                <a:latin typeface="Times New Roman Regular" panose="02020503050405090304" charset="0"/>
                <a:cs typeface="Times New Roman Regular" panose="02020503050405090304" charset="0"/>
              </a:rPr>
              <a:t>, A. Hertz et al., </a:t>
            </a:r>
            <a:r>
              <a:rPr lang="en-US" altLang="zh-CN" b="1" dirty="0">
                <a:latin typeface="Times New Roman Regular" panose="02020503050405090304" charset="0"/>
                <a:cs typeface="Times New Roman Regular" panose="02020503050405090304" charset="0"/>
              </a:rPr>
              <a:t>ICLR 2023</a:t>
            </a:r>
          </a:p>
          <a:p>
            <a:r>
              <a:rPr lang="en-US" altLang="zh-CN" dirty="0">
                <a:latin typeface="Times New Roman Regular" panose="02020503050405090304" charset="0"/>
                <a:cs typeface="Times New Roman Regular" panose="02020503050405090304" charset="0"/>
              </a:rPr>
              <a:t>[2] </a:t>
            </a:r>
            <a:r>
              <a:rPr lang="en-US" altLang="zh-CN" i="1" dirty="0">
                <a:latin typeface="Times New Roman Regular" panose="02020503050405090304" charset="0"/>
                <a:cs typeface="Times New Roman Regular" panose="02020503050405090304" charset="0"/>
              </a:rPr>
              <a:t>Null-text Inversion for Editing Real Images using Guided Diffusion Models</a:t>
            </a:r>
            <a:r>
              <a:rPr lang="en-US" altLang="zh-CN" dirty="0">
                <a:latin typeface="Times New Roman Regular" panose="02020503050405090304" charset="0"/>
                <a:cs typeface="Times New Roman Regular" panose="02020503050405090304" charset="0"/>
              </a:rPr>
              <a:t>, R. Mokady et al., </a:t>
            </a:r>
            <a:r>
              <a:rPr lang="en-US" altLang="zh-CN" b="1" dirty="0">
                <a:latin typeface="Times New Roman Regular" panose="02020503050405090304" charset="0"/>
                <a:cs typeface="Times New Roman Regular" panose="02020503050405090304" charset="0"/>
              </a:rPr>
              <a:t>CVPR 2023</a:t>
            </a:r>
          </a:p>
          <a:p>
            <a:r>
              <a:rPr lang="en-US" altLang="zh-CN" dirty="0">
                <a:latin typeface="Times New Roman Regular" panose="02020503050405090304" charset="0"/>
                <a:cs typeface="Times New Roman Regular" panose="02020503050405090304" charset="0"/>
              </a:rPr>
              <a:t>[3] </a:t>
            </a:r>
            <a:r>
              <a:rPr lang="en-US" altLang="zh-CN" i="1" dirty="0">
                <a:latin typeface="Times New Roman Regular" panose="02020503050405090304" charset="0"/>
                <a:cs typeface="Times New Roman Regular" panose="02020503050405090304" charset="0"/>
              </a:rPr>
              <a:t>Learning Transferable Visual Models From Natural Language Supervision</a:t>
            </a:r>
            <a:r>
              <a:rPr lang="en-US" altLang="zh-CN" dirty="0">
                <a:latin typeface="Times New Roman Regular" panose="02020503050405090304" charset="0"/>
                <a:cs typeface="Times New Roman Regular" panose="02020503050405090304" charset="0"/>
              </a:rPr>
              <a:t>, A. Radford et al., </a:t>
            </a:r>
            <a:r>
              <a:rPr lang="en-US" altLang="zh-CN" b="1" dirty="0">
                <a:latin typeface="Times New Roman Regular" panose="02020503050405090304" charset="0"/>
                <a:cs typeface="Times New Roman Regular" panose="02020503050405090304" charset="0"/>
              </a:rPr>
              <a:t>ICML 2021</a:t>
            </a:r>
          </a:p>
          <a:p>
            <a:r>
              <a:rPr lang="en-US" altLang="zh-CN" dirty="0">
                <a:latin typeface="Times New Roman Regular" panose="02020503050405090304" charset="0"/>
                <a:cs typeface="Times New Roman Regular" panose="02020503050405090304" charset="0"/>
              </a:rPr>
              <a:t>[4] </a:t>
            </a:r>
            <a:r>
              <a:rPr lang="fr-FR" altLang="zh-CN" i="1" dirty="0">
                <a:latin typeface="Times New Roman Regular" panose="02020503050405090304" charset="0"/>
                <a:cs typeface="Times New Roman Regular" panose="02020503050405090304" charset="0"/>
              </a:rPr>
              <a:t>Denoising Diffusion Implicit Models</a:t>
            </a:r>
            <a:r>
              <a:rPr lang="fr-FR" altLang="zh-CN" dirty="0">
                <a:latin typeface="Times New Roman Regular" panose="02020503050405090304" charset="0"/>
                <a:cs typeface="Times New Roman Regular" panose="02020503050405090304" charset="0"/>
              </a:rPr>
              <a:t>, J. Song et al., </a:t>
            </a:r>
            <a:r>
              <a:rPr lang="fr-FR" altLang="zh-CN" b="1" dirty="0">
                <a:latin typeface="Times New Roman Regular" panose="02020503050405090304" charset="0"/>
                <a:cs typeface="Times New Roman Regular" panose="02020503050405090304" charset="0"/>
              </a:rPr>
              <a:t>ICLR 2021</a:t>
            </a:r>
          </a:p>
          <a:p>
            <a:r>
              <a:rPr lang="fr-FR" altLang="zh-CN" dirty="0">
                <a:latin typeface="Times New Roman Regular" panose="02020503050405090304" charset="0"/>
                <a:cs typeface="Times New Roman Regular" panose="02020503050405090304" charset="0"/>
              </a:rPr>
              <a:t>[5] </a:t>
            </a:r>
            <a:r>
              <a:rPr lang="en-US" altLang="zh-CN" i="1" dirty="0">
                <a:latin typeface="Times New Roman Regular" panose="02020503050405090304" charset="0"/>
                <a:cs typeface="Times New Roman Regular" panose="02020503050405090304" charset="0"/>
              </a:rPr>
              <a:t>Denoising Diffusion Probabilistic Models</a:t>
            </a:r>
            <a:r>
              <a:rPr lang="en-US" altLang="zh-CN" dirty="0">
                <a:latin typeface="Times New Roman Regular" panose="02020503050405090304" charset="0"/>
                <a:cs typeface="Times New Roman Regular" panose="02020503050405090304" charset="0"/>
              </a:rPr>
              <a:t>, J. Ho et al., </a:t>
            </a:r>
            <a:r>
              <a:rPr lang="en-US" altLang="zh-CN" b="1" dirty="0" err="1">
                <a:latin typeface="Times New Roman Regular" panose="02020503050405090304" charset="0"/>
                <a:cs typeface="Times New Roman Regular" panose="02020503050405090304" charset="0"/>
              </a:rPr>
              <a:t>NeurIPS</a:t>
            </a:r>
            <a:r>
              <a:rPr lang="en-US" altLang="zh-CN" b="1" dirty="0">
                <a:latin typeface="Times New Roman Regular" panose="02020503050405090304" charset="0"/>
                <a:cs typeface="Times New Roman Regular" panose="02020503050405090304" charset="0"/>
              </a:rPr>
              <a:t> 2020</a:t>
            </a:r>
          </a:p>
          <a:p>
            <a:r>
              <a:rPr lang="en-US" altLang="zh-CN" dirty="0">
                <a:latin typeface="Times New Roman Regular" panose="02020503050405090304" charset="0"/>
                <a:cs typeface="Times New Roman Regular" panose="02020503050405090304" charset="0"/>
              </a:rPr>
              <a:t>[6] </a:t>
            </a:r>
            <a:r>
              <a:rPr lang="en-US" altLang="zh-CN" i="1" dirty="0">
                <a:latin typeface="Times New Roman Regular" panose="02020503050405090304" charset="0"/>
                <a:cs typeface="Times New Roman Regular" panose="02020503050405090304" charset="0"/>
              </a:rPr>
              <a:t>High-Resolution Image Synthesis with Latent Diffusion Models</a:t>
            </a:r>
            <a:r>
              <a:rPr lang="en-US" altLang="zh-CN" dirty="0">
                <a:latin typeface="Times New Roman Regular" panose="02020503050405090304" charset="0"/>
                <a:cs typeface="Times New Roman Regular" panose="02020503050405090304" charset="0"/>
              </a:rPr>
              <a:t>, R. Rombach et al., </a:t>
            </a:r>
            <a:r>
              <a:rPr lang="en-US" altLang="zh-CN" b="1" dirty="0">
                <a:latin typeface="Times New Roman Regular" panose="02020503050405090304" charset="0"/>
                <a:cs typeface="Times New Roman Regular" panose="02020503050405090304" charset="0"/>
              </a:rPr>
              <a:t>CVPR 2022</a:t>
            </a:r>
          </a:p>
          <a:p>
            <a:r>
              <a:rPr lang="en-US" altLang="zh-CN" dirty="0">
                <a:latin typeface="Times New Roman Regular" panose="02020503050405090304" charset="0"/>
                <a:cs typeface="Times New Roman Regular" panose="02020503050405090304" charset="0"/>
              </a:rPr>
              <a:t>[7] </a:t>
            </a:r>
            <a:r>
              <a:rPr lang="en-US" altLang="zh-CN" i="1" dirty="0">
                <a:latin typeface="Times New Roman Regular" panose="02020503050405090304" charset="0"/>
                <a:cs typeface="Times New Roman Regular" panose="02020503050405090304" charset="0"/>
              </a:rPr>
              <a:t>Guided Image Synthesis and Editing with Stochastic Differential Equations</a:t>
            </a:r>
            <a:r>
              <a:rPr lang="en-US" altLang="zh-CN" dirty="0">
                <a:latin typeface="Times New Roman Regular" panose="02020503050405090304" charset="0"/>
                <a:cs typeface="Times New Roman Regular" panose="02020503050405090304" charset="0"/>
              </a:rPr>
              <a:t>, C. Meng et al., </a:t>
            </a:r>
            <a:r>
              <a:rPr lang="en-US" altLang="zh-CN" b="1" dirty="0">
                <a:latin typeface="Times New Roman Regular" panose="02020503050405090304" charset="0"/>
                <a:cs typeface="Times New Roman Regular" panose="02020503050405090304" charset="0"/>
              </a:rPr>
              <a:t>ICLR 2022</a:t>
            </a:r>
          </a:p>
          <a:p>
            <a:r>
              <a:rPr lang="en-US" altLang="zh-CN" dirty="0">
                <a:latin typeface="Times New Roman Regular" panose="02020503050405090304" charset="0"/>
                <a:cs typeface="Times New Roman Regular" panose="02020503050405090304" charset="0"/>
              </a:rPr>
              <a:t>[8] </a:t>
            </a:r>
            <a:r>
              <a:rPr lang="en-US" altLang="zh-CN" i="1" dirty="0">
                <a:latin typeface="Times New Roman Regular" panose="02020503050405090304" charset="0"/>
                <a:cs typeface="Times New Roman Regular" panose="02020503050405090304" charset="0"/>
              </a:rPr>
              <a:t>An Edit Friendly DDIM Inversion for Generating High-Resolution Images</a:t>
            </a:r>
            <a:r>
              <a:rPr lang="en-US" altLang="zh-CN" dirty="0">
                <a:latin typeface="Times New Roman Regular" panose="02020503050405090304" charset="0"/>
                <a:cs typeface="Times New Roman Regular" panose="02020503050405090304" charset="0"/>
              </a:rPr>
              <a:t>, M. </a:t>
            </a:r>
            <a:r>
              <a:rPr lang="en-US" altLang="zh-CN" dirty="0" err="1">
                <a:latin typeface="Times New Roman Regular" panose="02020503050405090304" charset="0"/>
                <a:cs typeface="Times New Roman Regular" panose="02020503050405090304" charset="0"/>
              </a:rPr>
              <a:t>Panashchuk</a:t>
            </a:r>
            <a:r>
              <a:rPr lang="en-US" altLang="zh-CN" dirty="0">
                <a:latin typeface="Times New Roman Regular" panose="02020503050405090304" charset="0"/>
                <a:cs typeface="Times New Roman Regular" panose="02020503050405090304" charset="0"/>
              </a:rPr>
              <a:t> et al., </a:t>
            </a:r>
            <a:r>
              <a:rPr lang="en-US" altLang="zh-CN" b="1" dirty="0" err="1">
                <a:latin typeface="Times New Roman Regular" panose="02020503050405090304" charset="0"/>
                <a:cs typeface="Times New Roman Regular" panose="02020503050405090304" charset="0"/>
              </a:rPr>
              <a:t>arXiv</a:t>
            </a:r>
            <a:r>
              <a:rPr lang="en-US" altLang="zh-CN" b="1" dirty="0">
                <a:latin typeface="Times New Roman Regular" panose="02020503050405090304" charset="0"/>
                <a:cs typeface="Times New Roman Regular" panose="02020503050405090304" charset="0"/>
              </a:rPr>
              <a:t> 2023</a:t>
            </a:r>
          </a:p>
        </p:txBody>
      </p:sp>
      <p:sp>
        <p:nvSpPr>
          <p:cNvPr id="3" name="灯片编号占位符 2">
            <a:extLst>
              <a:ext uri="{FF2B5EF4-FFF2-40B4-BE49-F238E27FC236}">
                <a16:creationId xmlns:a16="http://schemas.microsoft.com/office/drawing/2014/main" id="{738AF651-3690-DF0E-5CE5-6024ED26D0BA}"/>
              </a:ext>
            </a:extLst>
          </p:cNvPr>
          <p:cNvSpPr>
            <a:spLocks noGrp="1"/>
          </p:cNvSpPr>
          <p:nvPr>
            <p:ph type="sldNum" sz="quarter" idx="12"/>
          </p:nvPr>
        </p:nvSpPr>
        <p:spPr/>
        <p:txBody>
          <a:bodyPr/>
          <a:lstStyle/>
          <a:p>
            <a:fld id="{E6518835-16E6-9244-9C02-6BFB876E5D3C}" type="slidenum">
              <a:rPr kumimoji="1" lang="zh-CN" altLang="en-US" smtClean="0"/>
              <a:t>36</a:t>
            </a:fld>
            <a:endParaRPr kumimoji="1"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4289366"/>
            <a:ext cx="12192000" cy="2587683"/>
            <a:chOff x="0" y="3886200"/>
            <a:chExt cx="10740496" cy="2990850"/>
          </a:xfrm>
        </p:grpSpPr>
        <p:sp>
          <p:nvSpPr>
            <p:cNvPr id="4" name="任意形状 3"/>
            <p:cNvSpPr/>
            <p:nvPr/>
          </p:nvSpPr>
          <p:spPr>
            <a:xfrm>
              <a:off x="0" y="3886200"/>
              <a:ext cx="5370248" cy="2990850"/>
            </a:xfrm>
            <a:custGeom>
              <a:avLst/>
              <a:gdLst>
                <a:gd name="connsiteX0" fmla="*/ 0 w 5370248"/>
                <a:gd name="connsiteY0" fmla="*/ 0 h 2990850"/>
                <a:gd name="connsiteX1" fmla="*/ 1447 w 5370248"/>
                <a:gd name="connsiteY1" fmla="*/ 0 h 2990850"/>
                <a:gd name="connsiteX2" fmla="*/ 15736 w 5370248"/>
                <a:gd name="connsiteY2" fmla="*/ 206637 h 2990850"/>
                <a:gd name="connsiteX3" fmla="*/ 3048000 w 5370248"/>
                <a:gd name="connsiteY3" fmla="*/ 2204789 h 2990850"/>
                <a:gd name="connsiteX4" fmla="*/ 5203262 w 5370248"/>
                <a:gd name="connsiteY4" fmla="*/ 2856687 h 2990850"/>
                <a:gd name="connsiteX5" fmla="*/ 5370248 w 5370248"/>
                <a:gd name="connsiteY5" fmla="*/ 2990850 h 2990850"/>
                <a:gd name="connsiteX6" fmla="*/ 0 w 5370248"/>
                <a:gd name="connsiteY6" fmla="*/ 2990850 h 2990850"/>
                <a:gd name="connsiteX7" fmla="*/ 0 w 5370248"/>
                <a:gd name="connsiteY7" fmla="*/ 0 h 299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0248" h="2990850">
                  <a:moveTo>
                    <a:pt x="0" y="0"/>
                  </a:moveTo>
                  <a:lnTo>
                    <a:pt x="1447" y="0"/>
                  </a:lnTo>
                  <a:lnTo>
                    <a:pt x="15736" y="206637"/>
                  </a:lnTo>
                  <a:cubicBezTo>
                    <a:pt x="171824" y="1328969"/>
                    <a:pt x="1469846" y="2204789"/>
                    <a:pt x="3048000" y="2204789"/>
                  </a:cubicBezTo>
                  <a:cubicBezTo>
                    <a:pt x="3889682" y="2204789"/>
                    <a:pt x="4651682" y="2453911"/>
                    <a:pt x="5203262" y="2856687"/>
                  </a:cubicBezTo>
                  <a:lnTo>
                    <a:pt x="5370248" y="2990850"/>
                  </a:lnTo>
                  <a:lnTo>
                    <a:pt x="0" y="299085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7" name="任意形状 6"/>
            <p:cNvSpPr/>
            <p:nvPr/>
          </p:nvSpPr>
          <p:spPr>
            <a:xfrm flipH="1">
              <a:off x="5370248" y="3886200"/>
              <a:ext cx="5370248" cy="2990850"/>
            </a:xfrm>
            <a:custGeom>
              <a:avLst/>
              <a:gdLst>
                <a:gd name="connsiteX0" fmla="*/ 0 w 5370248"/>
                <a:gd name="connsiteY0" fmla="*/ 0 h 2990850"/>
                <a:gd name="connsiteX1" fmla="*/ 1447 w 5370248"/>
                <a:gd name="connsiteY1" fmla="*/ 0 h 2990850"/>
                <a:gd name="connsiteX2" fmla="*/ 15736 w 5370248"/>
                <a:gd name="connsiteY2" fmla="*/ 206637 h 2990850"/>
                <a:gd name="connsiteX3" fmla="*/ 3048000 w 5370248"/>
                <a:gd name="connsiteY3" fmla="*/ 2204789 h 2990850"/>
                <a:gd name="connsiteX4" fmla="*/ 5203262 w 5370248"/>
                <a:gd name="connsiteY4" fmla="*/ 2856687 h 2990850"/>
                <a:gd name="connsiteX5" fmla="*/ 5370248 w 5370248"/>
                <a:gd name="connsiteY5" fmla="*/ 2990850 h 2990850"/>
                <a:gd name="connsiteX6" fmla="*/ 0 w 5370248"/>
                <a:gd name="connsiteY6" fmla="*/ 2990850 h 2990850"/>
                <a:gd name="connsiteX7" fmla="*/ 0 w 5370248"/>
                <a:gd name="connsiteY7" fmla="*/ 0 h 299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0248" h="2990850">
                  <a:moveTo>
                    <a:pt x="0" y="0"/>
                  </a:moveTo>
                  <a:lnTo>
                    <a:pt x="1447" y="0"/>
                  </a:lnTo>
                  <a:lnTo>
                    <a:pt x="15736" y="206637"/>
                  </a:lnTo>
                  <a:cubicBezTo>
                    <a:pt x="171824" y="1328969"/>
                    <a:pt x="1469846" y="2204789"/>
                    <a:pt x="3048000" y="2204789"/>
                  </a:cubicBezTo>
                  <a:cubicBezTo>
                    <a:pt x="3889682" y="2204789"/>
                    <a:pt x="4651682" y="2453911"/>
                    <a:pt x="5203262" y="2856687"/>
                  </a:cubicBezTo>
                  <a:lnTo>
                    <a:pt x="5370248" y="2990850"/>
                  </a:lnTo>
                  <a:lnTo>
                    <a:pt x="0" y="299085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grpSp>
        <p:nvGrpSpPr>
          <p:cNvPr id="9" name="组合 8"/>
          <p:cNvGrpSpPr/>
          <p:nvPr/>
        </p:nvGrpSpPr>
        <p:grpSpPr>
          <a:xfrm>
            <a:off x="0" y="3291840"/>
            <a:ext cx="12192000" cy="3585209"/>
            <a:chOff x="0" y="3886200"/>
            <a:chExt cx="10740496" cy="2990850"/>
          </a:xfrm>
          <a:solidFill>
            <a:schemeClr val="accent1">
              <a:alpha val="14408"/>
            </a:schemeClr>
          </a:solidFill>
        </p:grpSpPr>
        <p:sp>
          <p:nvSpPr>
            <p:cNvPr id="10" name="任意形状 9"/>
            <p:cNvSpPr/>
            <p:nvPr/>
          </p:nvSpPr>
          <p:spPr>
            <a:xfrm>
              <a:off x="0" y="3886200"/>
              <a:ext cx="5370248" cy="2990850"/>
            </a:xfrm>
            <a:custGeom>
              <a:avLst/>
              <a:gdLst>
                <a:gd name="connsiteX0" fmla="*/ 0 w 5370248"/>
                <a:gd name="connsiteY0" fmla="*/ 0 h 2990850"/>
                <a:gd name="connsiteX1" fmla="*/ 1447 w 5370248"/>
                <a:gd name="connsiteY1" fmla="*/ 0 h 2990850"/>
                <a:gd name="connsiteX2" fmla="*/ 15736 w 5370248"/>
                <a:gd name="connsiteY2" fmla="*/ 206637 h 2990850"/>
                <a:gd name="connsiteX3" fmla="*/ 3048000 w 5370248"/>
                <a:gd name="connsiteY3" fmla="*/ 2204789 h 2990850"/>
                <a:gd name="connsiteX4" fmla="*/ 5203262 w 5370248"/>
                <a:gd name="connsiteY4" fmla="*/ 2856687 h 2990850"/>
                <a:gd name="connsiteX5" fmla="*/ 5370248 w 5370248"/>
                <a:gd name="connsiteY5" fmla="*/ 2990850 h 2990850"/>
                <a:gd name="connsiteX6" fmla="*/ 0 w 5370248"/>
                <a:gd name="connsiteY6" fmla="*/ 2990850 h 2990850"/>
                <a:gd name="connsiteX7" fmla="*/ 0 w 5370248"/>
                <a:gd name="connsiteY7" fmla="*/ 0 h 299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0248" h="2990850">
                  <a:moveTo>
                    <a:pt x="0" y="0"/>
                  </a:moveTo>
                  <a:lnTo>
                    <a:pt x="1447" y="0"/>
                  </a:lnTo>
                  <a:lnTo>
                    <a:pt x="15736" y="206637"/>
                  </a:lnTo>
                  <a:cubicBezTo>
                    <a:pt x="171824" y="1328969"/>
                    <a:pt x="1469846" y="2204789"/>
                    <a:pt x="3048000" y="2204789"/>
                  </a:cubicBezTo>
                  <a:cubicBezTo>
                    <a:pt x="3889682" y="2204789"/>
                    <a:pt x="4651682" y="2453911"/>
                    <a:pt x="5203262" y="2856687"/>
                  </a:cubicBezTo>
                  <a:lnTo>
                    <a:pt x="5370248" y="2990850"/>
                  </a:lnTo>
                  <a:lnTo>
                    <a:pt x="0" y="299085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1" name="任意形状 10"/>
            <p:cNvSpPr/>
            <p:nvPr/>
          </p:nvSpPr>
          <p:spPr>
            <a:xfrm flipH="1">
              <a:off x="5370248" y="3886200"/>
              <a:ext cx="5370248" cy="2990850"/>
            </a:xfrm>
            <a:custGeom>
              <a:avLst/>
              <a:gdLst>
                <a:gd name="connsiteX0" fmla="*/ 0 w 5370248"/>
                <a:gd name="connsiteY0" fmla="*/ 0 h 2990850"/>
                <a:gd name="connsiteX1" fmla="*/ 1447 w 5370248"/>
                <a:gd name="connsiteY1" fmla="*/ 0 h 2990850"/>
                <a:gd name="connsiteX2" fmla="*/ 15736 w 5370248"/>
                <a:gd name="connsiteY2" fmla="*/ 206637 h 2990850"/>
                <a:gd name="connsiteX3" fmla="*/ 3048000 w 5370248"/>
                <a:gd name="connsiteY3" fmla="*/ 2204789 h 2990850"/>
                <a:gd name="connsiteX4" fmla="*/ 5203262 w 5370248"/>
                <a:gd name="connsiteY4" fmla="*/ 2856687 h 2990850"/>
                <a:gd name="connsiteX5" fmla="*/ 5370248 w 5370248"/>
                <a:gd name="connsiteY5" fmla="*/ 2990850 h 2990850"/>
                <a:gd name="connsiteX6" fmla="*/ 0 w 5370248"/>
                <a:gd name="connsiteY6" fmla="*/ 2990850 h 2990850"/>
                <a:gd name="connsiteX7" fmla="*/ 0 w 5370248"/>
                <a:gd name="connsiteY7" fmla="*/ 0 h 299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0248" h="2990850">
                  <a:moveTo>
                    <a:pt x="0" y="0"/>
                  </a:moveTo>
                  <a:lnTo>
                    <a:pt x="1447" y="0"/>
                  </a:lnTo>
                  <a:lnTo>
                    <a:pt x="15736" y="206637"/>
                  </a:lnTo>
                  <a:cubicBezTo>
                    <a:pt x="171824" y="1328969"/>
                    <a:pt x="1469846" y="2204789"/>
                    <a:pt x="3048000" y="2204789"/>
                  </a:cubicBezTo>
                  <a:cubicBezTo>
                    <a:pt x="3889682" y="2204789"/>
                    <a:pt x="4651682" y="2453911"/>
                    <a:pt x="5203262" y="2856687"/>
                  </a:cubicBezTo>
                  <a:lnTo>
                    <a:pt x="5370248" y="2990850"/>
                  </a:lnTo>
                  <a:lnTo>
                    <a:pt x="0" y="299085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sp>
        <p:nvSpPr>
          <p:cNvPr id="13" name="任意形状 12"/>
          <p:cNvSpPr/>
          <p:nvPr/>
        </p:nvSpPr>
        <p:spPr>
          <a:xfrm>
            <a:off x="0" y="1733343"/>
            <a:ext cx="6096000" cy="5124657"/>
          </a:xfrm>
          <a:custGeom>
            <a:avLst/>
            <a:gdLst>
              <a:gd name="connsiteX0" fmla="*/ 0 w 5370248"/>
              <a:gd name="connsiteY0" fmla="*/ 0 h 2990850"/>
              <a:gd name="connsiteX1" fmla="*/ 1447 w 5370248"/>
              <a:gd name="connsiteY1" fmla="*/ 0 h 2990850"/>
              <a:gd name="connsiteX2" fmla="*/ 15736 w 5370248"/>
              <a:gd name="connsiteY2" fmla="*/ 206637 h 2990850"/>
              <a:gd name="connsiteX3" fmla="*/ 3048000 w 5370248"/>
              <a:gd name="connsiteY3" fmla="*/ 2204789 h 2990850"/>
              <a:gd name="connsiteX4" fmla="*/ 5203262 w 5370248"/>
              <a:gd name="connsiteY4" fmla="*/ 2856687 h 2990850"/>
              <a:gd name="connsiteX5" fmla="*/ 5370248 w 5370248"/>
              <a:gd name="connsiteY5" fmla="*/ 2990850 h 2990850"/>
              <a:gd name="connsiteX6" fmla="*/ 0 w 5370248"/>
              <a:gd name="connsiteY6" fmla="*/ 2990850 h 2990850"/>
              <a:gd name="connsiteX7" fmla="*/ 0 w 5370248"/>
              <a:gd name="connsiteY7" fmla="*/ 0 h 299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0248" h="2990850">
                <a:moveTo>
                  <a:pt x="0" y="0"/>
                </a:moveTo>
                <a:lnTo>
                  <a:pt x="1447" y="0"/>
                </a:lnTo>
                <a:lnTo>
                  <a:pt x="15736" y="206637"/>
                </a:lnTo>
                <a:cubicBezTo>
                  <a:pt x="171824" y="1328969"/>
                  <a:pt x="1469846" y="2204789"/>
                  <a:pt x="3048000" y="2204789"/>
                </a:cubicBezTo>
                <a:cubicBezTo>
                  <a:pt x="3889682" y="2204789"/>
                  <a:pt x="4651682" y="2453911"/>
                  <a:pt x="5203262" y="2856687"/>
                </a:cubicBezTo>
                <a:lnTo>
                  <a:pt x="5370248" y="2990850"/>
                </a:lnTo>
                <a:lnTo>
                  <a:pt x="0" y="2990850"/>
                </a:lnTo>
                <a:lnTo>
                  <a:pt x="0" y="0"/>
                </a:lnTo>
                <a:close/>
              </a:path>
            </a:pathLst>
          </a:custGeom>
          <a:solidFill>
            <a:schemeClr val="accent1">
              <a:alpha val="1440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4" name="任意形状 13"/>
          <p:cNvSpPr/>
          <p:nvPr/>
        </p:nvSpPr>
        <p:spPr>
          <a:xfrm flipH="1">
            <a:off x="6096000" y="1714294"/>
            <a:ext cx="6096000" cy="5124657"/>
          </a:xfrm>
          <a:custGeom>
            <a:avLst/>
            <a:gdLst>
              <a:gd name="connsiteX0" fmla="*/ 0 w 5370248"/>
              <a:gd name="connsiteY0" fmla="*/ 0 h 2990850"/>
              <a:gd name="connsiteX1" fmla="*/ 1447 w 5370248"/>
              <a:gd name="connsiteY1" fmla="*/ 0 h 2990850"/>
              <a:gd name="connsiteX2" fmla="*/ 15736 w 5370248"/>
              <a:gd name="connsiteY2" fmla="*/ 206637 h 2990850"/>
              <a:gd name="connsiteX3" fmla="*/ 3048000 w 5370248"/>
              <a:gd name="connsiteY3" fmla="*/ 2204789 h 2990850"/>
              <a:gd name="connsiteX4" fmla="*/ 5203262 w 5370248"/>
              <a:gd name="connsiteY4" fmla="*/ 2856687 h 2990850"/>
              <a:gd name="connsiteX5" fmla="*/ 5370248 w 5370248"/>
              <a:gd name="connsiteY5" fmla="*/ 2990850 h 2990850"/>
              <a:gd name="connsiteX6" fmla="*/ 0 w 5370248"/>
              <a:gd name="connsiteY6" fmla="*/ 2990850 h 2990850"/>
              <a:gd name="connsiteX7" fmla="*/ 0 w 5370248"/>
              <a:gd name="connsiteY7" fmla="*/ 0 h 299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0248" h="2990850">
                <a:moveTo>
                  <a:pt x="0" y="0"/>
                </a:moveTo>
                <a:lnTo>
                  <a:pt x="1447" y="0"/>
                </a:lnTo>
                <a:lnTo>
                  <a:pt x="15736" y="206637"/>
                </a:lnTo>
                <a:cubicBezTo>
                  <a:pt x="171824" y="1328969"/>
                  <a:pt x="1469846" y="2204789"/>
                  <a:pt x="3048000" y="2204789"/>
                </a:cubicBezTo>
                <a:cubicBezTo>
                  <a:pt x="3889682" y="2204789"/>
                  <a:pt x="4651682" y="2453911"/>
                  <a:pt x="5203262" y="2856687"/>
                </a:cubicBezTo>
                <a:lnTo>
                  <a:pt x="5370248" y="2990850"/>
                </a:lnTo>
                <a:lnTo>
                  <a:pt x="0" y="2990850"/>
                </a:lnTo>
                <a:lnTo>
                  <a:pt x="0" y="0"/>
                </a:lnTo>
                <a:close/>
              </a:path>
            </a:pathLst>
          </a:custGeom>
          <a:solidFill>
            <a:schemeClr val="accent1">
              <a:alpha val="1440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6" name="文本框 15"/>
          <p:cNvSpPr txBox="1"/>
          <p:nvPr/>
        </p:nvSpPr>
        <p:spPr>
          <a:xfrm>
            <a:off x="1544501" y="2268929"/>
            <a:ext cx="9100458" cy="1322070"/>
          </a:xfrm>
          <a:prstGeom prst="rect">
            <a:avLst/>
          </a:prstGeom>
          <a:noFill/>
        </p:spPr>
        <p:txBody>
          <a:bodyPr wrap="square">
            <a:spAutoFit/>
          </a:bodyPr>
          <a:lstStyle/>
          <a:p>
            <a:pPr algn="ctr"/>
            <a:r>
              <a:rPr lang="en-GB" altLang="zh-CN" sz="8000" dirty="0">
                <a:solidFill>
                  <a:srgbClr val="006BC0"/>
                </a:solidFill>
                <a:latin typeface="Times New Roman Regular" panose="02020503050405090304" charset="0"/>
                <a:ea typeface="微软雅黑" panose="020B0503020204020204" pitchFamily="34" charset="-122"/>
                <a:cs typeface="Times New Roman Regular" panose="02020503050405090304" charset="0"/>
              </a:rPr>
              <a:t>THANK YOU</a:t>
            </a:r>
          </a:p>
        </p:txBody>
      </p:sp>
      <p:sp>
        <p:nvSpPr>
          <p:cNvPr id="18" name="文本框 17"/>
          <p:cNvSpPr txBox="1"/>
          <p:nvPr/>
        </p:nvSpPr>
        <p:spPr>
          <a:xfrm>
            <a:off x="4001135" y="3772535"/>
            <a:ext cx="4189730" cy="1198880"/>
          </a:xfrm>
          <a:prstGeom prst="rect">
            <a:avLst/>
          </a:prstGeom>
          <a:noFill/>
        </p:spPr>
        <p:txBody>
          <a:bodyPr wrap="square" rtlCol="0">
            <a:spAutoFit/>
          </a:bodyPr>
          <a:lstStyle/>
          <a:p>
            <a:pPr algn="ctr"/>
            <a:r>
              <a:rPr kumimoji="1" lang="en-US" altLang="zh-CN" sz="2400" spc="120" dirty="0">
                <a:solidFill>
                  <a:schemeClr val="tx1">
                    <a:lumMod val="65000"/>
                    <a:lumOff val="35000"/>
                  </a:schemeClr>
                </a:solidFill>
                <a:latin typeface="Times New Roman Regular" panose="02020503050405090304" charset="0"/>
                <a:ea typeface="微软雅黑" panose="020B0503020204020204" pitchFamily="34" charset="-122"/>
                <a:cs typeface="Times New Roman Regular" panose="02020503050405090304" charset="0"/>
              </a:rPr>
              <a:t>Zhang Xiting, Guo Jiawei, Wang Xiaoye, Lu Siyuan</a:t>
            </a:r>
          </a:p>
          <a:p>
            <a:pPr algn="ctr"/>
            <a:endParaRPr kumimoji="1" lang="en-US" altLang="zh-CN" sz="2400" spc="120" dirty="0">
              <a:solidFill>
                <a:schemeClr val="tx1">
                  <a:lumMod val="65000"/>
                  <a:lumOff val="35000"/>
                </a:schemeClr>
              </a:solidFill>
              <a:latin typeface="Times New Roman Regular" panose="02020503050405090304" charset="0"/>
              <a:ea typeface="微软雅黑" panose="020B0503020204020204" pitchFamily="34" charset="-122"/>
              <a:cs typeface="Times New Roman Regular" panose="02020503050405090304" charset="0"/>
            </a:endParaRPr>
          </a:p>
        </p:txBody>
      </p:sp>
      <p:sp>
        <p:nvSpPr>
          <p:cNvPr id="19" name="文本框 18"/>
          <p:cNvSpPr txBox="1"/>
          <p:nvPr/>
        </p:nvSpPr>
        <p:spPr>
          <a:xfrm>
            <a:off x="4679446" y="4730036"/>
            <a:ext cx="2834050" cy="398780"/>
          </a:xfrm>
          <a:prstGeom prst="rect">
            <a:avLst/>
          </a:prstGeom>
          <a:noFill/>
        </p:spPr>
        <p:txBody>
          <a:bodyPr wrap="square" rtlCol="0">
            <a:spAutoFit/>
          </a:bodyPr>
          <a:lstStyle/>
          <a:p>
            <a:pPr algn="ctr"/>
            <a:r>
              <a:rPr kumimoji="1" lang="en-US" sz="2000" spc="120" dirty="0">
                <a:solidFill>
                  <a:schemeClr val="tx1">
                    <a:lumMod val="65000"/>
                    <a:lumOff val="35000"/>
                  </a:schemeClr>
                </a:solidFill>
                <a:latin typeface="Times New Roman Regular" panose="02020503050405090304" charset="0"/>
                <a:ea typeface="微软雅黑" panose="020B0503020204020204" pitchFamily="34" charset="-122"/>
                <a:cs typeface="Times New Roman Regular" panose="02020503050405090304" charset="0"/>
              </a:rPr>
              <a:t>2026.5.5</a:t>
            </a:r>
          </a:p>
        </p:txBody>
      </p:sp>
      <p:pic>
        <p:nvPicPr>
          <p:cNvPr id="2" name="图片 1"/>
          <p:cNvPicPr>
            <a:picLocks noChangeAspect="1"/>
          </p:cNvPicPr>
          <p:nvPr/>
        </p:nvPicPr>
        <p:blipFill>
          <a:blip r:embed="rId2"/>
          <a:stretch>
            <a:fillRect/>
          </a:stretch>
        </p:blipFill>
        <p:spPr>
          <a:xfrm>
            <a:off x="4000878" y="694990"/>
            <a:ext cx="4190244" cy="874816"/>
          </a:xfrm>
          <a:prstGeom prst="rect">
            <a:avLst/>
          </a:prstGeom>
        </p:spPr>
      </p:pic>
      <p:sp>
        <p:nvSpPr>
          <p:cNvPr id="3" name="灯片编号占位符 2">
            <a:extLst>
              <a:ext uri="{FF2B5EF4-FFF2-40B4-BE49-F238E27FC236}">
                <a16:creationId xmlns:a16="http://schemas.microsoft.com/office/drawing/2014/main" id="{966279B1-80BA-1173-D813-08E72076F23B}"/>
              </a:ext>
            </a:extLst>
          </p:cNvPr>
          <p:cNvSpPr>
            <a:spLocks noGrp="1"/>
          </p:cNvSpPr>
          <p:nvPr>
            <p:ph type="sldNum" sz="quarter" idx="12"/>
          </p:nvPr>
        </p:nvSpPr>
        <p:spPr/>
        <p:txBody>
          <a:bodyPr/>
          <a:lstStyle/>
          <a:p>
            <a:fld id="{E6518835-16E6-9244-9C02-6BFB876E5D3C}" type="slidenum">
              <a:rPr kumimoji="1" lang="zh-CN" altLang="en-US" smtClean="0"/>
              <a:t>37</a:t>
            </a:fld>
            <a:endParaRPr kumimoji="1"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11"/>
</p:tagLst>
</file>

<file path=ppt/tags/tag2.xml><?xml version="1.0" encoding="utf-8"?>
<p:tagLst xmlns:a="http://schemas.openxmlformats.org/drawingml/2006/main" xmlns:r="http://schemas.openxmlformats.org/officeDocument/2006/relationships" xmlns:p="http://schemas.openxmlformats.org/presentationml/2006/main">
  <p:tag name="PA" val="v5.2.11"/>
</p:tagLst>
</file>

<file path=ppt/tags/tag3.xml><?xml version="1.0" encoding="utf-8"?>
<p:tagLst xmlns:a="http://schemas.openxmlformats.org/drawingml/2006/main" xmlns:r="http://schemas.openxmlformats.org/officeDocument/2006/relationships" xmlns:p="http://schemas.openxmlformats.org/presentationml/2006/main">
  <p:tag name="PA" val="v5.2.11"/>
</p:tagLst>
</file>

<file path=ppt/tags/tag4.xml><?xml version="1.0" encoding="utf-8"?>
<p:tagLst xmlns:a="http://schemas.openxmlformats.org/drawingml/2006/main" xmlns:r="http://schemas.openxmlformats.org/officeDocument/2006/relationships" xmlns:p="http://schemas.openxmlformats.org/presentationml/2006/main">
  <p:tag name="PA" val="v5.2.11"/>
</p:tagLst>
</file>

<file path=ppt/tags/tag5.xml><?xml version="1.0" encoding="utf-8"?>
<p:tagLst xmlns:a="http://schemas.openxmlformats.org/drawingml/2006/main" xmlns:r="http://schemas.openxmlformats.org/officeDocument/2006/relationships" xmlns:p="http://schemas.openxmlformats.org/presentationml/2006/main">
  <p:tag name="PA" val="v5.2.11"/>
</p:tagLst>
</file>

<file path=ppt/tags/tag6.xml><?xml version="1.0" encoding="utf-8"?>
<p:tagLst xmlns:a="http://schemas.openxmlformats.org/drawingml/2006/main" xmlns:r="http://schemas.openxmlformats.org/officeDocument/2006/relationships" xmlns:p="http://schemas.openxmlformats.org/presentationml/2006/main">
  <p:tag name="PA" val="v5.2.11"/>
</p:tagLst>
</file>

<file path=ppt/tags/tag7.xml><?xml version="1.0" encoding="utf-8"?>
<p:tagLst xmlns:a="http://schemas.openxmlformats.org/drawingml/2006/main" xmlns:r="http://schemas.openxmlformats.org/officeDocument/2006/relationships" xmlns:p="http://schemas.openxmlformats.org/presentationml/2006/main">
  <p:tag name="PA" val="v5.2.11"/>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PA" val="v5.2.11"/>
</p:tagLst>
</file>

<file path=ppt/tags/tag10.xml><?xml version="1.0" encoding="utf-8"?>
<p:tagLst xmlns:a="http://schemas.openxmlformats.org/drawingml/2006/main" xmlns:r="http://schemas.openxmlformats.org/officeDocument/2006/relationships" xmlns:p="http://schemas.openxmlformats.org/presentationml/2006/main">
  <p:tag name="PA" val="v5.2.11"/>
</p:tagLst>
</file>

<file path=ppt/tags/tag11.xml><?xml version="1.0" encoding="utf-8"?>
<p:tagLst xmlns:a="http://schemas.openxmlformats.org/drawingml/2006/main" xmlns:r="http://schemas.openxmlformats.org/officeDocument/2006/relationships" xmlns:p="http://schemas.openxmlformats.org/presentationml/2006/main">
  <p:tag name="PA" val="v5.2.11"/>
</p:tagLst>
</file>

<file path=ppt/tags/tag12.xml><?xml version="1.0" encoding="utf-8"?>
<p:tagLst xmlns:a="http://schemas.openxmlformats.org/drawingml/2006/main" xmlns:r="http://schemas.openxmlformats.org/officeDocument/2006/relationships" xmlns:p="http://schemas.openxmlformats.org/presentationml/2006/main">
  <p:tag name="PA" val="v5.2.11"/>
</p:tagLst>
</file>

<file path=ppt/tags/tag13.xml><?xml version="1.0" encoding="utf-8"?>
<p:tagLst xmlns:a="http://schemas.openxmlformats.org/drawingml/2006/main" xmlns:r="http://schemas.openxmlformats.org/officeDocument/2006/relationships" xmlns:p="http://schemas.openxmlformats.org/presentationml/2006/main">
  <p:tag name="PA" val="v5.2.11"/>
</p:tagLst>
</file>

<file path=ppt/tags/tag14.xml><?xml version="1.0" encoding="utf-8"?>
<p:tagLst xmlns:a="http://schemas.openxmlformats.org/drawingml/2006/main" xmlns:r="http://schemas.openxmlformats.org/officeDocument/2006/relationships" xmlns:p="http://schemas.openxmlformats.org/presentationml/2006/main">
  <p:tag name="PA" val="v5.2.11"/>
</p:tagLst>
</file>

<file path=ppt/tags/tag15.xml><?xml version="1.0" encoding="utf-8"?>
<p:tagLst xmlns:a="http://schemas.openxmlformats.org/drawingml/2006/main" xmlns:r="http://schemas.openxmlformats.org/officeDocument/2006/relationships" xmlns:p="http://schemas.openxmlformats.org/presentationml/2006/main">
  <p:tag name="PA" val="v5.2.11"/>
</p:tagLst>
</file>

<file path=ppt/tags/tag16.xml><?xml version="1.0" encoding="utf-8"?>
<p:tagLst xmlns:a="http://schemas.openxmlformats.org/drawingml/2006/main" xmlns:r="http://schemas.openxmlformats.org/officeDocument/2006/relationships" xmlns:p="http://schemas.openxmlformats.org/presentationml/2006/main">
  <p:tag name="PA" val="v5.2.11"/>
</p:tagLst>
</file>

<file path=ppt/tags/tag17.xml><?xml version="1.0" encoding="utf-8"?>
<p:tagLst xmlns:a="http://schemas.openxmlformats.org/drawingml/2006/main" xmlns:r="http://schemas.openxmlformats.org/officeDocument/2006/relationships" xmlns:p="http://schemas.openxmlformats.org/presentationml/2006/main">
  <p:tag name="PA" val="v5.2.11"/>
</p:tagLst>
</file>

<file path=ppt/tags/tag18.xml><?xml version="1.0" encoding="utf-8"?>
<p:tagLst xmlns:a="http://schemas.openxmlformats.org/drawingml/2006/main" xmlns:r="http://schemas.openxmlformats.org/officeDocument/2006/relationships" xmlns:p="http://schemas.openxmlformats.org/presentationml/2006/main">
  <p:tag name="PA" val="v5.2.11"/>
</p:tagLst>
</file>

<file path=ppt/tags/tag19.xml><?xml version="1.0" encoding="utf-8"?>
<p:tagLst xmlns:a="http://schemas.openxmlformats.org/drawingml/2006/main" xmlns:r="http://schemas.openxmlformats.org/officeDocument/2006/relationships" xmlns:p="http://schemas.openxmlformats.org/presentationml/2006/main">
  <p:tag name="PA" val="v5.2.11"/>
</p:tagLst>
</file>

<file path=ppt/tags/tag20.xml><?xml version="1.0" encoding="utf-8"?>
<p:tagLst xmlns:a="http://schemas.openxmlformats.org/drawingml/2006/main" xmlns:r="http://schemas.openxmlformats.org/officeDocument/2006/relationships" xmlns:p="http://schemas.openxmlformats.org/presentationml/2006/main">
  <p:tag name="PA" val="v5.2.11"/>
</p:tagLst>
</file>

<file path=ppt/tags/tag21.xml><?xml version="1.0" encoding="utf-8"?>
<p:tagLst xmlns:a="http://schemas.openxmlformats.org/drawingml/2006/main" xmlns:r="http://schemas.openxmlformats.org/officeDocument/2006/relationships" xmlns:p="http://schemas.openxmlformats.org/presentationml/2006/main">
  <p:tag name="PA" val="v5.2.11"/>
</p:tagLst>
</file>

<file path=ppt/tags/tag22.xml><?xml version="1.0" encoding="utf-8"?>
<p:tagLst xmlns:a="http://schemas.openxmlformats.org/drawingml/2006/main" xmlns:r="http://schemas.openxmlformats.org/officeDocument/2006/relationships" xmlns:p="http://schemas.openxmlformats.org/presentationml/2006/main">
  <p:tag name="PA" val="v5.2.11"/>
</p:tagLst>
</file>

<file path=ppt/tags/tag23.xml><?xml version="1.0" encoding="utf-8"?>
<p:tagLst xmlns:a="http://schemas.openxmlformats.org/drawingml/2006/main" xmlns:r="http://schemas.openxmlformats.org/officeDocument/2006/relationships" xmlns:p="http://schemas.openxmlformats.org/presentationml/2006/main">
  <p:tag name="PA" val="v5.2.11"/>
</p:tagLst>
</file>

<file path=ppt/tags/tag24.xml><?xml version="1.0" encoding="utf-8"?>
<p:tagLst xmlns:a="http://schemas.openxmlformats.org/drawingml/2006/main" xmlns:r="http://schemas.openxmlformats.org/officeDocument/2006/relationships" xmlns:p="http://schemas.openxmlformats.org/presentationml/2006/main">
  <p:tag name="PA" val="v5.2.11"/>
</p:tagLst>
</file>

<file path=ppt/tags/tag25.xml><?xml version="1.0" encoding="utf-8"?>
<p:tagLst xmlns:a="http://schemas.openxmlformats.org/drawingml/2006/main" xmlns:r="http://schemas.openxmlformats.org/officeDocument/2006/relationships" xmlns:p="http://schemas.openxmlformats.org/presentationml/2006/main">
  <p:tag name="PA" val="v5.2.11"/>
</p:tagLst>
</file>

<file path=ppt/tags/tag26.xml><?xml version="1.0" encoding="utf-8"?>
<p:tagLst xmlns:a="http://schemas.openxmlformats.org/drawingml/2006/main" xmlns:r="http://schemas.openxmlformats.org/officeDocument/2006/relationships" xmlns:p="http://schemas.openxmlformats.org/presentationml/2006/main">
  <p:tag name="PA" val="v5.2.11"/>
</p:tagLst>
</file>

<file path=ppt/tags/tag27.xml><?xml version="1.0" encoding="utf-8"?>
<p:tagLst xmlns:a="http://schemas.openxmlformats.org/drawingml/2006/main" xmlns:r="http://schemas.openxmlformats.org/officeDocument/2006/relationships" xmlns:p="http://schemas.openxmlformats.org/presentationml/2006/main">
  <p:tag name="PA" val="v5.2.11"/>
</p:tagLst>
</file>

<file path=ppt/tags/tag28.xml><?xml version="1.0" encoding="utf-8"?>
<p:tagLst xmlns:a="http://schemas.openxmlformats.org/drawingml/2006/main" xmlns:r="http://schemas.openxmlformats.org/officeDocument/2006/relationships" xmlns:p="http://schemas.openxmlformats.org/presentationml/2006/main">
  <p:tag name="PA" val="v5.2.11"/>
</p:tagLst>
</file>

<file path=ppt/tags/tag29.xml><?xml version="1.0" encoding="utf-8"?>
<p:tagLst xmlns:a="http://schemas.openxmlformats.org/drawingml/2006/main" xmlns:r="http://schemas.openxmlformats.org/officeDocument/2006/relationships" xmlns:p="http://schemas.openxmlformats.org/presentationml/2006/main">
  <p:tag name="PA" val="v5.2.11"/>
</p:tagLst>
</file>

<file path=ppt/tags/tag30.xml><?xml version="1.0" encoding="utf-8"?>
<p:tagLst xmlns:a="http://schemas.openxmlformats.org/drawingml/2006/main" xmlns:r="http://schemas.openxmlformats.org/officeDocument/2006/relationships" xmlns:p="http://schemas.openxmlformats.org/presentationml/2006/main">
  <p:tag name="PA" val="v5.2.11"/>
</p:tagLst>
</file>

<file path=ppt/tags/tag31.xml><?xml version="1.0" encoding="utf-8"?>
<p:tagLst xmlns:a="http://schemas.openxmlformats.org/drawingml/2006/main" xmlns:r="http://schemas.openxmlformats.org/officeDocument/2006/relationships" xmlns:p="http://schemas.openxmlformats.org/presentationml/2006/main">
  <p:tag name="PA" val="v5.2.11"/>
</p:tagLst>
</file>

<file path=ppt/tags/tag32.xml><?xml version="1.0" encoding="utf-8"?>
<p:tagLst xmlns:a="http://schemas.openxmlformats.org/drawingml/2006/main" xmlns:r="http://schemas.openxmlformats.org/officeDocument/2006/relationships" xmlns:p="http://schemas.openxmlformats.org/presentationml/2006/main">
  <p:tag name="PA" val="v5.2.11"/>
</p:tagLst>
</file>

<file path=ppt/tags/tag33.xml><?xml version="1.0" encoding="utf-8"?>
<p:tagLst xmlns:a="http://schemas.openxmlformats.org/drawingml/2006/main" xmlns:r="http://schemas.openxmlformats.org/officeDocument/2006/relationships" xmlns:p="http://schemas.openxmlformats.org/presentationml/2006/main">
  <p:tag name="PA" val="v5.2.11"/>
</p:tagLst>
</file>

<file path=ppt/tags/tag34.xml><?xml version="1.0" encoding="utf-8"?>
<p:tagLst xmlns:a="http://schemas.openxmlformats.org/drawingml/2006/main" xmlns:r="http://schemas.openxmlformats.org/officeDocument/2006/relationships" xmlns:p="http://schemas.openxmlformats.org/presentationml/2006/main">
  <p:tag name="PA" val="v5.2.11"/>
</p:tagLst>
</file>

<file path=ppt/tags/tag35.xml><?xml version="1.0" encoding="utf-8"?>
<p:tagLst xmlns:a="http://schemas.openxmlformats.org/drawingml/2006/main" xmlns:r="http://schemas.openxmlformats.org/officeDocument/2006/relationships" xmlns:p="http://schemas.openxmlformats.org/presentationml/2006/main">
  <p:tag name="PA" val="v5.2.11"/>
</p:tagLst>
</file>

<file path=ppt/tags/tag36.xml><?xml version="1.0" encoding="utf-8"?>
<p:tagLst xmlns:a="http://schemas.openxmlformats.org/drawingml/2006/main" xmlns:r="http://schemas.openxmlformats.org/officeDocument/2006/relationships" xmlns:p="http://schemas.openxmlformats.org/presentationml/2006/main">
  <p:tag name="PA" val="v5.2.11"/>
</p:tagLst>
</file>

<file path=ppt/tags/tag37.xml><?xml version="1.0" encoding="utf-8"?>
<p:tagLst xmlns:a="http://schemas.openxmlformats.org/drawingml/2006/main" xmlns:r="http://schemas.openxmlformats.org/officeDocument/2006/relationships" xmlns:p="http://schemas.openxmlformats.org/presentationml/2006/main">
  <p:tag name="PA" val="v5.2.11"/>
</p:tagLst>
</file>

<file path=ppt/tags/tag38.xml><?xml version="1.0" encoding="utf-8"?>
<p:tagLst xmlns:a="http://schemas.openxmlformats.org/drawingml/2006/main" xmlns:r="http://schemas.openxmlformats.org/officeDocument/2006/relationships" xmlns:p="http://schemas.openxmlformats.org/presentationml/2006/main">
  <p:tag name="PA" val="v5.2.11"/>
</p:tagLst>
</file>

<file path=ppt/tags/tag39.xml><?xml version="1.0" encoding="utf-8"?>
<p:tagLst xmlns:a="http://schemas.openxmlformats.org/drawingml/2006/main" xmlns:r="http://schemas.openxmlformats.org/officeDocument/2006/relationships" xmlns:p="http://schemas.openxmlformats.org/presentationml/2006/main">
  <p:tag name="PA" val="v5.2.11"/>
</p:tagLst>
</file>

<file path=ppt/tags/tag40.xml><?xml version="1.0" encoding="utf-8"?>
<p:tagLst xmlns:a="http://schemas.openxmlformats.org/drawingml/2006/main" xmlns:r="http://schemas.openxmlformats.org/officeDocument/2006/relationships" xmlns:p="http://schemas.openxmlformats.org/presentationml/2006/main">
  <p:tag name="PA" val="v5.2.11"/>
</p:tagLst>
</file>

<file path=ppt/tags/tag41.xml><?xml version="1.0" encoding="utf-8"?>
<p:tagLst xmlns:a="http://schemas.openxmlformats.org/drawingml/2006/main" xmlns:r="http://schemas.openxmlformats.org/officeDocument/2006/relationships" xmlns:p="http://schemas.openxmlformats.org/presentationml/2006/main">
  <p:tag name="PA" val="v5.2.11"/>
</p:tagLst>
</file>

<file path=ppt/tags/tag42.xml><?xml version="1.0" encoding="utf-8"?>
<p:tagLst xmlns:a="http://schemas.openxmlformats.org/drawingml/2006/main" xmlns:r="http://schemas.openxmlformats.org/officeDocument/2006/relationships" xmlns:p="http://schemas.openxmlformats.org/presentationml/2006/main">
  <p:tag name="PA" val="v5.2.11"/>
</p:tagLst>
</file>

<file path=ppt/tags/tag43.xml><?xml version="1.0" encoding="utf-8"?>
<p:tagLst xmlns:a="http://schemas.openxmlformats.org/drawingml/2006/main" xmlns:r="http://schemas.openxmlformats.org/officeDocument/2006/relationships" xmlns:p="http://schemas.openxmlformats.org/presentationml/2006/main">
  <p:tag name="PA" val="v5.2.11"/>
</p:tagLst>
</file>

<file path=ppt/tags/tag44.xml><?xml version="1.0" encoding="utf-8"?>
<p:tagLst xmlns:a="http://schemas.openxmlformats.org/drawingml/2006/main" xmlns:r="http://schemas.openxmlformats.org/officeDocument/2006/relationships" xmlns:p="http://schemas.openxmlformats.org/presentationml/2006/main">
  <p:tag name="PA" val="v5.2.11"/>
</p:tagLst>
</file>

<file path=ppt/tags/tag45.xml><?xml version="1.0" encoding="utf-8"?>
<p:tagLst xmlns:a="http://schemas.openxmlformats.org/drawingml/2006/main" xmlns:r="http://schemas.openxmlformats.org/officeDocument/2006/relationships" xmlns:p="http://schemas.openxmlformats.org/presentationml/2006/main">
  <p:tag name="PA" val="v5.2.11"/>
</p:tagLst>
</file>

<file path=ppt/tags/tag46.xml><?xml version="1.0" encoding="utf-8"?>
<p:tagLst xmlns:a="http://schemas.openxmlformats.org/drawingml/2006/main" xmlns:r="http://schemas.openxmlformats.org/officeDocument/2006/relationships" xmlns:p="http://schemas.openxmlformats.org/presentationml/2006/main">
  <p:tag name="PA" val="v5.2.11"/>
</p:tagLst>
</file>

<file path=ppt/tags/tag47.xml><?xml version="1.0" encoding="utf-8"?>
<p:tagLst xmlns:a="http://schemas.openxmlformats.org/drawingml/2006/main" xmlns:r="http://schemas.openxmlformats.org/officeDocument/2006/relationships" xmlns:p="http://schemas.openxmlformats.org/presentationml/2006/main">
  <p:tag name="PA" val="v5.2.11"/>
</p:tagLst>
</file>

<file path=ppt/tags/tag48.xml><?xml version="1.0" encoding="utf-8"?>
<p:tagLst xmlns:a="http://schemas.openxmlformats.org/drawingml/2006/main" xmlns:r="http://schemas.openxmlformats.org/officeDocument/2006/relationships" xmlns:p="http://schemas.openxmlformats.org/presentationml/2006/main">
  <p:tag name="PA" val="v5.2.11"/>
</p:tagLst>
</file>

<file path=ppt/tags/tag49.xml><?xml version="1.0" encoding="utf-8"?>
<p:tagLst xmlns:a="http://schemas.openxmlformats.org/drawingml/2006/main" xmlns:r="http://schemas.openxmlformats.org/officeDocument/2006/relationships" xmlns:p="http://schemas.openxmlformats.org/presentationml/2006/main">
  <p:tag name="PA" val="v5.2.11"/>
</p:tagLst>
</file>

<file path=ppt/tags/tag50.xml><?xml version="1.0" encoding="utf-8"?>
<p:tagLst xmlns:a="http://schemas.openxmlformats.org/drawingml/2006/main" xmlns:r="http://schemas.openxmlformats.org/officeDocument/2006/relationships" xmlns:p="http://schemas.openxmlformats.org/presentationml/2006/main">
  <p:tag name="PA" val="v5.2.11"/>
</p:tagLst>
</file>

<file path=ppt/tags/tag51.xml><?xml version="1.0" encoding="utf-8"?>
<p:tagLst xmlns:a="http://schemas.openxmlformats.org/drawingml/2006/main" xmlns:r="http://schemas.openxmlformats.org/officeDocument/2006/relationships" xmlns:p="http://schemas.openxmlformats.org/presentationml/2006/main">
  <p:tag name="PA" val="v5.2.11"/>
</p:tagLst>
</file>

<file path=ppt/tags/tag52.xml><?xml version="1.0" encoding="utf-8"?>
<p:tagLst xmlns:a="http://schemas.openxmlformats.org/drawingml/2006/main" xmlns:r="http://schemas.openxmlformats.org/officeDocument/2006/relationships" xmlns:p="http://schemas.openxmlformats.org/presentationml/2006/main">
  <p:tag name="PA" val="v5.2.11"/>
</p:tagLst>
</file>

<file path=ppt/tags/tag53.xml><?xml version="1.0" encoding="utf-8"?>
<p:tagLst xmlns:a="http://schemas.openxmlformats.org/drawingml/2006/main" xmlns:r="http://schemas.openxmlformats.org/officeDocument/2006/relationships" xmlns:p="http://schemas.openxmlformats.org/presentationml/2006/main">
  <p:tag name="PA" val="v5.2.11"/>
</p:tagLst>
</file>

<file path=ppt/tags/tag54.xml><?xml version="1.0" encoding="utf-8"?>
<p:tagLst xmlns:a="http://schemas.openxmlformats.org/drawingml/2006/main" xmlns:r="http://schemas.openxmlformats.org/officeDocument/2006/relationships" xmlns:p="http://schemas.openxmlformats.org/presentationml/2006/main">
  <p:tag name="PA" val="v5.2.11"/>
</p:tagLst>
</file>

<file path=ppt/tags/tag55.xml><?xml version="1.0" encoding="utf-8"?>
<p:tagLst xmlns:a="http://schemas.openxmlformats.org/drawingml/2006/main" xmlns:r="http://schemas.openxmlformats.org/officeDocument/2006/relationships" xmlns:p="http://schemas.openxmlformats.org/presentationml/2006/main">
  <p:tag name="PA" val="v5.2.11"/>
</p:tagLst>
</file>

<file path=ppt/tags/tag56.xml><?xml version="1.0" encoding="utf-8"?>
<p:tagLst xmlns:a="http://schemas.openxmlformats.org/drawingml/2006/main" xmlns:r="http://schemas.openxmlformats.org/officeDocument/2006/relationships" xmlns:p="http://schemas.openxmlformats.org/presentationml/2006/main">
  <p:tag name="PA" val="v5.2.11"/>
</p:tagLst>
</file>

<file path=ppt/tags/tag57.xml><?xml version="1.0" encoding="utf-8"?>
<p:tagLst xmlns:a="http://schemas.openxmlformats.org/drawingml/2006/main" xmlns:r="http://schemas.openxmlformats.org/officeDocument/2006/relationships" xmlns:p="http://schemas.openxmlformats.org/presentationml/2006/main">
  <p:tag name="PA" val="v5.2.11"/>
</p:tagLst>
</file>

<file path=ppt/tags/tag58.xml><?xml version="1.0" encoding="utf-8"?>
<p:tagLst xmlns:a="http://schemas.openxmlformats.org/drawingml/2006/main" xmlns:r="http://schemas.openxmlformats.org/officeDocument/2006/relationships" xmlns:p="http://schemas.openxmlformats.org/presentationml/2006/main">
  <p:tag name="PA" val="v5.2.11"/>
</p:tagLst>
</file>

<file path=ppt/tags/tag59.xml><?xml version="1.0" encoding="utf-8"?>
<p:tagLst xmlns:a="http://schemas.openxmlformats.org/drawingml/2006/main" xmlns:r="http://schemas.openxmlformats.org/officeDocument/2006/relationships" xmlns:p="http://schemas.openxmlformats.org/presentationml/2006/main">
  <p:tag name="PA" val="v5.2.11"/>
</p:tagLst>
</file>

<file path=ppt/tags/tag60.xml><?xml version="1.0" encoding="utf-8"?>
<p:tagLst xmlns:a="http://schemas.openxmlformats.org/drawingml/2006/main" xmlns:r="http://schemas.openxmlformats.org/officeDocument/2006/relationships" xmlns:p="http://schemas.openxmlformats.org/presentationml/2006/main">
  <p:tag name="PA" val="v5.2.11"/>
</p:tagLst>
</file>

<file path=ppt/tags/tag61.xml><?xml version="1.0" encoding="utf-8"?>
<p:tagLst xmlns:a="http://schemas.openxmlformats.org/drawingml/2006/main" xmlns:r="http://schemas.openxmlformats.org/officeDocument/2006/relationships" xmlns:p="http://schemas.openxmlformats.org/presentationml/2006/main">
  <p:tag name="PA" val="v5.2.11"/>
</p:tagLst>
</file>

<file path=ppt/tags/tag62.xml><?xml version="1.0" encoding="utf-8"?>
<p:tagLst xmlns:a="http://schemas.openxmlformats.org/drawingml/2006/main" xmlns:r="http://schemas.openxmlformats.org/officeDocument/2006/relationships" xmlns:p="http://schemas.openxmlformats.org/presentationml/2006/main">
  <p:tag name="PA" val="v5.2.11"/>
</p:tagLst>
</file>

<file path=ppt/tags/tag63.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Office 主题​​">
  <a:themeElements>
    <a:clrScheme name="自定义 3943">
      <a:dk1>
        <a:srgbClr val="000000"/>
      </a:dk1>
      <a:lt1>
        <a:srgbClr val="FFFFFF"/>
      </a:lt1>
      <a:dk2>
        <a:srgbClr val="44546A"/>
      </a:dk2>
      <a:lt2>
        <a:srgbClr val="E7E6E6"/>
      </a:lt2>
      <a:accent1>
        <a:srgbClr val="006BC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907</TotalTime>
  <Words>7247</Words>
  <Application>Microsoft Office PowerPoint</Application>
  <PresentationFormat>宽屏</PresentationFormat>
  <Paragraphs>564</Paragraphs>
  <Slides>37</Slides>
  <Notes>25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37</vt:i4>
      </vt:variant>
    </vt:vector>
  </HeadingPairs>
  <TitlesOfParts>
    <vt:vector size="50" baseType="lpstr">
      <vt:lpstr>Times New Roman Regular</vt:lpstr>
      <vt:lpstr>等线</vt:lpstr>
      <vt:lpstr>等线 Light</vt:lpstr>
      <vt:lpstr>Microsoft YaHei</vt:lpstr>
      <vt:lpstr>Microsoft YaHei</vt:lpstr>
      <vt:lpstr>Arial</vt:lpstr>
      <vt:lpstr>Calibri</vt:lpstr>
      <vt:lpstr>Cambria Math</vt:lpstr>
      <vt:lpstr>Consolas</vt:lpstr>
      <vt:lpstr>Times New Roman</vt:lpstr>
      <vt:lpstr>Times New Roman Bold</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Mo5626</dc:creator>
  <cp:keywords/>
  <dc:description/>
  <cp:lastModifiedBy>家薇 郭</cp:lastModifiedBy>
  <cp:revision>21</cp:revision>
  <dcterms:created xsi:type="dcterms:W3CDTF">2025-10-25T15:01:36Z</dcterms:created>
  <dcterms:modified xsi:type="dcterms:W3CDTF">2026-05-05T02:34:12Z</dcterms:modified>
  <cp:category/>
</cp:coreProperties>
</file>